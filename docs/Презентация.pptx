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67" r:id="rId2"/>
    <p:sldId id="256" r:id="rId3"/>
    <p:sldId id="277" r:id="rId4"/>
    <p:sldId id="257" r:id="rId5"/>
    <p:sldId id="258" r:id="rId6"/>
    <p:sldId id="259" r:id="rId7"/>
    <p:sldId id="260" r:id="rId8"/>
    <p:sldId id="261" r:id="rId9"/>
    <p:sldId id="262" r:id="rId10"/>
    <p:sldId id="268" r:id="rId11"/>
    <p:sldId id="263" r:id="rId12"/>
    <p:sldId id="270" r:id="rId13"/>
    <p:sldId id="273" r:id="rId14"/>
    <p:sldId id="271" r:id="rId15"/>
    <p:sldId id="272" r:id="rId16"/>
    <p:sldId id="274" r:id="rId17"/>
    <p:sldId id="275" r:id="rId18"/>
    <p:sldId id="276" r:id="rId19"/>
    <p:sldId id="264" r:id="rId20"/>
    <p:sldId id="265" r:id="rId21"/>
    <p:sldId id="266" r:id="rId22"/>
  </p:sldIdLst>
  <p:sldSz cx="18288000" cy="10287000"/>
  <p:notesSz cx="6858000" cy="9144000"/>
  <p:embeddedFontLst>
    <p:embeddedFont>
      <p:font typeface="Arimo" panose="020B0604020202020204" charset="0"/>
      <p:regular r:id="rId24"/>
    </p:embeddedFont>
    <p:embeddedFont>
      <p:font typeface="Lato" panose="020F0502020204030203" pitchFamily="34" charset="0"/>
      <p:regular r:id="rId25"/>
    </p:embeddedFont>
    <p:embeddedFont>
      <p:font typeface="Lato Bold" panose="020F0502020204030203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1638" autoAdjust="0"/>
  </p:normalViewPr>
  <p:slideViewPr>
    <p:cSldViewPr>
      <p:cViewPr varScale="1">
        <p:scale>
          <a:sx n="72" d="100"/>
          <a:sy n="72" d="100"/>
        </p:scale>
        <p:origin x="65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13.04.2026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5EDE0-A679-0C0C-BD0A-033359A51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9173BF6-FA52-8186-88E6-F1089FFD1E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5AEB21-3C4F-B7A0-B6A3-76CD1F7F5F4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DDA56FC-E71A-0B2B-5FBA-BF2A5DD45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29C9657-2065-D36F-F282-C21BDB1D42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A02197-86F3-0F23-E555-01B5F69AE75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D46D3E-561B-90C2-6D67-43670B917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364917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FF614-5301-6422-46F3-7DF3F77F0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935CAD5-867B-87F6-2870-1ABCE7D960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D9F4F5-1A22-8520-1202-E9CA0DBFC76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AD38998-506B-752A-42F1-4A437119DA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FAA200D-4297-1FEF-057C-990F206E46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40A48-FA94-F2C6-3F45-5CB82562CDD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BAF03-D381-5262-D02A-C6334AA65C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083132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CDEF4-958F-7349-5046-C2AB97631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A95C159-1C66-26BF-0864-943B14C6B5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741169-31D9-32ED-FE4C-5A0D469B071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2C115E9-186E-AD41-A48D-D931AC7D5C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518A201B-56E3-CFFB-8E56-3C9BCCB5C6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F7B68F-C60D-2E78-2298-3A586A39D36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7CF22-2ED0-5555-06FD-2FAE18C073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1994507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52F7F-639F-9BFD-FF2C-9E1896CD5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B881F10-FCFC-EDEE-144F-943CA873E5D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0C9CFC-C539-B2A9-6C66-8EB529CB09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14E3BF0-D644-D951-49E3-3C618B8DBC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A434DE3-9FA3-E13C-F9F2-296C96B850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C81E7-7351-3A8D-94BC-477EAB5EA9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2B68B7-F7AD-F290-4820-8439F06EF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0737221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220A-C993-760D-9F95-8B4ED3A8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C3D2F5F-C186-84FF-0B28-81F01F61035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4C7A5-25AD-EF1A-1B2A-25B6CF65706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784C6B9-B4A7-43C5-BF0F-8D6B423C50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B6186E2-9EA0-5DF8-EFDD-56AB6B4303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D11A3-1FAC-7816-41EA-9BD9DED8D2D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5FF2B-CB55-97E8-8FD0-3A9C206DE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5817176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74D1-52AF-9F86-722B-0CF6CADB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36DCD8-5ABA-4C19-B449-431C92C2BE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E92A21-410C-267F-31D8-B50DD784BB1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0672D314-F687-8515-9045-9846B3B7D9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9CCAAEF-D573-8909-1DBB-891ECEECFB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1B2405-A1C7-6ABA-AFE9-3056603317E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413F9-D8F5-6375-9B65-F46A4A1600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16828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BF147-1025-F52B-9DD6-944BB58FB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0EF32D-D76C-125E-44F6-3BD578C7C1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E45A99-A545-0750-04B0-5B23C79752A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5E367E3-54AA-4F67-00C9-46B131204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604C1F2-A1DA-5DD6-33F2-C1BD212C90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DAD9B-BBE4-4570-DB55-AC89D0FE4AF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7707AC-DC85-035A-BB14-46A25E6286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7218752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9253D-D420-5599-D5BB-ED81D8AAC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B7333C-CEE9-B997-74A7-A67CC962D9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5DF5BD-78C4-1235-1F69-0F3D5A2EB15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42B05CE-63B5-5636-2091-694B1F55F2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006F853-A4DD-16C1-3F6C-2A16ED781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5B19FE-7E2B-0EA7-876C-8340A261653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518C-ADDD-BED9-1977-A1C985A85C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44785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80003-9EA3-0197-3E64-0225731E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982BB04-6726-AE92-11B6-04D163DC84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010E9B-9DFB-ED74-85EF-DC90BA1447C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BCCA4A9-6A31-93B0-A8CC-A8CCBBB985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563098EB-A91D-A22B-E47D-276E1E86E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931FC2-3B95-297C-3755-1BD05DA355E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7E1E7D-2E97-711E-C6C7-29597C8A3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7672819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1C54F-569C-566B-DCA8-DFD46BCD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C9BE932-6490-D11D-298D-785CC19109C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B15B5-0070-F7D7-F9FE-D26258585C2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25F9BA-1526-BCE2-1C2C-56B1E074E1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A0BA52C-2477-8C64-1969-BCC6D1BFAC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B9FAE5-E353-61C1-7CC7-A265C2852CD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36BF4C-53BD-B5A2-6B2B-AE43D27367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653822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8BA73-2B40-48A2-04FB-CCE2D1AA5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9C75AEE-17E3-0E81-C395-32195C9FAB65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0599D171-CFA0-CAE1-6E83-2114424ECEDE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CE7F6851-B94A-7531-1584-69DD4A0A8903}"/>
              </a:ext>
            </a:extLst>
          </p:cNvPr>
          <p:cNvGrpSpPr/>
          <p:nvPr/>
        </p:nvGrpSpPr>
        <p:grpSpPr>
          <a:xfrm>
            <a:off x="0" y="-3756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B4321E3-D0E6-41B1-6078-25B99695F9B8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DB3A5F0D-AC33-B16F-CEBD-001FF4D0E565}"/>
              </a:ext>
            </a:extLst>
          </p:cNvPr>
          <p:cNvSpPr txBox="1"/>
          <p:nvPr/>
        </p:nvSpPr>
        <p:spPr>
          <a:xfrm>
            <a:off x="1219200" y="2476500"/>
            <a:ext cx="15849600" cy="39839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6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Дипломный проект</a:t>
            </a:r>
          </a:p>
          <a:p>
            <a:pPr algn="ctr">
              <a:lnSpc>
                <a:spcPct val="150000"/>
              </a:lnSpc>
            </a:pPr>
            <a:r>
              <a:rPr lang="ru-RU" sz="6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Тема:</a:t>
            </a:r>
          </a:p>
          <a:p>
            <a:pPr algn="ctr">
              <a:lnSpc>
                <a:spcPct val="150000"/>
              </a:lnSpc>
            </a:pPr>
            <a:r>
              <a:rPr lang="ru-RU" sz="6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6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Система</a:t>
            </a:r>
            <a:r>
              <a:rPr lang="en-US" sz="6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6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персональных</a:t>
            </a:r>
            <a:r>
              <a:rPr lang="en-US" sz="6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6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рекомендаций</a:t>
            </a:r>
            <a:endParaRPr lang="en-US" sz="6000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AAD582-ACF4-754E-A552-F931FC8BF325}"/>
              </a:ext>
            </a:extLst>
          </p:cNvPr>
          <p:cNvSpPr txBox="1"/>
          <p:nvPr/>
        </p:nvSpPr>
        <p:spPr>
          <a:xfrm>
            <a:off x="14585324" y="7528735"/>
            <a:ext cx="3733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Выполнил:</a:t>
            </a:r>
            <a:br>
              <a:rPr lang="ru-RU" sz="32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</a:br>
            <a:r>
              <a:rPr lang="ru-RU" sz="32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Левкин Д.А</a:t>
            </a:r>
          </a:p>
        </p:txBody>
      </p:sp>
    </p:spTree>
    <p:extLst>
      <p:ext uri="{BB962C8B-B14F-4D97-AF65-F5344CB8AC3E}">
        <p14:creationId xmlns:p14="http://schemas.microsoft.com/office/powerpoint/2010/main" val="103334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19718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7834760" y="784622"/>
            <a:ext cx="9476480" cy="1433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37"/>
              </a:lnSpc>
            </a:pPr>
            <a:r>
              <a:rPr lang="en-US" sz="4375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Система</a:t>
            </a:r>
            <a:r>
              <a:rPr lang="en-US" sz="4375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4375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персональных</a:t>
            </a:r>
            <a:r>
              <a:rPr lang="en-US" sz="4375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4375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рекомендаций</a:t>
            </a:r>
            <a:endParaRPr lang="en-US" sz="4375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7829998" y="2251699"/>
            <a:ext cx="9476480" cy="9362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Проблема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поиска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релевантного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контента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становится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острее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с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каждым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годом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Без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персонализации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платформы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теряют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пользователей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— и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нам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нужно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это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изменить</a:t>
            </a:r>
            <a:r>
              <a:rPr lang="en-US" sz="20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834760" y="3318119"/>
            <a:ext cx="2680840" cy="389334"/>
            <a:chOff x="0" y="0"/>
            <a:chExt cx="3095422" cy="51911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095498" cy="519176"/>
            </a:xfrm>
            <a:custGeom>
              <a:avLst/>
              <a:gdLst/>
              <a:ahLst/>
              <a:cxnLst/>
              <a:rect l="l" t="t" r="r" b="b"/>
              <a:pathLst>
                <a:path w="3095498" h="519176">
                  <a:moveTo>
                    <a:pt x="0" y="100076"/>
                  </a:moveTo>
                  <a:cubicBezTo>
                    <a:pt x="0" y="44831"/>
                    <a:pt x="44831" y="0"/>
                    <a:pt x="100076" y="0"/>
                  </a:cubicBezTo>
                  <a:lnTo>
                    <a:pt x="2995422" y="0"/>
                  </a:lnTo>
                  <a:cubicBezTo>
                    <a:pt x="3050667" y="0"/>
                    <a:pt x="3095498" y="44831"/>
                    <a:pt x="3095498" y="100076"/>
                  </a:cubicBezTo>
                  <a:lnTo>
                    <a:pt x="3095498" y="419100"/>
                  </a:lnTo>
                  <a:cubicBezTo>
                    <a:pt x="3095498" y="474345"/>
                    <a:pt x="3050667" y="519176"/>
                    <a:pt x="2995422" y="519176"/>
                  </a:cubicBezTo>
                  <a:lnTo>
                    <a:pt x="100076" y="519176"/>
                  </a:lnTo>
                  <a:cubicBezTo>
                    <a:pt x="44831" y="519176"/>
                    <a:pt x="0" y="474345"/>
                    <a:pt x="0" y="419100"/>
                  </a:cubicBezTo>
                  <a:close/>
                </a:path>
              </a:pathLst>
            </a:custGeom>
            <a:solidFill>
              <a:srgbClr val="E8E8E3"/>
            </a:solidFill>
          </p:spPr>
          <p:txBody>
            <a:bodyPr/>
            <a:lstStyle/>
            <a:p>
              <a:endParaRPr lang="ru-RU" dirty="0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969377" y="3394242"/>
            <a:ext cx="2880537" cy="2360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16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ОПИСАНИЕ ПРОБЛЕМЫ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829998" y="3900488"/>
            <a:ext cx="9486005" cy="1267416"/>
            <a:chOff x="0" y="0"/>
            <a:chExt cx="12648006" cy="1689887"/>
          </a:xfrm>
        </p:grpSpPr>
        <p:sp>
          <p:nvSpPr>
            <p:cNvPr id="14" name="Freeform 14"/>
            <p:cNvSpPr/>
            <p:nvPr/>
          </p:nvSpPr>
          <p:spPr>
            <a:xfrm>
              <a:off x="6350" y="6350"/>
              <a:ext cx="12635357" cy="1677289"/>
            </a:xfrm>
            <a:custGeom>
              <a:avLst/>
              <a:gdLst/>
              <a:ahLst/>
              <a:cxnLst/>
              <a:rect l="l" t="t" r="r" b="b"/>
              <a:pathLst>
                <a:path w="12635357" h="1677289">
                  <a:moveTo>
                    <a:pt x="0" y="125095"/>
                  </a:moveTo>
                  <a:cubicBezTo>
                    <a:pt x="0" y="56007"/>
                    <a:pt x="56388" y="0"/>
                    <a:pt x="125857" y="0"/>
                  </a:cubicBezTo>
                  <a:lnTo>
                    <a:pt x="12509500" y="0"/>
                  </a:lnTo>
                  <a:cubicBezTo>
                    <a:pt x="12578969" y="0"/>
                    <a:pt x="12635357" y="56007"/>
                    <a:pt x="12635357" y="125095"/>
                  </a:cubicBezTo>
                  <a:lnTo>
                    <a:pt x="12635357" y="1552194"/>
                  </a:lnTo>
                  <a:cubicBezTo>
                    <a:pt x="12635357" y="1621282"/>
                    <a:pt x="12578969" y="1677289"/>
                    <a:pt x="12509500" y="1677289"/>
                  </a:cubicBezTo>
                  <a:lnTo>
                    <a:pt x="125857" y="1677289"/>
                  </a:lnTo>
                  <a:cubicBezTo>
                    <a:pt x="56388" y="1677289"/>
                    <a:pt x="0" y="1621282"/>
                    <a:pt x="0" y="1552194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12648057" cy="1689989"/>
            </a:xfrm>
            <a:custGeom>
              <a:avLst/>
              <a:gdLst/>
              <a:ahLst/>
              <a:cxnLst/>
              <a:rect l="l" t="t" r="r" b="b"/>
              <a:pathLst>
                <a:path w="12648057" h="1689989">
                  <a:moveTo>
                    <a:pt x="0" y="131445"/>
                  </a:moveTo>
                  <a:cubicBezTo>
                    <a:pt x="0" y="58801"/>
                    <a:pt x="59182" y="0"/>
                    <a:pt x="132207" y="0"/>
                  </a:cubicBezTo>
                  <a:lnTo>
                    <a:pt x="12515850" y="0"/>
                  </a:lnTo>
                  <a:lnTo>
                    <a:pt x="12515850" y="6350"/>
                  </a:lnTo>
                  <a:lnTo>
                    <a:pt x="12515850" y="0"/>
                  </a:lnTo>
                  <a:cubicBezTo>
                    <a:pt x="12588875" y="0"/>
                    <a:pt x="12648057" y="58801"/>
                    <a:pt x="12648057" y="131445"/>
                  </a:cubicBezTo>
                  <a:lnTo>
                    <a:pt x="12641707" y="131445"/>
                  </a:lnTo>
                  <a:lnTo>
                    <a:pt x="12648057" y="131445"/>
                  </a:lnTo>
                  <a:lnTo>
                    <a:pt x="12648057" y="1558544"/>
                  </a:lnTo>
                  <a:lnTo>
                    <a:pt x="12641707" y="1558544"/>
                  </a:lnTo>
                  <a:lnTo>
                    <a:pt x="12648057" y="1558544"/>
                  </a:lnTo>
                  <a:cubicBezTo>
                    <a:pt x="12648057" y="1631188"/>
                    <a:pt x="12588875" y="1689989"/>
                    <a:pt x="12515850" y="1689989"/>
                  </a:cubicBezTo>
                  <a:lnTo>
                    <a:pt x="12515850" y="1683639"/>
                  </a:lnTo>
                  <a:lnTo>
                    <a:pt x="12515850" y="1689989"/>
                  </a:lnTo>
                  <a:lnTo>
                    <a:pt x="132207" y="1689989"/>
                  </a:lnTo>
                  <a:lnTo>
                    <a:pt x="132207" y="1683639"/>
                  </a:lnTo>
                  <a:lnTo>
                    <a:pt x="132207" y="1689989"/>
                  </a:lnTo>
                  <a:cubicBezTo>
                    <a:pt x="59182" y="1689862"/>
                    <a:pt x="0" y="1631061"/>
                    <a:pt x="0" y="1558544"/>
                  </a:cubicBezTo>
                  <a:lnTo>
                    <a:pt x="0" y="131445"/>
                  </a:lnTo>
                  <a:lnTo>
                    <a:pt x="6350" y="131445"/>
                  </a:lnTo>
                  <a:lnTo>
                    <a:pt x="0" y="131445"/>
                  </a:lnTo>
                  <a:moveTo>
                    <a:pt x="12700" y="131445"/>
                  </a:moveTo>
                  <a:lnTo>
                    <a:pt x="12700" y="1558544"/>
                  </a:lnTo>
                  <a:lnTo>
                    <a:pt x="6350" y="1558544"/>
                  </a:lnTo>
                  <a:lnTo>
                    <a:pt x="12700" y="1558544"/>
                  </a:lnTo>
                  <a:cubicBezTo>
                    <a:pt x="12700" y="1624076"/>
                    <a:pt x="66167" y="1677289"/>
                    <a:pt x="132207" y="1677289"/>
                  </a:cubicBezTo>
                  <a:lnTo>
                    <a:pt x="12515850" y="1677289"/>
                  </a:lnTo>
                  <a:cubicBezTo>
                    <a:pt x="12581890" y="1677289"/>
                    <a:pt x="12635357" y="1624076"/>
                    <a:pt x="12635357" y="1558544"/>
                  </a:cubicBezTo>
                  <a:lnTo>
                    <a:pt x="12635357" y="131445"/>
                  </a:lnTo>
                  <a:cubicBezTo>
                    <a:pt x="12635357" y="65913"/>
                    <a:pt x="12581890" y="12700"/>
                    <a:pt x="12515850" y="12700"/>
                  </a:cubicBezTo>
                  <a:lnTo>
                    <a:pt x="132207" y="12700"/>
                  </a:lnTo>
                  <a:lnTo>
                    <a:pt x="132207" y="6350"/>
                  </a:lnTo>
                  <a:lnTo>
                    <a:pt x="132207" y="12700"/>
                  </a:lnTo>
                  <a:cubicBezTo>
                    <a:pt x="66167" y="12700"/>
                    <a:pt x="12700" y="65913"/>
                    <a:pt x="12700" y="131445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16" name="TextBox 16"/>
          <p:cNvSpPr txBox="1"/>
          <p:nvPr/>
        </p:nvSpPr>
        <p:spPr>
          <a:xfrm>
            <a:off x="8067523" y="4118972"/>
            <a:ext cx="420067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800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⏱</a:t>
            </a:r>
            <a:r>
              <a:rPr lang="en-US" sz="28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Потеря</a:t>
            </a:r>
            <a:r>
              <a:rPr lang="en-US" sz="28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времени</a:t>
            </a:r>
            <a:endParaRPr lang="en-US" sz="280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067523" y="4573038"/>
            <a:ext cx="9010945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Пользователи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тратят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часы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на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поиск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нужного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контента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вручную</a:t>
            </a:r>
            <a:endParaRPr lang="en-US" sz="2400" dirty="0">
              <a:solidFill>
                <a:srgbClr val="272525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7829998" y="5334152"/>
            <a:ext cx="9486005" cy="1267416"/>
            <a:chOff x="0" y="0"/>
            <a:chExt cx="12648006" cy="1689887"/>
          </a:xfrm>
        </p:grpSpPr>
        <p:sp>
          <p:nvSpPr>
            <p:cNvPr id="19" name="Freeform 19"/>
            <p:cNvSpPr/>
            <p:nvPr/>
          </p:nvSpPr>
          <p:spPr>
            <a:xfrm>
              <a:off x="6350" y="6350"/>
              <a:ext cx="12635357" cy="1677289"/>
            </a:xfrm>
            <a:custGeom>
              <a:avLst/>
              <a:gdLst/>
              <a:ahLst/>
              <a:cxnLst/>
              <a:rect l="l" t="t" r="r" b="b"/>
              <a:pathLst>
                <a:path w="12635357" h="1677289">
                  <a:moveTo>
                    <a:pt x="0" y="125095"/>
                  </a:moveTo>
                  <a:cubicBezTo>
                    <a:pt x="0" y="56007"/>
                    <a:pt x="56388" y="0"/>
                    <a:pt x="125857" y="0"/>
                  </a:cubicBezTo>
                  <a:lnTo>
                    <a:pt x="12509500" y="0"/>
                  </a:lnTo>
                  <a:cubicBezTo>
                    <a:pt x="12578969" y="0"/>
                    <a:pt x="12635357" y="56007"/>
                    <a:pt x="12635357" y="125095"/>
                  </a:cubicBezTo>
                  <a:lnTo>
                    <a:pt x="12635357" y="1552194"/>
                  </a:lnTo>
                  <a:cubicBezTo>
                    <a:pt x="12635357" y="1621282"/>
                    <a:pt x="12578969" y="1677289"/>
                    <a:pt x="12509500" y="1677289"/>
                  </a:cubicBezTo>
                  <a:lnTo>
                    <a:pt x="125857" y="1677289"/>
                  </a:lnTo>
                  <a:cubicBezTo>
                    <a:pt x="56388" y="1677289"/>
                    <a:pt x="0" y="1621282"/>
                    <a:pt x="0" y="1552194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  <p:sp>
          <p:nvSpPr>
            <p:cNvPr id="20" name="Freeform 20"/>
            <p:cNvSpPr/>
            <p:nvPr/>
          </p:nvSpPr>
          <p:spPr>
            <a:xfrm>
              <a:off x="0" y="0"/>
              <a:ext cx="12648057" cy="1689989"/>
            </a:xfrm>
            <a:custGeom>
              <a:avLst/>
              <a:gdLst/>
              <a:ahLst/>
              <a:cxnLst/>
              <a:rect l="l" t="t" r="r" b="b"/>
              <a:pathLst>
                <a:path w="12648057" h="1689989">
                  <a:moveTo>
                    <a:pt x="0" y="131445"/>
                  </a:moveTo>
                  <a:cubicBezTo>
                    <a:pt x="0" y="58801"/>
                    <a:pt x="59182" y="0"/>
                    <a:pt x="132207" y="0"/>
                  </a:cubicBezTo>
                  <a:lnTo>
                    <a:pt x="12515850" y="0"/>
                  </a:lnTo>
                  <a:lnTo>
                    <a:pt x="12515850" y="6350"/>
                  </a:lnTo>
                  <a:lnTo>
                    <a:pt x="12515850" y="0"/>
                  </a:lnTo>
                  <a:cubicBezTo>
                    <a:pt x="12588875" y="0"/>
                    <a:pt x="12648057" y="58801"/>
                    <a:pt x="12648057" y="131445"/>
                  </a:cubicBezTo>
                  <a:lnTo>
                    <a:pt x="12641707" y="131445"/>
                  </a:lnTo>
                  <a:lnTo>
                    <a:pt x="12648057" y="131445"/>
                  </a:lnTo>
                  <a:lnTo>
                    <a:pt x="12648057" y="1558544"/>
                  </a:lnTo>
                  <a:lnTo>
                    <a:pt x="12641707" y="1558544"/>
                  </a:lnTo>
                  <a:lnTo>
                    <a:pt x="12648057" y="1558544"/>
                  </a:lnTo>
                  <a:cubicBezTo>
                    <a:pt x="12648057" y="1631188"/>
                    <a:pt x="12588875" y="1689989"/>
                    <a:pt x="12515850" y="1689989"/>
                  </a:cubicBezTo>
                  <a:lnTo>
                    <a:pt x="12515850" y="1683639"/>
                  </a:lnTo>
                  <a:lnTo>
                    <a:pt x="12515850" y="1689989"/>
                  </a:lnTo>
                  <a:lnTo>
                    <a:pt x="132207" y="1689989"/>
                  </a:lnTo>
                  <a:lnTo>
                    <a:pt x="132207" y="1683639"/>
                  </a:lnTo>
                  <a:lnTo>
                    <a:pt x="132207" y="1689989"/>
                  </a:lnTo>
                  <a:cubicBezTo>
                    <a:pt x="59182" y="1689862"/>
                    <a:pt x="0" y="1631061"/>
                    <a:pt x="0" y="1558544"/>
                  </a:cubicBezTo>
                  <a:lnTo>
                    <a:pt x="0" y="131445"/>
                  </a:lnTo>
                  <a:lnTo>
                    <a:pt x="6350" y="131445"/>
                  </a:lnTo>
                  <a:lnTo>
                    <a:pt x="0" y="131445"/>
                  </a:lnTo>
                  <a:moveTo>
                    <a:pt x="12700" y="131445"/>
                  </a:moveTo>
                  <a:lnTo>
                    <a:pt x="12700" y="1558544"/>
                  </a:lnTo>
                  <a:lnTo>
                    <a:pt x="6350" y="1558544"/>
                  </a:lnTo>
                  <a:lnTo>
                    <a:pt x="12700" y="1558544"/>
                  </a:lnTo>
                  <a:cubicBezTo>
                    <a:pt x="12700" y="1624076"/>
                    <a:pt x="66167" y="1677289"/>
                    <a:pt x="132207" y="1677289"/>
                  </a:cubicBezTo>
                  <a:lnTo>
                    <a:pt x="12515850" y="1677289"/>
                  </a:lnTo>
                  <a:cubicBezTo>
                    <a:pt x="12581890" y="1677289"/>
                    <a:pt x="12635357" y="1624076"/>
                    <a:pt x="12635357" y="1558544"/>
                  </a:cubicBezTo>
                  <a:lnTo>
                    <a:pt x="12635357" y="131445"/>
                  </a:lnTo>
                  <a:cubicBezTo>
                    <a:pt x="12635357" y="65913"/>
                    <a:pt x="12581890" y="12700"/>
                    <a:pt x="12515850" y="12700"/>
                  </a:cubicBezTo>
                  <a:lnTo>
                    <a:pt x="132207" y="12700"/>
                  </a:lnTo>
                  <a:lnTo>
                    <a:pt x="132207" y="6350"/>
                  </a:lnTo>
                  <a:lnTo>
                    <a:pt x="132207" y="12700"/>
                  </a:lnTo>
                  <a:cubicBezTo>
                    <a:pt x="66167" y="12700"/>
                    <a:pt x="12700" y="65913"/>
                    <a:pt x="12700" y="131445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21" name="TextBox 21"/>
          <p:cNvSpPr txBox="1"/>
          <p:nvPr/>
        </p:nvSpPr>
        <p:spPr>
          <a:xfrm>
            <a:off x="8067523" y="5552627"/>
            <a:ext cx="496267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800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📉</a:t>
            </a:r>
            <a:r>
              <a:rPr lang="en-US" sz="28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Падение</a:t>
            </a:r>
            <a:r>
              <a:rPr lang="en-US" sz="28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вовлечённости</a:t>
            </a:r>
            <a:endParaRPr lang="en-US" sz="280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8067523" y="6006703"/>
            <a:ext cx="9991877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Без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персонализации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снижаю</a:t>
            </a:r>
            <a:r>
              <a:rPr lang="ru-RU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е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тся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активность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аудитории</a:t>
            </a:r>
            <a:endParaRPr lang="en-US" sz="2400" dirty="0">
              <a:solidFill>
                <a:srgbClr val="272525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3" name="Group 23"/>
          <p:cNvGrpSpPr/>
          <p:nvPr/>
        </p:nvGrpSpPr>
        <p:grpSpPr>
          <a:xfrm>
            <a:off x="7829998" y="6767808"/>
            <a:ext cx="9486005" cy="1267416"/>
            <a:chOff x="0" y="0"/>
            <a:chExt cx="12648006" cy="1689887"/>
          </a:xfrm>
        </p:grpSpPr>
        <p:sp>
          <p:nvSpPr>
            <p:cNvPr id="24" name="Freeform 24"/>
            <p:cNvSpPr/>
            <p:nvPr/>
          </p:nvSpPr>
          <p:spPr>
            <a:xfrm>
              <a:off x="6350" y="6350"/>
              <a:ext cx="12635357" cy="1677289"/>
            </a:xfrm>
            <a:custGeom>
              <a:avLst/>
              <a:gdLst/>
              <a:ahLst/>
              <a:cxnLst/>
              <a:rect l="l" t="t" r="r" b="b"/>
              <a:pathLst>
                <a:path w="12635357" h="1677289">
                  <a:moveTo>
                    <a:pt x="0" y="125095"/>
                  </a:moveTo>
                  <a:cubicBezTo>
                    <a:pt x="0" y="56007"/>
                    <a:pt x="56388" y="0"/>
                    <a:pt x="125857" y="0"/>
                  </a:cubicBezTo>
                  <a:lnTo>
                    <a:pt x="12509500" y="0"/>
                  </a:lnTo>
                  <a:cubicBezTo>
                    <a:pt x="12578969" y="0"/>
                    <a:pt x="12635357" y="56007"/>
                    <a:pt x="12635357" y="125095"/>
                  </a:cubicBezTo>
                  <a:lnTo>
                    <a:pt x="12635357" y="1552194"/>
                  </a:lnTo>
                  <a:cubicBezTo>
                    <a:pt x="12635357" y="1621282"/>
                    <a:pt x="12578969" y="1677289"/>
                    <a:pt x="12509500" y="1677289"/>
                  </a:cubicBezTo>
                  <a:lnTo>
                    <a:pt x="125857" y="1677289"/>
                  </a:lnTo>
                  <a:cubicBezTo>
                    <a:pt x="56388" y="1677289"/>
                    <a:pt x="0" y="1621282"/>
                    <a:pt x="0" y="1552194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  <p:sp>
          <p:nvSpPr>
            <p:cNvPr id="25" name="Freeform 25"/>
            <p:cNvSpPr/>
            <p:nvPr/>
          </p:nvSpPr>
          <p:spPr>
            <a:xfrm>
              <a:off x="0" y="0"/>
              <a:ext cx="12648057" cy="1689989"/>
            </a:xfrm>
            <a:custGeom>
              <a:avLst/>
              <a:gdLst/>
              <a:ahLst/>
              <a:cxnLst/>
              <a:rect l="l" t="t" r="r" b="b"/>
              <a:pathLst>
                <a:path w="12648057" h="1689989">
                  <a:moveTo>
                    <a:pt x="0" y="131445"/>
                  </a:moveTo>
                  <a:cubicBezTo>
                    <a:pt x="0" y="58801"/>
                    <a:pt x="59182" y="0"/>
                    <a:pt x="132207" y="0"/>
                  </a:cubicBezTo>
                  <a:lnTo>
                    <a:pt x="12515850" y="0"/>
                  </a:lnTo>
                  <a:lnTo>
                    <a:pt x="12515850" y="6350"/>
                  </a:lnTo>
                  <a:lnTo>
                    <a:pt x="12515850" y="0"/>
                  </a:lnTo>
                  <a:cubicBezTo>
                    <a:pt x="12588875" y="0"/>
                    <a:pt x="12648057" y="58801"/>
                    <a:pt x="12648057" y="131445"/>
                  </a:cubicBezTo>
                  <a:lnTo>
                    <a:pt x="12641707" y="131445"/>
                  </a:lnTo>
                  <a:lnTo>
                    <a:pt x="12648057" y="131445"/>
                  </a:lnTo>
                  <a:lnTo>
                    <a:pt x="12648057" y="1558544"/>
                  </a:lnTo>
                  <a:lnTo>
                    <a:pt x="12641707" y="1558544"/>
                  </a:lnTo>
                  <a:lnTo>
                    <a:pt x="12648057" y="1558544"/>
                  </a:lnTo>
                  <a:cubicBezTo>
                    <a:pt x="12648057" y="1631188"/>
                    <a:pt x="12588875" y="1689989"/>
                    <a:pt x="12515850" y="1689989"/>
                  </a:cubicBezTo>
                  <a:lnTo>
                    <a:pt x="12515850" y="1683639"/>
                  </a:lnTo>
                  <a:lnTo>
                    <a:pt x="12515850" y="1689989"/>
                  </a:lnTo>
                  <a:lnTo>
                    <a:pt x="132207" y="1689989"/>
                  </a:lnTo>
                  <a:lnTo>
                    <a:pt x="132207" y="1683639"/>
                  </a:lnTo>
                  <a:lnTo>
                    <a:pt x="132207" y="1689989"/>
                  </a:lnTo>
                  <a:cubicBezTo>
                    <a:pt x="59182" y="1689862"/>
                    <a:pt x="0" y="1631061"/>
                    <a:pt x="0" y="1558544"/>
                  </a:cubicBezTo>
                  <a:lnTo>
                    <a:pt x="0" y="131445"/>
                  </a:lnTo>
                  <a:lnTo>
                    <a:pt x="6350" y="131445"/>
                  </a:lnTo>
                  <a:lnTo>
                    <a:pt x="0" y="131445"/>
                  </a:lnTo>
                  <a:moveTo>
                    <a:pt x="12700" y="131445"/>
                  </a:moveTo>
                  <a:lnTo>
                    <a:pt x="12700" y="1558544"/>
                  </a:lnTo>
                  <a:lnTo>
                    <a:pt x="6350" y="1558544"/>
                  </a:lnTo>
                  <a:lnTo>
                    <a:pt x="12700" y="1558544"/>
                  </a:lnTo>
                  <a:cubicBezTo>
                    <a:pt x="12700" y="1624076"/>
                    <a:pt x="66167" y="1677289"/>
                    <a:pt x="132207" y="1677289"/>
                  </a:cubicBezTo>
                  <a:lnTo>
                    <a:pt x="12515850" y="1677289"/>
                  </a:lnTo>
                  <a:cubicBezTo>
                    <a:pt x="12581890" y="1677289"/>
                    <a:pt x="12635357" y="1624076"/>
                    <a:pt x="12635357" y="1558544"/>
                  </a:cubicBezTo>
                  <a:lnTo>
                    <a:pt x="12635357" y="131445"/>
                  </a:lnTo>
                  <a:cubicBezTo>
                    <a:pt x="12635357" y="65913"/>
                    <a:pt x="12581890" y="12700"/>
                    <a:pt x="12515850" y="12700"/>
                  </a:cubicBezTo>
                  <a:lnTo>
                    <a:pt x="132207" y="12700"/>
                  </a:lnTo>
                  <a:lnTo>
                    <a:pt x="132207" y="6350"/>
                  </a:lnTo>
                  <a:lnTo>
                    <a:pt x="132207" y="12700"/>
                  </a:lnTo>
                  <a:cubicBezTo>
                    <a:pt x="66167" y="12700"/>
                    <a:pt x="12700" y="65913"/>
                    <a:pt x="12700" y="131445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26" name="TextBox 26"/>
          <p:cNvSpPr txBox="1"/>
          <p:nvPr/>
        </p:nvSpPr>
        <p:spPr>
          <a:xfrm>
            <a:off x="8067522" y="6986292"/>
            <a:ext cx="641047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800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🚫</a:t>
            </a:r>
            <a:r>
              <a:rPr lang="en-US" sz="28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Нет</a:t>
            </a:r>
            <a:r>
              <a:rPr lang="en-US" sz="28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масштабирования</a:t>
            </a:r>
            <a:endParaRPr lang="en-US" sz="280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8067523" y="7440368"/>
            <a:ext cx="9486043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Ручная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подборка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контента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не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справляется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с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растущим</a:t>
            </a:r>
            <a:r>
              <a:rPr lang="en-US" sz="24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объёмом</a:t>
            </a:r>
            <a:endParaRPr lang="en-US" sz="2400" dirty="0">
              <a:solidFill>
                <a:srgbClr val="272525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687A3C-63CD-7B87-5936-9E99B23D82B3}"/>
              </a:ext>
            </a:extLst>
          </p:cNvPr>
          <p:cNvSpPr txBox="1"/>
          <p:nvPr/>
        </p:nvSpPr>
        <p:spPr>
          <a:xfrm>
            <a:off x="17911834" y="9867791"/>
            <a:ext cx="295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9D89-C69C-03B3-14F9-5578C2ECD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93132A4-D9E8-249C-B9E7-2AB2B9D6B8B9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DC865869-2BC8-3423-C894-8BA64B7687E1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EDE4E099-C49E-995D-D560-B39A568B6478}"/>
              </a:ext>
            </a:extLst>
          </p:cNvPr>
          <p:cNvGrpSpPr/>
          <p:nvPr/>
        </p:nvGrpSpPr>
        <p:grpSpPr>
          <a:xfrm>
            <a:off x="0" y="19718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065657A-5C93-ADB7-E6E3-073DC167D73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28" name="TextBox 6">
            <a:extLst>
              <a:ext uri="{FF2B5EF4-FFF2-40B4-BE49-F238E27FC236}">
                <a16:creationId xmlns:a16="http://schemas.microsoft.com/office/drawing/2014/main" id="{A7DBC7A7-D754-1A36-88FA-C5DA8BAB0E6E}"/>
              </a:ext>
            </a:extLst>
          </p:cNvPr>
          <p:cNvSpPr txBox="1"/>
          <p:nvPr/>
        </p:nvSpPr>
        <p:spPr>
          <a:xfrm>
            <a:off x="381000" y="266700"/>
            <a:ext cx="7916761" cy="825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ru-RU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Понятия и определения 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5810E1-A33F-DC08-4C63-E13F827CC3B5}"/>
              </a:ext>
            </a:extLst>
          </p:cNvPr>
          <p:cNvSpPr txBox="1"/>
          <p:nvPr/>
        </p:nvSpPr>
        <p:spPr>
          <a:xfrm>
            <a:off x="381000" y="1250908"/>
            <a:ext cx="13106400" cy="8887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Персональные рекомендации</a:t>
            </a:r>
            <a:r>
              <a:rPr lang="ru-RU" sz="24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— автоматический подбор контента на основе действий и интересов пользователя 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Алгоритм рекомендаций</a:t>
            </a:r>
            <a:r>
              <a:rPr lang="ru-RU" sz="24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— метод анализа данных, который определяет, какой контент предложить пользователю 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KNN (k-ближайших соседей)</a:t>
            </a:r>
            <a:r>
              <a:rPr lang="ru-RU" sz="24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— алгоритм, который ищет пользователей с похожим поведением и предлагает их контент 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Popular</a:t>
            </a: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(популярное)</a:t>
            </a:r>
            <a:r>
              <a:rPr lang="ru-RU" sz="24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— алгоритм, показывающий самый востребованный контент на платформе 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By </a:t>
            </a:r>
            <a:r>
              <a:rPr lang="ru-RU" sz="2400" b="1" dirty="0" err="1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Categories</a:t>
            </a: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(по категориям)</a:t>
            </a:r>
            <a:r>
              <a:rPr lang="ru-RU" sz="24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— рекомендации на основе категорий, с которыми пользователь чаще взаимодействует 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Explainability</a:t>
            </a: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(объяснимость)</a:t>
            </a:r>
            <a:r>
              <a:rPr lang="ru-RU" sz="24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— возможность показать, почему система рекомендовала именно этот контент 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CRUD-операции</a:t>
            </a:r>
            <a:r>
              <a:rPr lang="ru-RU" sz="24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— базовые операции с данными: создание, чтение, обновление, удаление 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User </a:t>
            </a:r>
            <a:r>
              <a:rPr lang="ru-RU" sz="2400" b="1" dirty="0" err="1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Actions</a:t>
            </a:r>
            <a:r>
              <a:rPr lang="ru-RU" sz="2400" b="1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(действия пользователя)</a:t>
            </a:r>
            <a:r>
              <a:rPr lang="ru-RU" sz="24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 — данные о действиях (просмотры, лайки, клики), используемые для рекомендаций 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79AC14FD-416D-D281-A96F-BD03D52EB8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0810" y="2705405"/>
            <a:ext cx="4876190" cy="48761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61D95F-357C-58F5-8A38-BDCA7B90524B}"/>
              </a:ext>
            </a:extLst>
          </p:cNvPr>
          <p:cNvSpPr txBox="1"/>
          <p:nvPr/>
        </p:nvSpPr>
        <p:spPr>
          <a:xfrm>
            <a:off x="17911834" y="9867791"/>
            <a:ext cx="295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58942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33130" y="14909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24208"/>
            <a:ext cx="7916761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Цель</a:t>
            </a:r>
            <a:r>
              <a:rPr lang="en-US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и </a:t>
            </a:r>
            <a:r>
              <a:rPr lang="en-US" sz="5562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задачи</a:t>
            </a:r>
            <a:r>
              <a:rPr lang="en-US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проекта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92238" y="2097291"/>
            <a:ext cx="9445523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272525"/>
                </a:solidFill>
                <a:latin typeface="Lato Bold"/>
                <a:ea typeface="Lato Bold"/>
                <a:cs typeface="Lato Bold"/>
                <a:sym typeface="Lato Bold"/>
              </a:rPr>
              <a:t>Цель:</a:t>
            </a:r>
            <a:r>
              <a:rPr lang="en-US" sz="21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разработать систему, формирующую персональные рекомендации на основе истории действий пользователя.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87476" y="3413970"/>
            <a:ext cx="647405" cy="647405"/>
            <a:chOff x="0" y="0"/>
            <a:chExt cx="863206" cy="863206"/>
          </a:xfrm>
        </p:grpSpPr>
        <p:sp>
          <p:nvSpPr>
            <p:cNvPr id="9" name="Freeform 9"/>
            <p:cNvSpPr/>
            <p:nvPr/>
          </p:nvSpPr>
          <p:spPr>
            <a:xfrm>
              <a:off x="6350" y="6350"/>
              <a:ext cx="850519" cy="850519"/>
            </a:xfrm>
            <a:custGeom>
              <a:avLst/>
              <a:gdLst/>
              <a:ahLst/>
              <a:cxnLst/>
              <a:rect l="l" t="t" r="r" b="b"/>
              <a:pathLst>
                <a:path w="850519" h="850519">
                  <a:moveTo>
                    <a:pt x="0" y="158750"/>
                  </a:moveTo>
                  <a:cubicBezTo>
                    <a:pt x="0" y="71120"/>
                    <a:pt x="71120" y="0"/>
                    <a:pt x="158750" y="0"/>
                  </a:cubicBezTo>
                  <a:lnTo>
                    <a:pt x="691769" y="0"/>
                  </a:lnTo>
                  <a:cubicBezTo>
                    <a:pt x="779399" y="0"/>
                    <a:pt x="850519" y="71120"/>
                    <a:pt x="850519" y="158750"/>
                  </a:cubicBezTo>
                  <a:lnTo>
                    <a:pt x="850519" y="691769"/>
                  </a:lnTo>
                  <a:cubicBezTo>
                    <a:pt x="850519" y="779399"/>
                    <a:pt x="779399" y="850519"/>
                    <a:pt x="691769" y="850519"/>
                  </a:cubicBezTo>
                  <a:lnTo>
                    <a:pt x="158750" y="850519"/>
                  </a:lnTo>
                  <a:cubicBezTo>
                    <a:pt x="71120" y="850519"/>
                    <a:pt x="0" y="779399"/>
                    <a:pt x="0" y="691769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863219" cy="863219"/>
            </a:xfrm>
            <a:custGeom>
              <a:avLst/>
              <a:gdLst/>
              <a:ahLst/>
              <a:cxnLst/>
              <a:rect l="l" t="t" r="r" b="b"/>
              <a:pathLst>
                <a:path w="863219" h="86321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cubicBezTo>
                    <a:pt x="789305" y="0"/>
                    <a:pt x="863219" y="73914"/>
                    <a:pt x="863219" y="165100"/>
                  </a:cubicBezTo>
                  <a:lnTo>
                    <a:pt x="856869" y="165100"/>
                  </a:lnTo>
                  <a:lnTo>
                    <a:pt x="863219" y="165100"/>
                  </a:lnTo>
                  <a:lnTo>
                    <a:pt x="863219" y="698119"/>
                  </a:lnTo>
                  <a:lnTo>
                    <a:pt x="856869" y="698119"/>
                  </a:lnTo>
                  <a:lnTo>
                    <a:pt x="863219" y="698119"/>
                  </a:lnTo>
                  <a:cubicBezTo>
                    <a:pt x="863219" y="789305"/>
                    <a:pt x="789305" y="863219"/>
                    <a:pt x="698119" y="863219"/>
                  </a:cubicBezTo>
                  <a:lnTo>
                    <a:pt x="698119" y="856869"/>
                  </a:lnTo>
                  <a:lnTo>
                    <a:pt x="698119" y="863219"/>
                  </a:lnTo>
                  <a:lnTo>
                    <a:pt x="165100" y="863219"/>
                  </a:lnTo>
                  <a:lnTo>
                    <a:pt x="165100" y="856869"/>
                  </a:lnTo>
                  <a:lnTo>
                    <a:pt x="165100" y="863219"/>
                  </a:lnTo>
                  <a:cubicBezTo>
                    <a:pt x="73914" y="863219"/>
                    <a:pt x="0" y="789305"/>
                    <a:pt x="0" y="698119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698119"/>
                  </a:lnTo>
                  <a:lnTo>
                    <a:pt x="6350" y="698119"/>
                  </a:lnTo>
                  <a:lnTo>
                    <a:pt x="12700" y="698119"/>
                  </a:lnTo>
                  <a:cubicBezTo>
                    <a:pt x="12700" y="782320"/>
                    <a:pt x="80899" y="850519"/>
                    <a:pt x="165100" y="850519"/>
                  </a:cubicBezTo>
                  <a:lnTo>
                    <a:pt x="698119" y="850519"/>
                  </a:lnTo>
                  <a:cubicBezTo>
                    <a:pt x="782320" y="850519"/>
                    <a:pt x="850519" y="782320"/>
                    <a:pt x="850519" y="698119"/>
                  </a:cubicBezTo>
                  <a:lnTo>
                    <a:pt x="850519" y="165100"/>
                  </a:lnTo>
                  <a:cubicBezTo>
                    <a:pt x="850519" y="80899"/>
                    <a:pt x="782320" y="12700"/>
                    <a:pt x="698119" y="12700"/>
                  </a:cubicBezTo>
                  <a:lnTo>
                    <a:pt x="165100" y="12700"/>
                  </a:lnTo>
                  <a:lnTo>
                    <a:pt x="165100" y="6350"/>
                  </a:lnTo>
                  <a:lnTo>
                    <a:pt x="165100" y="12700"/>
                  </a:lnTo>
                  <a:cubicBezTo>
                    <a:pt x="80899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098575" y="3509962"/>
            <a:ext cx="425206" cy="493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3312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13630" y="3477968"/>
            <a:ext cx="4264666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Backend-инфраструктура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13630" y="4033838"/>
            <a:ext cx="8524132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Авторизация, ролевая модель, CRUD-операции, хранение и обработка действий пользователей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87476" y="5598614"/>
            <a:ext cx="647405" cy="647405"/>
            <a:chOff x="0" y="0"/>
            <a:chExt cx="863206" cy="863206"/>
          </a:xfrm>
        </p:grpSpPr>
        <p:sp>
          <p:nvSpPr>
            <p:cNvPr id="15" name="Freeform 15"/>
            <p:cNvSpPr/>
            <p:nvPr/>
          </p:nvSpPr>
          <p:spPr>
            <a:xfrm>
              <a:off x="6350" y="6350"/>
              <a:ext cx="850519" cy="850519"/>
            </a:xfrm>
            <a:custGeom>
              <a:avLst/>
              <a:gdLst/>
              <a:ahLst/>
              <a:cxnLst/>
              <a:rect l="l" t="t" r="r" b="b"/>
              <a:pathLst>
                <a:path w="850519" h="850519">
                  <a:moveTo>
                    <a:pt x="0" y="158750"/>
                  </a:moveTo>
                  <a:cubicBezTo>
                    <a:pt x="0" y="71120"/>
                    <a:pt x="71120" y="0"/>
                    <a:pt x="158750" y="0"/>
                  </a:cubicBezTo>
                  <a:lnTo>
                    <a:pt x="691769" y="0"/>
                  </a:lnTo>
                  <a:cubicBezTo>
                    <a:pt x="779399" y="0"/>
                    <a:pt x="850519" y="71120"/>
                    <a:pt x="850519" y="158750"/>
                  </a:cubicBezTo>
                  <a:lnTo>
                    <a:pt x="850519" y="691769"/>
                  </a:lnTo>
                  <a:cubicBezTo>
                    <a:pt x="850519" y="779399"/>
                    <a:pt x="779399" y="850519"/>
                    <a:pt x="691769" y="850519"/>
                  </a:cubicBezTo>
                  <a:lnTo>
                    <a:pt x="158750" y="850519"/>
                  </a:lnTo>
                  <a:cubicBezTo>
                    <a:pt x="71120" y="850519"/>
                    <a:pt x="0" y="779399"/>
                    <a:pt x="0" y="691769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  <p:sp>
          <p:nvSpPr>
            <p:cNvPr id="16" name="Freeform 16"/>
            <p:cNvSpPr/>
            <p:nvPr/>
          </p:nvSpPr>
          <p:spPr>
            <a:xfrm>
              <a:off x="0" y="0"/>
              <a:ext cx="863219" cy="863219"/>
            </a:xfrm>
            <a:custGeom>
              <a:avLst/>
              <a:gdLst/>
              <a:ahLst/>
              <a:cxnLst/>
              <a:rect l="l" t="t" r="r" b="b"/>
              <a:pathLst>
                <a:path w="863219" h="86321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cubicBezTo>
                    <a:pt x="789305" y="0"/>
                    <a:pt x="863219" y="73914"/>
                    <a:pt x="863219" y="165100"/>
                  </a:cubicBezTo>
                  <a:lnTo>
                    <a:pt x="856869" y="165100"/>
                  </a:lnTo>
                  <a:lnTo>
                    <a:pt x="863219" y="165100"/>
                  </a:lnTo>
                  <a:lnTo>
                    <a:pt x="863219" y="698119"/>
                  </a:lnTo>
                  <a:lnTo>
                    <a:pt x="856869" y="698119"/>
                  </a:lnTo>
                  <a:lnTo>
                    <a:pt x="863219" y="698119"/>
                  </a:lnTo>
                  <a:cubicBezTo>
                    <a:pt x="863219" y="789305"/>
                    <a:pt x="789305" y="863219"/>
                    <a:pt x="698119" y="863219"/>
                  </a:cubicBezTo>
                  <a:lnTo>
                    <a:pt x="698119" y="856869"/>
                  </a:lnTo>
                  <a:lnTo>
                    <a:pt x="698119" y="863219"/>
                  </a:lnTo>
                  <a:lnTo>
                    <a:pt x="165100" y="863219"/>
                  </a:lnTo>
                  <a:lnTo>
                    <a:pt x="165100" y="856869"/>
                  </a:lnTo>
                  <a:lnTo>
                    <a:pt x="165100" y="863219"/>
                  </a:lnTo>
                  <a:cubicBezTo>
                    <a:pt x="73914" y="863219"/>
                    <a:pt x="0" y="789305"/>
                    <a:pt x="0" y="698119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698119"/>
                  </a:lnTo>
                  <a:lnTo>
                    <a:pt x="6350" y="698119"/>
                  </a:lnTo>
                  <a:lnTo>
                    <a:pt x="12700" y="698119"/>
                  </a:lnTo>
                  <a:cubicBezTo>
                    <a:pt x="12700" y="782320"/>
                    <a:pt x="80899" y="850519"/>
                    <a:pt x="165100" y="850519"/>
                  </a:cubicBezTo>
                  <a:lnTo>
                    <a:pt x="698119" y="850519"/>
                  </a:lnTo>
                  <a:cubicBezTo>
                    <a:pt x="782320" y="850519"/>
                    <a:pt x="850519" y="782320"/>
                    <a:pt x="850519" y="698119"/>
                  </a:cubicBezTo>
                  <a:lnTo>
                    <a:pt x="850519" y="165100"/>
                  </a:lnTo>
                  <a:cubicBezTo>
                    <a:pt x="850519" y="80899"/>
                    <a:pt x="782320" y="12700"/>
                    <a:pt x="698119" y="12700"/>
                  </a:cubicBezTo>
                  <a:lnTo>
                    <a:pt x="165100" y="12700"/>
                  </a:lnTo>
                  <a:lnTo>
                    <a:pt x="165100" y="6350"/>
                  </a:lnTo>
                  <a:lnTo>
                    <a:pt x="165100" y="12700"/>
                  </a:lnTo>
                  <a:cubicBezTo>
                    <a:pt x="80899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17" name="TextBox 17"/>
          <p:cNvSpPr txBox="1"/>
          <p:nvPr/>
        </p:nvSpPr>
        <p:spPr>
          <a:xfrm>
            <a:off x="1098575" y="5694607"/>
            <a:ext cx="425206" cy="493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3312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913630" y="5662612"/>
            <a:ext cx="458539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Алгоритмы рекомендаций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13630" y="6218482"/>
            <a:ext cx="8524132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Реализация алгоритмов Popular, By Categories, KNN и механизма объяснимости (explainability)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87476" y="7783268"/>
            <a:ext cx="647405" cy="647405"/>
            <a:chOff x="0" y="0"/>
            <a:chExt cx="863206" cy="863206"/>
          </a:xfrm>
        </p:grpSpPr>
        <p:sp>
          <p:nvSpPr>
            <p:cNvPr id="21" name="Freeform 21"/>
            <p:cNvSpPr/>
            <p:nvPr/>
          </p:nvSpPr>
          <p:spPr>
            <a:xfrm>
              <a:off x="6350" y="6350"/>
              <a:ext cx="850519" cy="850519"/>
            </a:xfrm>
            <a:custGeom>
              <a:avLst/>
              <a:gdLst/>
              <a:ahLst/>
              <a:cxnLst/>
              <a:rect l="l" t="t" r="r" b="b"/>
              <a:pathLst>
                <a:path w="850519" h="850519">
                  <a:moveTo>
                    <a:pt x="0" y="158750"/>
                  </a:moveTo>
                  <a:cubicBezTo>
                    <a:pt x="0" y="71120"/>
                    <a:pt x="71120" y="0"/>
                    <a:pt x="158750" y="0"/>
                  </a:cubicBezTo>
                  <a:lnTo>
                    <a:pt x="691769" y="0"/>
                  </a:lnTo>
                  <a:cubicBezTo>
                    <a:pt x="779399" y="0"/>
                    <a:pt x="850519" y="71120"/>
                    <a:pt x="850519" y="158750"/>
                  </a:cubicBezTo>
                  <a:lnTo>
                    <a:pt x="850519" y="691769"/>
                  </a:lnTo>
                  <a:cubicBezTo>
                    <a:pt x="850519" y="779399"/>
                    <a:pt x="779399" y="850519"/>
                    <a:pt x="691769" y="850519"/>
                  </a:cubicBezTo>
                  <a:lnTo>
                    <a:pt x="158750" y="850519"/>
                  </a:lnTo>
                  <a:cubicBezTo>
                    <a:pt x="71120" y="850519"/>
                    <a:pt x="0" y="779399"/>
                    <a:pt x="0" y="691769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  <p:sp>
          <p:nvSpPr>
            <p:cNvPr id="22" name="Freeform 22"/>
            <p:cNvSpPr/>
            <p:nvPr/>
          </p:nvSpPr>
          <p:spPr>
            <a:xfrm>
              <a:off x="0" y="0"/>
              <a:ext cx="863219" cy="863219"/>
            </a:xfrm>
            <a:custGeom>
              <a:avLst/>
              <a:gdLst/>
              <a:ahLst/>
              <a:cxnLst/>
              <a:rect l="l" t="t" r="r" b="b"/>
              <a:pathLst>
                <a:path w="863219" h="86321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cubicBezTo>
                    <a:pt x="789305" y="0"/>
                    <a:pt x="863219" y="73914"/>
                    <a:pt x="863219" y="165100"/>
                  </a:cubicBezTo>
                  <a:lnTo>
                    <a:pt x="856869" y="165100"/>
                  </a:lnTo>
                  <a:lnTo>
                    <a:pt x="863219" y="165100"/>
                  </a:lnTo>
                  <a:lnTo>
                    <a:pt x="863219" y="698119"/>
                  </a:lnTo>
                  <a:lnTo>
                    <a:pt x="856869" y="698119"/>
                  </a:lnTo>
                  <a:lnTo>
                    <a:pt x="863219" y="698119"/>
                  </a:lnTo>
                  <a:cubicBezTo>
                    <a:pt x="863219" y="789305"/>
                    <a:pt x="789305" y="863219"/>
                    <a:pt x="698119" y="863219"/>
                  </a:cubicBezTo>
                  <a:lnTo>
                    <a:pt x="698119" y="856869"/>
                  </a:lnTo>
                  <a:lnTo>
                    <a:pt x="698119" y="863219"/>
                  </a:lnTo>
                  <a:lnTo>
                    <a:pt x="165100" y="863219"/>
                  </a:lnTo>
                  <a:lnTo>
                    <a:pt x="165100" y="856869"/>
                  </a:lnTo>
                  <a:lnTo>
                    <a:pt x="165100" y="863219"/>
                  </a:lnTo>
                  <a:cubicBezTo>
                    <a:pt x="73914" y="863219"/>
                    <a:pt x="0" y="789305"/>
                    <a:pt x="0" y="698119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698119"/>
                  </a:lnTo>
                  <a:lnTo>
                    <a:pt x="6350" y="698119"/>
                  </a:lnTo>
                  <a:lnTo>
                    <a:pt x="12700" y="698119"/>
                  </a:lnTo>
                  <a:cubicBezTo>
                    <a:pt x="12700" y="782320"/>
                    <a:pt x="80899" y="850519"/>
                    <a:pt x="165100" y="850519"/>
                  </a:cubicBezTo>
                  <a:lnTo>
                    <a:pt x="698119" y="850519"/>
                  </a:lnTo>
                  <a:cubicBezTo>
                    <a:pt x="782320" y="850519"/>
                    <a:pt x="850519" y="782320"/>
                    <a:pt x="850519" y="698119"/>
                  </a:cubicBezTo>
                  <a:lnTo>
                    <a:pt x="850519" y="165100"/>
                  </a:lnTo>
                  <a:cubicBezTo>
                    <a:pt x="850519" y="80899"/>
                    <a:pt x="782320" y="12700"/>
                    <a:pt x="698119" y="12700"/>
                  </a:cubicBezTo>
                  <a:lnTo>
                    <a:pt x="165100" y="12700"/>
                  </a:lnTo>
                  <a:lnTo>
                    <a:pt x="165100" y="6350"/>
                  </a:lnTo>
                  <a:lnTo>
                    <a:pt x="165100" y="12700"/>
                  </a:lnTo>
                  <a:cubicBezTo>
                    <a:pt x="80899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23" name="TextBox 23"/>
          <p:cNvSpPr txBox="1"/>
          <p:nvPr/>
        </p:nvSpPr>
        <p:spPr>
          <a:xfrm>
            <a:off x="1098575" y="7879261"/>
            <a:ext cx="425206" cy="493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3312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913630" y="7847257"/>
            <a:ext cx="4277916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Клиентские приложения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913630" y="8403136"/>
            <a:ext cx="8524132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Web-клиент (MVC) и WPF-клиент с пользовательским и административным функционалом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7574305-7357-DD7D-A1D7-009AE209ED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01859" y="2778918"/>
            <a:ext cx="6248400" cy="6248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DAD0751-9235-39D5-3782-D8AB8DF459F3}"/>
              </a:ext>
            </a:extLst>
          </p:cNvPr>
          <p:cNvSpPr txBox="1"/>
          <p:nvPr/>
        </p:nvSpPr>
        <p:spPr>
          <a:xfrm>
            <a:off x="17911834" y="9867791"/>
            <a:ext cx="295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496042" y="351682"/>
            <a:ext cx="9867158" cy="4437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Актуальность</a:t>
            </a:r>
            <a:r>
              <a:rPr lang="en-US" sz="4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и </a:t>
            </a: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целевая</a:t>
            </a:r>
            <a:r>
              <a:rPr lang="en-US" sz="4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аудитория</a:t>
            </a:r>
            <a:endParaRPr lang="en-US" sz="4000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425720" y="3567504"/>
            <a:ext cx="6057157" cy="7283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6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Почему</a:t>
            </a:r>
            <a:r>
              <a:rPr lang="en-US" sz="36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6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это</a:t>
            </a:r>
            <a:r>
              <a:rPr lang="en-US" sz="36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6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важно</a:t>
            </a:r>
            <a:r>
              <a:rPr lang="en-US" sz="36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6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сейчас</a:t>
            </a:r>
            <a:r>
              <a:rPr lang="en-US" sz="36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25720" y="4479078"/>
            <a:ext cx="8475021" cy="3596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Объём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цифрового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контента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растёт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экспоненциально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Платформы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не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предлагающие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персонализацию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проигрывают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в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конкуренции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за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внимание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пользователя</a:t>
            </a:r>
            <a:r>
              <a:rPr lang="en-US" sz="32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26461" y="1018584"/>
            <a:ext cx="8475021" cy="8475021"/>
            <a:chOff x="0" y="0"/>
            <a:chExt cx="11300028" cy="11300028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11300079" cy="11300079"/>
            </a:xfrm>
            <a:custGeom>
              <a:avLst/>
              <a:gdLst/>
              <a:ahLst/>
              <a:cxnLst/>
              <a:rect l="l" t="t" r="r" b="b"/>
              <a:pathLst>
                <a:path w="11300079" h="11300079">
                  <a:moveTo>
                    <a:pt x="0" y="0"/>
                  </a:moveTo>
                  <a:lnTo>
                    <a:pt x="11300079" y="0"/>
                  </a:lnTo>
                  <a:lnTo>
                    <a:pt x="11300079" y="11300079"/>
                  </a:lnTo>
                  <a:lnTo>
                    <a:pt x="0" y="11300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326461" y="1018584"/>
            <a:ext cx="8475021" cy="8475021"/>
            <a:chOff x="0" y="0"/>
            <a:chExt cx="11300028" cy="11300028"/>
          </a:xfrm>
        </p:grpSpPr>
        <p:sp>
          <p:nvSpPr>
            <p:cNvPr id="12" name="Freeform 12" descr="preencoded.png"/>
            <p:cNvSpPr/>
            <p:nvPr/>
          </p:nvSpPr>
          <p:spPr>
            <a:xfrm>
              <a:off x="0" y="0"/>
              <a:ext cx="11300079" cy="11300079"/>
            </a:xfrm>
            <a:custGeom>
              <a:avLst/>
              <a:gdLst/>
              <a:ahLst/>
              <a:cxnLst/>
              <a:rect l="l" t="t" r="r" b="b"/>
              <a:pathLst>
                <a:path w="11300079" h="11300079">
                  <a:moveTo>
                    <a:pt x="0" y="0"/>
                  </a:moveTo>
                  <a:lnTo>
                    <a:pt x="11300079" y="0"/>
                  </a:lnTo>
                  <a:lnTo>
                    <a:pt x="11300079" y="11300079"/>
                  </a:lnTo>
                  <a:lnTo>
                    <a:pt x="0" y="11300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ru-RU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BC511C2-55B3-91F8-53A3-F24DF270DCA1}"/>
              </a:ext>
            </a:extLst>
          </p:cNvPr>
          <p:cNvSpPr txBox="1"/>
          <p:nvPr/>
        </p:nvSpPr>
        <p:spPr>
          <a:xfrm>
            <a:off x="17911834" y="9867791"/>
            <a:ext cx="295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635640" y="461372"/>
            <a:ext cx="8508359" cy="564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7"/>
              </a:lnSpc>
            </a:pP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Архитектура</a:t>
            </a:r>
            <a:r>
              <a:rPr lang="en-US" sz="4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приложения</a:t>
            </a:r>
            <a:endParaRPr lang="en-US" sz="4000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35641" y="1714500"/>
            <a:ext cx="5917559" cy="809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Ключевые</a:t>
            </a:r>
            <a:r>
              <a:rPr lang="en-US" sz="4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решения</a:t>
            </a:r>
            <a:endParaRPr lang="en-US" sz="4000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602408" y="5504378"/>
            <a:ext cx="4104380" cy="1296886"/>
            <a:chOff x="0" y="0"/>
            <a:chExt cx="5472506" cy="1729181"/>
          </a:xfrm>
        </p:grpSpPr>
        <p:sp>
          <p:nvSpPr>
            <p:cNvPr id="13" name="Freeform 13"/>
            <p:cNvSpPr/>
            <p:nvPr/>
          </p:nvSpPr>
          <p:spPr>
            <a:xfrm>
              <a:off x="12700" y="12700"/>
              <a:ext cx="5447157" cy="1703832"/>
            </a:xfrm>
            <a:custGeom>
              <a:avLst/>
              <a:gdLst/>
              <a:ahLst/>
              <a:cxnLst/>
              <a:rect l="l" t="t" r="r" b="b"/>
              <a:pathLst>
                <a:path w="5447157" h="1703832">
                  <a:moveTo>
                    <a:pt x="0" y="121920"/>
                  </a:moveTo>
                  <a:cubicBezTo>
                    <a:pt x="0" y="54610"/>
                    <a:pt x="55118" y="0"/>
                    <a:pt x="123190" y="0"/>
                  </a:cubicBezTo>
                  <a:lnTo>
                    <a:pt x="5323967" y="0"/>
                  </a:lnTo>
                  <a:cubicBezTo>
                    <a:pt x="5392039" y="0"/>
                    <a:pt x="5447157" y="54610"/>
                    <a:pt x="5447157" y="121920"/>
                  </a:cubicBezTo>
                  <a:lnTo>
                    <a:pt x="5447157" y="1581912"/>
                  </a:lnTo>
                  <a:cubicBezTo>
                    <a:pt x="5447157" y="1649222"/>
                    <a:pt x="5392039" y="1703832"/>
                    <a:pt x="5323967" y="1703832"/>
                  </a:cubicBezTo>
                  <a:lnTo>
                    <a:pt x="123190" y="1703832"/>
                  </a:lnTo>
                  <a:cubicBezTo>
                    <a:pt x="55118" y="1703832"/>
                    <a:pt x="0" y="1649222"/>
                    <a:pt x="0" y="1581912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14" name="Freeform 14"/>
            <p:cNvSpPr/>
            <p:nvPr/>
          </p:nvSpPr>
          <p:spPr>
            <a:xfrm>
              <a:off x="0" y="0"/>
              <a:ext cx="5472557" cy="1729232"/>
            </a:xfrm>
            <a:custGeom>
              <a:avLst/>
              <a:gdLst/>
              <a:ahLst/>
              <a:cxnLst/>
              <a:rect l="l" t="t" r="r" b="b"/>
              <a:pathLst>
                <a:path w="5472557" h="1729232">
                  <a:moveTo>
                    <a:pt x="0" y="134620"/>
                  </a:moveTo>
                  <a:cubicBezTo>
                    <a:pt x="0" y="60198"/>
                    <a:pt x="60960" y="0"/>
                    <a:pt x="135890" y="0"/>
                  </a:cubicBezTo>
                  <a:lnTo>
                    <a:pt x="5336667" y="0"/>
                  </a:lnTo>
                  <a:lnTo>
                    <a:pt x="5336667" y="12700"/>
                  </a:lnTo>
                  <a:lnTo>
                    <a:pt x="5336667" y="0"/>
                  </a:lnTo>
                  <a:cubicBezTo>
                    <a:pt x="5411597" y="0"/>
                    <a:pt x="5472557" y="60198"/>
                    <a:pt x="5472557" y="134620"/>
                  </a:cubicBezTo>
                  <a:lnTo>
                    <a:pt x="5459857" y="134620"/>
                  </a:lnTo>
                  <a:lnTo>
                    <a:pt x="5472557" y="134620"/>
                  </a:lnTo>
                  <a:lnTo>
                    <a:pt x="5472557" y="1594612"/>
                  </a:lnTo>
                  <a:lnTo>
                    <a:pt x="5459857" y="1594612"/>
                  </a:lnTo>
                  <a:lnTo>
                    <a:pt x="5472557" y="1594612"/>
                  </a:lnTo>
                  <a:cubicBezTo>
                    <a:pt x="5472557" y="1669034"/>
                    <a:pt x="5411597" y="1729232"/>
                    <a:pt x="5336667" y="1729232"/>
                  </a:cubicBezTo>
                  <a:lnTo>
                    <a:pt x="5336667" y="1716532"/>
                  </a:lnTo>
                  <a:lnTo>
                    <a:pt x="5336667" y="1729232"/>
                  </a:lnTo>
                  <a:lnTo>
                    <a:pt x="135890" y="1729232"/>
                  </a:lnTo>
                  <a:lnTo>
                    <a:pt x="135890" y="1716532"/>
                  </a:lnTo>
                  <a:lnTo>
                    <a:pt x="135890" y="1729232"/>
                  </a:lnTo>
                  <a:cubicBezTo>
                    <a:pt x="60960" y="1729232"/>
                    <a:pt x="0" y="1669034"/>
                    <a:pt x="0" y="1594612"/>
                  </a:cubicBezTo>
                  <a:lnTo>
                    <a:pt x="0" y="134620"/>
                  </a:lnTo>
                  <a:lnTo>
                    <a:pt x="12700" y="134620"/>
                  </a:lnTo>
                  <a:lnTo>
                    <a:pt x="0" y="134620"/>
                  </a:lnTo>
                  <a:moveTo>
                    <a:pt x="25400" y="134620"/>
                  </a:moveTo>
                  <a:lnTo>
                    <a:pt x="25400" y="1594612"/>
                  </a:lnTo>
                  <a:lnTo>
                    <a:pt x="12700" y="1594612"/>
                  </a:lnTo>
                  <a:lnTo>
                    <a:pt x="25400" y="1594612"/>
                  </a:lnTo>
                  <a:cubicBezTo>
                    <a:pt x="25400" y="1654810"/>
                    <a:pt x="74676" y="1703832"/>
                    <a:pt x="135890" y="1703832"/>
                  </a:cubicBezTo>
                  <a:lnTo>
                    <a:pt x="5336667" y="1703832"/>
                  </a:lnTo>
                  <a:cubicBezTo>
                    <a:pt x="5397754" y="1703832"/>
                    <a:pt x="5447157" y="1654810"/>
                    <a:pt x="5447157" y="1594612"/>
                  </a:cubicBezTo>
                  <a:lnTo>
                    <a:pt x="5447157" y="134620"/>
                  </a:lnTo>
                  <a:cubicBezTo>
                    <a:pt x="5447157" y="74422"/>
                    <a:pt x="5397881" y="25400"/>
                    <a:pt x="5336667" y="25400"/>
                  </a:cubicBezTo>
                  <a:lnTo>
                    <a:pt x="135890" y="25400"/>
                  </a:lnTo>
                  <a:lnTo>
                    <a:pt x="135890" y="12700"/>
                  </a:lnTo>
                  <a:lnTo>
                    <a:pt x="135890" y="25400"/>
                  </a:lnTo>
                  <a:cubicBezTo>
                    <a:pt x="74676" y="25400"/>
                    <a:pt x="25400" y="74422"/>
                    <a:pt x="25400" y="13462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15" name="Group 15"/>
          <p:cNvGrpSpPr/>
          <p:nvPr/>
        </p:nvGrpSpPr>
        <p:grpSpPr>
          <a:xfrm>
            <a:off x="592883" y="5513903"/>
            <a:ext cx="76200" cy="1277836"/>
            <a:chOff x="0" y="0"/>
            <a:chExt cx="101600" cy="170378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1600" cy="1703832"/>
            </a:xfrm>
            <a:custGeom>
              <a:avLst/>
              <a:gdLst/>
              <a:ahLst/>
              <a:cxnLst/>
              <a:rect l="l" t="t" r="r" b="b"/>
              <a:pathLst>
                <a:path w="101600" h="1703832">
                  <a:moveTo>
                    <a:pt x="0" y="50800"/>
                  </a:moveTo>
                  <a:cubicBezTo>
                    <a:pt x="0" y="22733"/>
                    <a:pt x="22733" y="0"/>
                    <a:pt x="50800" y="0"/>
                  </a:cubicBezTo>
                  <a:cubicBezTo>
                    <a:pt x="78867" y="0"/>
                    <a:pt x="101600" y="22733"/>
                    <a:pt x="101600" y="50800"/>
                  </a:cubicBezTo>
                  <a:lnTo>
                    <a:pt x="101600" y="1653032"/>
                  </a:lnTo>
                  <a:cubicBezTo>
                    <a:pt x="101600" y="1681099"/>
                    <a:pt x="78867" y="1703832"/>
                    <a:pt x="50800" y="1703832"/>
                  </a:cubicBezTo>
                  <a:cubicBezTo>
                    <a:pt x="22733" y="1703832"/>
                    <a:pt x="0" y="1681099"/>
                    <a:pt x="0" y="1653032"/>
                  </a:cubicBezTo>
                  <a:close/>
                </a:path>
              </a:pathLst>
            </a:custGeom>
            <a:solidFill>
              <a:srgbClr val="E5E5E0"/>
            </a:solidFill>
          </p:spPr>
        </p:sp>
      </p:grpSp>
      <p:sp>
        <p:nvSpPr>
          <p:cNvPr id="17" name="TextBox 17"/>
          <p:cNvSpPr txBox="1"/>
          <p:nvPr/>
        </p:nvSpPr>
        <p:spPr>
          <a:xfrm>
            <a:off x="869699" y="5685953"/>
            <a:ext cx="2270369" cy="312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Clean Architecture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69699" y="6086003"/>
            <a:ext cx="3626939" cy="505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375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Domain / Application / Infrastructure / WebAPI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615115" y="2910596"/>
            <a:ext cx="4104380" cy="1296886"/>
            <a:chOff x="0" y="0"/>
            <a:chExt cx="5472506" cy="1729181"/>
          </a:xfrm>
        </p:grpSpPr>
        <p:sp>
          <p:nvSpPr>
            <p:cNvPr id="20" name="Freeform 20"/>
            <p:cNvSpPr/>
            <p:nvPr/>
          </p:nvSpPr>
          <p:spPr>
            <a:xfrm>
              <a:off x="12700" y="12700"/>
              <a:ext cx="5447157" cy="1703832"/>
            </a:xfrm>
            <a:custGeom>
              <a:avLst/>
              <a:gdLst/>
              <a:ahLst/>
              <a:cxnLst/>
              <a:rect l="l" t="t" r="r" b="b"/>
              <a:pathLst>
                <a:path w="5447157" h="1703832">
                  <a:moveTo>
                    <a:pt x="0" y="121920"/>
                  </a:moveTo>
                  <a:cubicBezTo>
                    <a:pt x="0" y="54610"/>
                    <a:pt x="55118" y="0"/>
                    <a:pt x="123190" y="0"/>
                  </a:cubicBezTo>
                  <a:lnTo>
                    <a:pt x="5323967" y="0"/>
                  </a:lnTo>
                  <a:cubicBezTo>
                    <a:pt x="5392039" y="0"/>
                    <a:pt x="5447157" y="54610"/>
                    <a:pt x="5447157" y="121920"/>
                  </a:cubicBezTo>
                  <a:lnTo>
                    <a:pt x="5447157" y="1581912"/>
                  </a:lnTo>
                  <a:cubicBezTo>
                    <a:pt x="5447157" y="1649222"/>
                    <a:pt x="5392039" y="1703832"/>
                    <a:pt x="5323967" y="1703832"/>
                  </a:cubicBezTo>
                  <a:lnTo>
                    <a:pt x="123190" y="1703832"/>
                  </a:lnTo>
                  <a:cubicBezTo>
                    <a:pt x="55118" y="1703832"/>
                    <a:pt x="0" y="1649222"/>
                    <a:pt x="0" y="1581912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21" name="Freeform 21"/>
            <p:cNvSpPr/>
            <p:nvPr/>
          </p:nvSpPr>
          <p:spPr>
            <a:xfrm>
              <a:off x="0" y="0"/>
              <a:ext cx="5472557" cy="1729232"/>
            </a:xfrm>
            <a:custGeom>
              <a:avLst/>
              <a:gdLst/>
              <a:ahLst/>
              <a:cxnLst/>
              <a:rect l="l" t="t" r="r" b="b"/>
              <a:pathLst>
                <a:path w="5472557" h="1729232">
                  <a:moveTo>
                    <a:pt x="0" y="134620"/>
                  </a:moveTo>
                  <a:cubicBezTo>
                    <a:pt x="0" y="60198"/>
                    <a:pt x="60960" y="0"/>
                    <a:pt x="135890" y="0"/>
                  </a:cubicBezTo>
                  <a:lnTo>
                    <a:pt x="5336667" y="0"/>
                  </a:lnTo>
                  <a:lnTo>
                    <a:pt x="5336667" y="12700"/>
                  </a:lnTo>
                  <a:lnTo>
                    <a:pt x="5336667" y="0"/>
                  </a:lnTo>
                  <a:cubicBezTo>
                    <a:pt x="5411597" y="0"/>
                    <a:pt x="5472557" y="60198"/>
                    <a:pt x="5472557" y="134620"/>
                  </a:cubicBezTo>
                  <a:lnTo>
                    <a:pt x="5459857" y="134620"/>
                  </a:lnTo>
                  <a:lnTo>
                    <a:pt x="5472557" y="134620"/>
                  </a:lnTo>
                  <a:lnTo>
                    <a:pt x="5472557" y="1594612"/>
                  </a:lnTo>
                  <a:lnTo>
                    <a:pt x="5459857" y="1594612"/>
                  </a:lnTo>
                  <a:lnTo>
                    <a:pt x="5472557" y="1594612"/>
                  </a:lnTo>
                  <a:cubicBezTo>
                    <a:pt x="5472557" y="1669034"/>
                    <a:pt x="5411597" y="1729232"/>
                    <a:pt x="5336667" y="1729232"/>
                  </a:cubicBezTo>
                  <a:lnTo>
                    <a:pt x="5336667" y="1716532"/>
                  </a:lnTo>
                  <a:lnTo>
                    <a:pt x="5336667" y="1729232"/>
                  </a:lnTo>
                  <a:lnTo>
                    <a:pt x="135890" y="1729232"/>
                  </a:lnTo>
                  <a:lnTo>
                    <a:pt x="135890" y="1716532"/>
                  </a:lnTo>
                  <a:lnTo>
                    <a:pt x="135890" y="1729232"/>
                  </a:lnTo>
                  <a:cubicBezTo>
                    <a:pt x="60960" y="1729232"/>
                    <a:pt x="0" y="1669034"/>
                    <a:pt x="0" y="1594612"/>
                  </a:cubicBezTo>
                  <a:lnTo>
                    <a:pt x="0" y="134620"/>
                  </a:lnTo>
                  <a:lnTo>
                    <a:pt x="12700" y="134620"/>
                  </a:lnTo>
                  <a:lnTo>
                    <a:pt x="0" y="134620"/>
                  </a:lnTo>
                  <a:moveTo>
                    <a:pt x="25400" y="134620"/>
                  </a:moveTo>
                  <a:lnTo>
                    <a:pt x="25400" y="1594612"/>
                  </a:lnTo>
                  <a:lnTo>
                    <a:pt x="12700" y="1594612"/>
                  </a:lnTo>
                  <a:lnTo>
                    <a:pt x="25400" y="1594612"/>
                  </a:lnTo>
                  <a:cubicBezTo>
                    <a:pt x="25400" y="1654810"/>
                    <a:pt x="74676" y="1703832"/>
                    <a:pt x="135890" y="1703832"/>
                  </a:cubicBezTo>
                  <a:lnTo>
                    <a:pt x="5336667" y="1703832"/>
                  </a:lnTo>
                  <a:cubicBezTo>
                    <a:pt x="5397754" y="1703832"/>
                    <a:pt x="5447157" y="1654810"/>
                    <a:pt x="5447157" y="1594612"/>
                  </a:cubicBezTo>
                  <a:lnTo>
                    <a:pt x="5447157" y="134620"/>
                  </a:lnTo>
                  <a:cubicBezTo>
                    <a:pt x="5447157" y="74422"/>
                    <a:pt x="5397881" y="25400"/>
                    <a:pt x="5336667" y="25400"/>
                  </a:cubicBezTo>
                  <a:lnTo>
                    <a:pt x="135890" y="25400"/>
                  </a:lnTo>
                  <a:lnTo>
                    <a:pt x="135890" y="12700"/>
                  </a:lnTo>
                  <a:lnTo>
                    <a:pt x="135890" y="25400"/>
                  </a:lnTo>
                  <a:cubicBezTo>
                    <a:pt x="74676" y="25400"/>
                    <a:pt x="25400" y="74422"/>
                    <a:pt x="25400" y="13462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605590" y="2920121"/>
            <a:ext cx="76200" cy="1277836"/>
            <a:chOff x="0" y="0"/>
            <a:chExt cx="101600" cy="170378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1600" cy="1703832"/>
            </a:xfrm>
            <a:custGeom>
              <a:avLst/>
              <a:gdLst/>
              <a:ahLst/>
              <a:cxnLst/>
              <a:rect l="l" t="t" r="r" b="b"/>
              <a:pathLst>
                <a:path w="101600" h="1703832">
                  <a:moveTo>
                    <a:pt x="0" y="50800"/>
                  </a:moveTo>
                  <a:cubicBezTo>
                    <a:pt x="0" y="22733"/>
                    <a:pt x="22733" y="0"/>
                    <a:pt x="50800" y="0"/>
                  </a:cubicBezTo>
                  <a:cubicBezTo>
                    <a:pt x="78867" y="0"/>
                    <a:pt x="101600" y="22733"/>
                    <a:pt x="101600" y="50800"/>
                  </a:cubicBezTo>
                  <a:lnTo>
                    <a:pt x="101600" y="1653032"/>
                  </a:lnTo>
                  <a:cubicBezTo>
                    <a:pt x="101600" y="1681099"/>
                    <a:pt x="78867" y="1703832"/>
                    <a:pt x="50800" y="1703832"/>
                  </a:cubicBezTo>
                  <a:cubicBezTo>
                    <a:pt x="22733" y="1703832"/>
                    <a:pt x="0" y="1681099"/>
                    <a:pt x="0" y="1653032"/>
                  </a:cubicBezTo>
                  <a:close/>
                </a:path>
              </a:pathLst>
            </a:custGeom>
            <a:solidFill>
              <a:srgbClr val="E5E5E0"/>
            </a:solidFill>
          </p:spPr>
        </p:sp>
      </p:grpSp>
      <p:sp>
        <p:nvSpPr>
          <p:cNvPr id="24" name="TextBox 24"/>
          <p:cNvSpPr txBox="1"/>
          <p:nvPr/>
        </p:nvSpPr>
        <p:spPr>
          <a:xfrm>
            <a:off x="882416" y="3092171"/>
            <a:ext cx="2270369" cy="312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75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Web-</a:t>
            </a:r>
            <a:r>
              <a:rPr lang="en-US" sz="175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клиент</a:t>
            </a:r>
            <a:endParaRPr lang="en-US" sz="175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82416" y="3492221"/>
            <a:ext cx="3626939" cy="266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375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ASP.NET Core MVC + Razor Pages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02408" y="6898457"/>
            <a:ext cx="4104380" cy="1058618"/>
            <a:chOff x="0" y="0"/>
            <a:chExt cx="5472506" cy="1411491"/>
          </a:xfrm>
        </p:grpSpPr>
        <p:sp>
          <p:nvSpPr>
            <p:cNvPr id="27" name="Freeform 27"/>
            <p:cNvSpPr/>
            <p:nvPr/>
          </p:nvSpPr>
          <p:spPr>
            <a:xfrm>
              <a:off x="12700" y="12700"/>
              <a:ext cx="5447157" cy="1386078"/>
            </a:xfrm>
            <a:custGeom>
              <a:avLst/>
              <a:gdLst/>
              <a:ahLst/>
              <a:cxnLst/>
              <a:rect l="l" t="t" r="r" b="b"/>
              <a:pathLst>
                <a:path w="5447157" h="1386078">
                  <a:moveTo>
                    <a:pt x="0" y="121920"/>
                  </a:moveTo>
                  <a:cubicBezTo>
                    <a:pt x="0" y="54610"/>
                    <a:pt x="55372" y="0"/>
                    <a:pt x="123571" y="0"/>
                  </a:cubicBezTo>
                  <a:lnTo>
                    <a:pt x="5323586" y="0"/>
                  </a:lnTo>
                  <a:cubicBezTo>
                    <a:pt x="5391785" y="0"/>
                    <a:pt x="5447157" y="54610"/>
                    <a:pt x="5447157" y="121920"/>
                  </a:cubicBezTo>
                  <a:lnTo>
                    <a:pt x="5447157" y="1264158"/>
                  </a:lnTo>
                  <a:cubicBezTo>
                    <a:pt x="5447157" y="1331468"/>
                    <a:pt x="5391785" y="1386078"/>
                    <a:pt x="5323586" y="1386078"/>
                  </a:cubicBezTo>
                  <a:lnTo>
                    <a:pt x="123571" y="1386078"/>
                  </a:lnTo>
                  <a:cubicBezTo>
                    <a:pt x="55372" y="1386078"/>
                    <a:pt x="0" y="1331468"/>
                    <a:pt x="0" y="1264158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28" name="Freeform 28"/>
            <p:cNvSpPr/>
            <p:nvPr/>
          </p:nvSpPr>
          <p:spPr>
            <a:xfrm>
              <a:off x="0" y="0"/>
              <a:ext cx="5472557" cy="1411478"/>
            </a:xfrm>
            <a:custGeom>
              <a:avLst/>
              <a:gdLst/>
              <a:ahLst/>
              <a:cxnLst/>
              <a:rect l="l" t="t" r="r" b="b"/>
              <a:pathLst>
                <a:path w="5472557" h="1411478">
                  <a:moveTo>
                    <a:pt x="0" y="134620"/>
                  </a:moveTo>
                  <a:cubicBezTo>
                    <a:pt x="0" y="60071"/>
                    <a:pt x="61214" y="0"/>
                    <a:pt x="136271" y="0"/>
                  </a:cubicBezTo>
                  <a:lnTo>
                    <a:pt x="5336286" y="0"/>
                  </a:lnTo>
                  <a:lnTo>
                    <a:pt x="5336286" y="12700"/>
                  </a:lnTo>
                  <a:lnTo>
                    <a:pt x="5336286" y="0"/>
                  </a:lnTo>
                  <a:cubicBezTo>
                    <a:pt x="5411343" y="0"/>
                    <a:pt x="5472557" y="60071"/>
                    <a:pt x="5472557" y="134620"/>
                  </a:cubicBezTo>
                  <a:lnTo>
                    <a:pt x="5459857" y="134620"/>
                  </a:lnTo>
                  <a:lnTo>
                    <a:pt x="5472557" y="134620"/>
                  </a:lnTo>
                  <a:lnTo>
                    <a:pt x="5472557" y="1276858"/>
                  </a:lnTo>
                  <a:lnTo>
                    <a:pt x="5459857" y="1276858"/>
                  </a:lnTo>
                  <a:lnTo>
                    <a:pt x="5472557" y="1276858"/>
                  </a:lnTo>
                  <a:cubicBezTo>
                    <a:pt x="5472557" y="1351407"/>
                    <a:pt x="5411343" y="1411478"/>
                    <a:pt x="5336286" y="1411478"/>
                  </a:cubicBezTo>
                  <a:lnTo>
                    <a:pt x="5336286" y="1398778"/>
                  </a:lnTo>
                  <a:lnTo>
                    <a:pt x="5336286" y="1411478"/>
                  </a:lnTo>
                  <a:lnTo>
                    <a:pt x="136271" y="1411478"/>
                  </a:lnTo>
                  <a:lnTo>
                    <a:pt x="136271" y="1398778"/>
                  </a:lnTo>
                  <a:lnTo>
                    <a:pt x="136271" y="1411478"/>
                  </a:lnTo>
                  <a:cubicBezTo>
                    <a:pt x="61214" y="1411478"/>
                    <a:pt x="0" y="1351407"/>
                    <a:pt x="0" y="1276858"/>
                  </a:cubicBezTo>
                  <a:lnTo>
                    <a:pt x="0" y="134620"/>
                  </a:lnTo>
                  <a:lnTo>
                    <a:pt x="12700" y="134620"/>
                  </a:lnTo>
                  <a:lnTo>
                    <a:pt x="0" y="134620"/>
                  </a:lnTo>
                  <a:moveTo>
                    <a:pt x="25400" y="134620"/>
                  </a:moveTo>
                  <a:lnTo>
                    <a:pt x="25400" y="1276858"/>
                  </a:lnTo>
                  <a:lnTo>
                    <a:pt x="12700" y="1276858"/>
                  </a:lnTo>
                  <a:lnTo>
                    <a:pt x="25400" y="1276858"/>
                  </a:lnTo>
                  <a:cubicBezTo>
                    <a:pt x="25400" y="1337056"/>
                    <a:pt x="74930" y="1386078"/>
                    <a:pt x="136271" y="1386078"/>
                  </a:cubicBezTo>
                  <a:lnTo>
                    <a:pt x="5336286" y="1386078"/>
                  </a:lnTo>
                  <a:cubicBezTo>
                    <a:pt x="5397627" y="1386078"/>
                    <a:pt x="5447157" y="1337056"/>
                    <a:pt x="5447157" y="1276858"/>
                  </a:cubicBezTo>
                  <a:lnTo>
                    <a:pt x="5447157" y="134620"/>
                  </a:lnTo>
                  <a:cubicBezTo>
                    <a:pt x="5447157" y="74422"/>
                    <a:pt x="5397627" y="25400"/>
                    <a:pt x="5336286" y="25400"/>
                  </a:cubicBezTo>
                  <a:lnTo>
                    <a:pt x="136271" y="25400"/>
                  </a:lnTo>
                  <a:lnTo>
                    <a:pt x="136271" y="12700"/>
                  </a:lnTo>
                  <a:lnTo>
                    <a:pt x="136271" y="25400"/>
                  </a:lnTo>
                  <a:cubicBezTo>
                    <a:pt x="74930" y="25400"/>
                    <a:pt x="25400" y="74422"/>
                    <a:pt x="25400" y="13462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592883" y="6907982"/>
            <a:ext cx="76200" cy="1039568"/>
            <a:chOff x="0" y="0"/>
            <a:chExt cx="101600" cy="1386091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01600" cy="1386078"/>
            </a:xfrm>
            <a:custGeom>
              <a:avLst/>
              <a:gdLst/>
              <a:ahLst/>
              <a:cxnLst/>
              <a:rect l="l" t="t" r="r" b="b"/>
              <a:pathLst>
                <a:path w="101600" h="1386078">
                  <a:moveTo>
                    <a:pt x="0" y="50800"/>
                  </a:moveTo>
                  <a:cubicBezTo>
                    <a:pt x="0" y="22733"/>
                    <a:pt x="22733" y="0"/>
                    <a:pt x="50800" y="0"/>
                  </a:cubicBezTo>
                  <a:cubicBezTo>
                    <a:pt x="78867" y="0"/>
                    <a:pt x="101600" y="22733"/>
                    <a:pt x="101600" y="50800"/>
                  </a:cubicBezTo>
                  <a:lnTo>
                    <a:pt x="101600" y="1335278"/>
                  </a:lnTo>
                  <a:cubicBezTo>
                    <a:pt x="101600" y="1363345"/>
                    <a:pt x="78867" y="1386078"/>
                    <a:pt x="50800" y="1386078"/>
                  </a:cubicBezTo>
                  <a:cubicBezTo>
                    <a:pt x="22733" y="1386078"/>
                    <a:pt x="0" y="1363345"/>
                    <a:pt x="0" y="1335278"/>
                  </a:cubicBezTo>
                  <a:close/>
                </a:path>
              </a:pathLst>
            </a:custGeom>
            <a:solidFill>
              <a:srgbClr val="E5E5E0"/>
            </a:solidFill>
          </p:spPr>
        </p:sp>
      </p:grpSp>
      <p:sp>
        <p:nvSpPr>
          <p:cNvPr id="31" name="TextBox 31"/>
          <p:cNvSpPr txBox="1"/>
          <p:nvPr/>
        </p:nvSpPr>
        <p:spPr>
          <a:xfrm>
            <a:off x="869699" y="7080022"/>
            <a:ext cx="2270369" cy="312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Desktop-клиент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9699" y="7480072"/>
            <a:ext cx="3626939" cy="266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375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WPF с паттерном MVVM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615115" y="4304675"/>
            <a:ext cx="4104380" cy="1058618"/>
            <a:chOff x="0" y="0"/>
            <a:chExt cx="5472506" cy="1411491"/>
          </a:xfrm>
        </p:grpSpPr>
        <p:sp>
          <p:nvSpPr>
            <p:cNvPr id="34" name="Freeform 34"/>
            <p:cNvSpPr/>
            <p:nvPr/>
          </p:nvSpPr>
          <p:spPr>
            <a:xfrm>
              <a:off x="12700" y="12700"/>
              <a:ext cx="5447157" cy="1386078"/>
            </a:xfrm>
            <a:custGeom>
              <a:avLst/>
              <a:gdLst/>
              <a:ahLst/>
              <a:cxnLst/>
              <a:rect l="l" t="t" r="r" b="b"/>
              <a:pathLst>
                <a:path w="5447157" h="1386078">
                  <a:moveTo>
                    <a:pt x="0" y="121920"/>
                  </a:moveTo>
                  <a:cubicBezTo>
                    <a:pt x="0" y="54610"/>
                    <a:pt x="55372" y="0"/>
                    <a:pt x="123571" y="0"/>
                  </a:cubicBezTo>
                  <a:lnTo>
                    <a:pt x="5323586" y="0"/>
                  </a:lnTo>
                  <a:cubicBezTo>
                    <a:pt x="5391785" y="0"/>
                    <a:pt x="5447157" y="54610"/>
                    <a:pt x="5447157" y="121920"/>
                  </a:cubicBezTo>
                  <a:lnTo>
                    <a:pt x="5447157" y="1264158"/>
                  </a:lnTo>
                  <a:cubicBezTo>
                    <a:pt x="5447157" y="1331468"/>
                    <a:pt x="5391785" y="1386078"/>
                    <a:pt x="5323586" y="1386078"/>
                  </a:cubicBezTo>
                  <a:lnTo>
                    <a:pt x="123571" y="1386078"/>
                  </a:lnTo>
                  <a:cubicBezTo>
                    <a:pt x="55372" y="1386078"/>
                    <a:pt x="0" y="1331468"/>
                    <a:pt x="0" y="1264158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35" name="Freeform 35"/>
            <p:cNvSpPr/>
            <p:nvPr/>
          </p:nvSpPr>
          <p:spPr>
            <a:xfrm>
              <a:off x="0" y="0"/>
              <a:ext cx="5472557" cy="1411478"/>
            </a:xfrm>
            <a:custGeom>
              <a:avLst/>
              <a:gdLst/>
              <a:ahLst/>
              <a:cxnLst/>
              <a:rect l="l" t="t" r="r" b="b"/>
              <a:pathLst>
                <a:path w="5472557" h="1411478">
                  <a:moveTo>
                    <a:pt x="0" y="134620"/>
                  </a:moveTo>
                  <a:cubicBezTo>
                    <a:pt x="0" y="60071"/>
                    <a:pt x="61214" y="0"/>
                    <a:pt x="136271" y="0"/>
                  </a:cubicBezTo>
                  <a:lnTo>
                    <a:pt x="5336286" y="0"/>
                  </a:lnTo>
                  <a:lnTo>
                    <a:pt x="5336286" y="12700"/>
                  </a:lnTo>
                  <a:lnTo>
                    <a:pt x="5336286" y="0"/>
                  </a:lnTo>
                  <a:cubicBezTo>
                    <a:pt x="5411343" y="0"/>
                    <a:pt x="5472557" y="60071"/>
                    <a:pt x="5472557" y="134620"/>
                  </a:cubicBezTo>
                  <a:lnTo>
                    <a:pt x="5459857" y="134620"/>
                  </a:lnTo>
                  <a:lnTo>
                    <a:pt x="5472557" y="134620"/>
                  </a:lnTo>
                  <a:lnTo>
                    <a:pt x="5472557" y="1276858"/>
                  </a:lnTo>
                  <a:lnTo>
                    <a:pt x="5459857" y="1276858"/>
                  </a:lnTo>
                  <a:lnTo>
                    <a:pt x="5472557" y="1276858"/>
                  </a:lnTo>
                  <a:cubicBezTo>
                    <a:pt x="5472557" y="1351407"/>
                    <a:pt x="5411343" y="1411478"/>
                    <a:pt x="5336286" y="1411478"/>
                  </a:cubicBezTo>
                  <a:lnTo>
                    <a:pt x="5336286" y="1398778"/>
                  </a:lnTo>
                  <a:lnTo>
                    <a:pt x="5336286" y="1411478"/>
                  </a:lnTo>
                  <a:lnTo>
                    <a:pt x="136271" y="1411478"/>
                  </a:lnTo>
                  <a:lnTo>
                    <a:pt x="136271" y="1398778"/>
                  </a:lnTo>
                  <a:lnTo>
                    <a:pt x="136271" y="1411478"/>
                  </a:lnTo>
                  <a:cubicBezTo>
                    <a:pt x="61214" y="1411478"/>
                    <a:pt x="0" y="1351407"/>
                    <a:pt x="0" y="1276858"/>
                  </a:cubicBezTo>
                  <a:lnTo>
                    <a:pt x="0" y="134620"/>
                  </a:lnTo>
                  <a:lnTo>
                    <a:pt x="12700" y="134620"/>
                  </a:lnTo>
                  <a:lnTo>
                    <a:pt x="0" y="134620"/>
                  </a:lnTo>
                  <a:moveTo>
                    <a:pt x="25400" y="134620"/>
                  </a:moveTo>
                  <a:lnTo>
                    <a:pt x="25400" y="1276858"/>
                  </a:lnTo>
                  <a:lnTo>
                    <a:pt x="12700" y="1276858"/>
                  </a:lnTo>
                  <a:lnTo>
                    <a:pt x="25400" y="1276858"/>
                  </a:lnTo>
                  <a:cubicBezTo>
                    <a:pt x="25400" y="1337056"/>
                    <a:pt x="74930" y="1386078"/>
                    <a:pt x="136271" y="1386078"/>
                  </a:cubicBezTo>
                  <a:lnTo>
                    <a:pt x="5336286" y="1386078"/>
                  </a:lnTo>
                  <a:cubicBezTo>
                    <a:pt x="5397627" y="1386078"/>
                    <a:pt x="5447157" y="1337056"/>
                    <a:pt x="5447157" y="1276858"/>
                  </a:cubicBezTo>
                  <a:lnTo>
                    <a:pt x="5447157" y="134620"/>
                  </a:lnTo>
                  <a:cubicBezTo>
                    <a:pt x="5447157" y="74422"/>
                    <a:pt x="5397627" y="25400"/>
                    <a:pt x="5336286" y="25400"/>
                  </a:cubicBezTo>
                  <a:lnTo>
                    <a:pt x="136271" y="25400"/>
                  </a:lnTo>
                  <a:lnTo>
                    <a:pt x="136271" y="12700"/>
                  </a:lnTo>
                  <a:lnTo>
                    <a:pt x="136271" y="25400"/>
                  </a:lnTo>
                  <a:cubicBezTo>
                    <a:pt x="74930" y="25400"/>
                    <a:pt x="25400" y="74422"/>
                    <a:pt x="25400" y="13462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605590" y="4314200"/>
            <a:ext cx="76200" cy="1039568"/>
            <a:chOff x="0" y="0"/>
            <a:chExt cx="101600" cy="1386091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01600" cy="1386078"/>
            </a:xfrm>
            <a:custGeom>
              <a:avLst/>
              <a:gdLst/>
              <a:ahLst/>
              <a:cxnLst/>
              <a:rect l="l" t="t" r="r" b="b"/>
              <a:pathLst>
                <a:path w="101600" h="1386078">
                  <a:moveTo>
                    <a:pt x="0" y="50800"/>
                  </a:moveTo>
                  <a:cubicBezTo>
                    <a:pt x="0" y="22733"/>
                    <a:pt x="22733" y="0"/>
                    <a:pt x="50800" y="0"/>
                  </a:cubicBezTo>
                  <a:cubicBezTo>
                    <a:pt x="78867" y="0"/>
                    <a:pt x="101600" y="22733"/>
                    <a:pt x="101600" y="50800"/>
                  </a:cubicBezTo>
                  <a:lnTo>
                    <a:pt x="101600" y="1335278"/>
                  </a:lnTo>
                  <a:cubicBezTo>
                    <a:pt x="101600" y="1363345"/>
                    <a:pt x="78867" y="1386078"/>
                    <a:pt x="50800" y="1386078"/>
                  </a:cubicBezTo>
                  <a:cubicBezTo>
                    <a:pt x="22733" y="1386078"/>
                    <a:pt x="0" y="1363345"/>
                    <a:pt x="0" y="1335278"/>
                  </a:cubicBezTo>
                  <a:close/>
                </a:path>
              </a:pathLst>
            </a:custGeom>
            <a:solidFill>
              <a:srgbClr val="E5E5E0"/>
            </a:solidFill>
          </p:spPr>
        </p:sp>
      </p:grpSp>
      <p:sp>
        <p:nvSpPr>
          <p:cNvPr id="38" name="TextBox 38"/>
          <p:cNvSpPr txBox="1"/>
          <p:nvPr/>
        </p:nvSpPr>
        <p:spPr>
          <a:xfrm>
            <a:off x="882416" y="4486240"/>
            <a:ext cx="2270369" cy="312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7"/>
              </a:lnSpc>
            </a:pPr>
            <a:r>
              <a:rPr lang="en-US" sz="1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API &amp; Документация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82416" y="4886290"/>
            <a:ext cx="3626939" cy="266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375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ASP.NET Core Web API + Swagger UI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48DC8178-A019-0C94-D4F6-206F98458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15" y="1547229"/>
            <a:ext cx="10684702" cy="72118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77208A-F49B-1509-5905-60F7C2AA184B}"/>
              </a:ext>
            </a:extLst>
          </p:cNvPr>
          <p:cNvSpPr txBox="1"/>
          <p:nvPr/>
        </p:nvSpPr>
        <p:spPr>
          <a:xfrm>
            <a:off x="17911834" y="9867791"/>
            <a:ext cx="295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496043" y="351682"/>
            <a:ext cx="8343157" cy="4437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База</a:t>
            </a:r>
            <a:r>
              <a:rPr lang="en-US" sz="4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данных</a:t>
            </a:r>
            <a:r>
              <a:rPr lang="en-US" sz="4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структура</a:t>
            </a:r>
            <a:r>
              <a:rPr lang="en-US" sz="4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и </a:t>
            </a:r>
            <a:r>
              <a:rPr lang="en-US" sz="4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связи</a:t>
            </a:r>
            <a:endParaRPr lang="en-US" sz="4000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565267" y="4229100"/>
            <a:ext cx="8666300" cy="6474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2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Логика</a:t>
            </a:r>
            <a:r>
              <a:rPr lang="en-US" sz="32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2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профилирования</a:t>
            </a:r>
            <a:endParaRPr lang="en-US" sz="3200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565267" y="4991100"/>
            <a:ext cx="8475021" cy="2500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Каждое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действие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пользователя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фиксируется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в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таблице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user_actions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и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формирует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профиль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интересов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который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используется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всеми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алгоритмами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рекомендаций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30E44E1F-286D-1F30-CDB9-F7F94F1BF2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72839"/>
            <a:ext cx="8690538" cy="85141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636E63-0ACF-C113-F304-408458684596}"/>
              </a:ext>
            </a:extLst>
          </p:cNvPr>
          <p:cNvSpPr txBox="1"/>
          <p:nvPr/>
        </p:nvSpPr>
        <p:spPr>
          <a:xfrm>
            <a:off x="17911834" y="9867791"/>
            <a:ext cx="295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1446905"/>
            <a:ext cx="7088238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Стек</a:t>
            </a:r>
            <a:r>
              <a:rPr lang="en-US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технологий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055314" y="277712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Язык и платформа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55314" y="3333007"/>
            <a:ext cx="8382448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C# · .NET 9 · ASP.NET Core Web API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55314" y="441081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Хранение данных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55314" y="4966697"/>
            <a:ext cx="8382448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PostgreSQL · Entity Framework Core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55314" y="604450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Безопасность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55314" y="6600377"/>
            <a:ext cx="8382448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JWT · Ролевой доступ · Rate Limiting · Lockout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055314" y="7678188"/>
            <a:ext cx="444222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Качество и документация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55314" y="8234067"/>
            <a:ext cx="8382448" cy="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xUnit · Swagger UI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6B61482-B48B-610A-0A8C-486609B720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00" y="1295453"/>
            <a:ext cx="7696093" cy="769609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D34B72-E91B-F668-DFD1-0819EF91E92B}"/>
              </a:ext>
            </a:extLst>
          </p:cNvPr>
          <p:cNvSpPr txBox="1"/>
          <p:nvPr/>
        </p:nvSpPr>
        <p:spPr>
          <a:xfrm>
            <a:off x="17911834" y="9867791"/>
            <a:ext cx="295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61282" y="929583"/>
            <a:ext cx="7109374" cy="715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74"/>
              </a:lnSpc>
            </a:pPr>
            <a:r>
              <a:rPr lang="en-US" sz="4312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Алгоритмы рекомендаций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200150" y="2443459"/>
            <a:ext cx="10077450" cy="4528189"/>
            <a:chOff x="0" y="0"/>
            <a:chExt cx="11146434" cy="4806556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11146409" cy="4806569"/>
            </a:xfrm>
            <a:custGeom>
              <a:avLst/>
              <a:gdLst/>
              <a:ahLst/>
              <a:cxnLst/>
              <a:rect l="l" t="t" r="r" b="b"/>
              <a:pathLst>
                <a:path w="11146409" h="4806569">
                  <a:moveTo>
                    <a:pt x="0" y="0"/>
                  </a:moveTo>
                  <a:lnTo>
                    <a:pt x="11146409" y="0"/>
                  </a:lnTo>
                  <a:lnTo>
                    <a:pt x="11146409" y="4806569"/>
                  </a:lnTo>
                  <a:lnTo>
                    <a:pt x="0" y="48065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80" r="-81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360819" y="5667025"/>
            <a:ext cx="4289231" cy="2431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lang="en-US" sz="2400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Выдача</a:t>
            </a:r>
            <a:r>
              <a:rPr lang="en-US" sz="2400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рекомендаций</a:t>
            </a:r>
            <a:endParaRPr lang="en-US" sz="2400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360819" y="4650952"/>
            <a:ext cx="2841431" cy="2431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lang="en-US" sz="2400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Объяснимость</a:t>
            </a:r>
            <a:endParaRPr lang="en-US" sz="2400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360819" y="3618076"/>
            <a:ext cx="3418269" cy="2431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lang="en-US" sz="2400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Оценка</a:t>
            </a:r>
            <a:r>
              <a:rPr lang="en-US" sz="2400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контента</a:t>
            </a:r>
            <a:endParaRPr lang="en-US" sz="2400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360819" y="2534571"/>
            <a:ext cx="3244311" cy="2431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lang="en-US" sz="2400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Сбор</a:t>
            </a:r>
            <a:r>
              <a:rPr lang="en-US" sz="2400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действий</a:t>
            </a:r>
            <a:endParaRPr lang="en-US" sz="2400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360819" y="6971648"/>
            <a:ext cx="7109374" cy="25002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Многоуровневый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подход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обеспечивает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точность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на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старте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(Popular) и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глубину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персонализации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мере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накопления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данных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(KNN).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942416" y="2077345"/>
            <a:ext cx="5407971" cy="1662265"/>
            <a:chOff x="0" y="0"/>
            <a:chExt cx="7210628" cy="2216353"/>
          </a:xfrm>
        </p:grpSpPr>
        <p:sp>
          <p:nvSpPr>
            <p:cNvPr id="15" name="Freeform 15"/>
            <p:cNvSpPr/>
            <p:nvPr/>
          </p:nvSpPr>
          <p:spPr>
            <a:xfrm>
              <a:off x="19050" y="19050"/>
              <a:ext cx="7172579" cy="2178304"/>
            </a:xfrm>
            <a:custGeom>
              <a:avLst/>
              <a:gdLst/>
              <a:ahLst/>
              <a:cxnLst/>
              <a:rect l="l" t="t" r="r" b="b"/>
              <a:pathLst>
                <a:path w="7172579" h="2178304">
                  <a:moveTo>
                    <a:pt x="0" y="123063"/>
                  </a:moveTo>
                  <a:cubicBezTo>
                    <a:pt x="0" y="55118"/>
                    <a:pt x="55753" y="0"/>
                    <a:pt x="124587" y="0"/>
                  </a:cubicBezTo>
                  <a:lnTo>
                    <a:pt x="7047992" y="0"/>
                  </a:lnTo>
                  <a:cubicBezTo>
                    <a:pt x="7116826" y="0"/>
                    <a:pt x="7172579" y="55118"/>
                    <a:pt x="7172579" y="123063"/>
                  </a:cubicBezTo>
                  <a:lnTo>
                    <a:pt x="7172579" y="2055241"/>
                  </a:lnTo>
                  <a:cubicBezTo>
                    <a:pt x="7172579" y="2123186"/>
                    <a:pt x="7116826" y="2178304"/>
                    <a:pt x="7047992" y="2178304"/>
                  </a:cubicBezTo>
                  <a:lnTo>
                    <a:pt x="124587" y="2178304"/>
                  </a:lnTo>
                  <a:cubicBezTo>
                    <a:pt x="55753" y="2178304"/>
                    <a:pt x="0" y="2123186"/>
                    <a:pt x="0" y="2055241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16" name="Freeform 16"/>
            <p:cNvSpPr/>
            <p:nvPr/>
          </p:nvSpPr>
          <p:spPr>
            <a:xfrm>
              <a:off x="0" y="0"/>
              <a:ext cx="7210679" cy="2216404"/>
            </a:xfrm>
            <a:custGeom>
              <a:avLst/>
              <a:gdLst/>
              <a:ahLst/>
              <a:cxnLst/>
              <a:rect l="l" t="t" r="r" b="b"/>
              <a:pathLst>
                <a:path w="7210679" h="2216404">
                  <a:moveTo>
                    <a:pt x="0" y="142113"/>
                  </a:moveTo>
                  <a:cubicBezTo>
                    <a:pt x="0" y="63373"/>
                    <a:pt x="64516" y="0"/>
                    <a:pt x="143637" y="0"/>
                  </a:cubicBezTo>
                  <a:lnTo>
                    <a:pt x="7067042" y="0"/>
                  </a:lnTo>
                  <a:lnTo>
                    <a:pt x="7067042" y="19050"/>
                  </a:lnTo>
                  <a:lnTo>
                    <a:pt x="7067042" y="0"/>
                  </a:lnTo>
                  <a:cubicBezTo>
                    <a:pt x="7146163" y="0"/>
                    <a:pt x="7210679" y="63373"/>
                    <a:pt x="7210679" y="142113"/>
                  </a:cubicBezTo>
                  <a:lnTo>
                    <a:pt x="7191629" y="142113"/>
                  </a:lnTo>
                  <a:lnTo>
                    <a:pt x="7210679" y="142113"/>
                  </a:lnTo>
                  <a:lnTo>
                    <a:pt x="7210679" y="2074291"/>
                  </a:lnTo>
                  <a:lnTo>
                    <a:pt x="7191629" y="2074291"/>
                  </a:lnTo>
                  <a:lnTo>
                    <a:pt x="7210679" y="2074291"/>
                  </a:lnTo>
                  <a:cubicBezTo>
                    <a:pt x="7210679" y="2153031"/>
                    <a:pt x="7146163" y="2216404"/>
                    <a:pt x="7067042" y="2216404"/>
                  </a:cubicBezTo>
                  <a:lnTo>
                    <a:pt x="7067042" y="2197354"/>
                  </a:lnTo>
                  <a:lnTo>
                    <a:pt x="7067042" y="2216404"/>
                  </a:lnTo>
                  <a:lnTo>
                    <a:pt x="143637" y="2216404"/>
                  </a:lnTo>
                  <a:lnTo>
                    <a:pt x="143637" y="2197354"/>
                  </a:lnTo>
                  <a:lnTo>
                    <a:pt x="143637" y="2216404"/>
                  </a:lnTo>
                  <a:cubicBezTo>
                    <a:pt x="64516" y="2216404"/>
                    <a:pt x="0" y="2152904"/>
                    <a:pt x="0" y="2074291"/>
                  </a:cubicBezTo>
                  <a:lnTo>
                    <a:pt x="0" y="142113"/>
                  </a:lnTo>
                  <a:lnTo>
                    <a:pt x="19050" y="142113"/>
                  </a:lnTo>
                  <a:lnTo>
                    <a:pt x="0" y="142113"/>
                  </a:lnTo>
                  <a:moveTo>
                    <a:pt x="38100" y="142113"/>
                  </a:moveTo>
                  <a:lnTo>
                    <a:pt x="38100" y="2074291"/>
                  </a:lnTo>
                  <a:lnTo>
                    <a:pt x="19050" y="2074291"/>
                  </a:lnTo>
                  <a:lnTo>
                    <a:pt x="38100" y="2074291"/>
                  </a:lnTo>
                  <a:cubicBezTo>
                    <a:pt x="38100" y="2131568"/>
                    <a:pt x="85090" y="2178304"/>
                    <a:pt x="143637" y="2178304"/>
                  </a:cubicBezTo>
                  <a:lnTo>
                    <a:pt x="7067042" y="2178304"/>
                  </a:lnTo>
                  <a:cubicBezTo>
                    <a:pt x="7125462" y="2178304"/>
                    <a:pt x="7172579" y="2131568"/>
                    <a:pt x="7172579" y="2074291"/>
                  </a:cubicBezTo>
                  <a:lnTo>
                    <a:pt x="7172579" y="142113"/>
                  </a:lnTo>
                  <a:cubicBezTo>
                    <a:pt x="7172579" y="84836"/>
                    <a:pt x="7125589" y="38100"/>
                    <a:pt x="7067042" y="38100"/>
                  </a:cubicBezTo>
                  <a:lnTo>
                    <a:pt x="143637" y="38100"/>
                  </a:lnTo>
                  <a:lnTo>
                    <a:pt x="143637" y="19050"/>
                  </a:lnTo>
                  <a:lnTo>
                    <a:pt x="143637" y="38100"/>
                  </a:lnTo>
                  <a:cubicBezTo>
                    <a:pt x="85090" y="38100"/>
                    <a:pt x="38100" y="84836"/>
                    <a:pt x="38100" y="142113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11985279" y="2120208"/>
            <a:ext cx="878834" cy="1576540"/>
            <a:chOff x="0" y="0"/>
            <a:chExt cx="1171778" cy="2102053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171829" cy="2102104"/>
            </a:xfrm>
            <a:custGeom>
              <a:avLst/>
              <a:gdLst/>
              <a:ahLst/>
              <a:cxnLst/>
              <a:rect l="l" t="t" r="r" b="b"/>
              <a:pathLst>
                <a:path w="1171829" h="2102104">
                  <a:moveTo>
                    <a:pt x="0" y="77343"/>
                  </a:moveTo>
                  <a:cubicBezTo>
                    <a:pt x="0" y="34671"/>
                    <a:pt x="34671" y="0"/>
                    <a:pt x="77343" y="0"/>
                  </a:cubicBezTo>
                  <a:lnTo>
                    <a:pt x="1094486" y="0"/>
                  </a:lnTo>
                  <a:cubicBezTo>
                    <a:pt x="1137158" y="0"/>
                    <a:pt x="1171829" y="34671"/>
                    <a:pt x="1171829" y="77343"/>
                  </a:cubicBezTo>
                  <a:lnTo>
                    <a:pt x="1171829" y="2024761"/>
                  </a:lnTo>
                  <a:cubicBezTo>
                    <a:pt x="1171829" y="2067433"/>
                    <a:pt x="1137158" y="2102104"/>
                    <a:pt x="1094486" y="2102104"/>
                  </a:cubicBezTo>
                  <a:lnTo>
                    <a:pt x="77343" y="2102104"/>
                  </a:lnTo>
                  <a:cubicBezTo>
                    <a:pt x="34671" y="2102104"/>
                    <a:pt x="0" y="2067433"/>
                    <a:pt x="0" y="2024761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</p:grpSp>
      <p:sp>
        <p:nvSpPr>
          <p:cNvPr id="19" name="TextBox 19"/>
          <p:cNvSpPr txBox="1"/>
          <p:nvPr/>
        </p:nvSpPr>
        <p:spPr>
          <a:xfrm>
            <a:off x="12255103" y="2740523"/>
            <a:ext cx="329508" cy="373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562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034372" y="2320823"/>
            <a:ext cx="274661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25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Popular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034372" y="2805855"/>
            <a:ext cx="4053478" cy="671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6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Ранжирование по весам: View=1, Click=2, Like=3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1942416" y="3881285"/>
            <a:ext cx="5407971" cy="1662265"/>
            <a:chOff x="0" y="0"/>
            <a:chExt cx="7210628" cy="2216353"/>
          </a:xfrm>
        </p:grpSpPr>
        <p:sp>
          <p:nvSpPr>
            <p:cNvPr id="23" name="Freeform 23"/>
            <p:cNvSpPr/>
            <p:nvPr/>
          </p:nvSpPr>
          <p:spPr>
            <a:xfrm>
              <a:off x="19050" y="19050"/>
              <a:ext cx="7172579" cy="2178304"/>
            </a:xfrm>
            <a:custGeom>
              <a:avLst/>
              <a:gdLst/>
              <a:ahLst/>
              <a:cxnLst/>
              <a:rect l="l" t="t" r="r" b="b"/>
              <a:pathLst>
                <a:path w="7172579" h="2178304">
                  <a:moveTo>
                    <a:pt x="0" y="123063"/>
                  </a:moveTo>
                  <a:cubicBezTo>
                    <a:pt x="0" y="55118"/>
                    <a:pt x="55753" y="0"/>
                    <a:pt x="124587" y="0"/>
                  </a:cubicBezTo>
                  <a:lnTo>
                    <a:pt x="7047992" y="0"/>
                  </a:lnTo>
                  <a:cubicBezTo>
                    <a:pt x="7116826" y="0"/>
                    <a:pt x="7172579" y="55118"/>
                    <a:pt x="7172579" y="123063"/>
                  </a:cubicBezTo>
                  <a:lnTo>
                    <a:pt x="7172579" y="2055241"/>
                  </a:lnTo>
                  <a:cubicBezTo>
                    <a:pt x="7172579" y="2123186"/>
                    <a:pt x="7116826" y="2178304"/>
                    <a:pt x="7047992" y="2178304"/>
                  </a:cubicBezTo>
                  <a:lnTo>
                    <a:pt x="124587" y="2178304"/>
                  </a:lnTo>
                  <a:cubicBezTo>
                    <a:pt x="55753" y="2178304"/>
                    <a:pt x="0" y="2123186"/>
                    <a:pt x="0" y="2055241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24" name="Freeform 24"/>
            <p:cNvSpPr/>
            <p:nvPr/>
          </p:nvSpPr>
          <p:spPr>
            <a:xfrm>
              <a:off x="0" y="0"/>
              <a:ext cx="7210679" cy="2216404"/>
            </a:xfrm>
            <a:custGeom>
              <a:avLst/>
              <a:gdLst/>
              <a:ahLst/>
              <a:cxnLst/>
              <a:rect l="l" t="t" r="r" b="b"/>
              <a:pathLst>
                <a:path w="7210679" h="2216404">
                  <a:moveTo>
                    <a:pt x="0" y="142113"/>
                  </a:moveTo>
                  <a:cubicBezTo>
                    <a:pt x="0" y="63373"/>
                    <a:pt x="64516" y="0"/>
                    <a:pt x="143637" y="0"/>
                  </a:cubicBezTo>
                  <a:lnTo>
                    <a:pt x="7067042" y="0"/>
                  </a:lnTo>
                  <a:lnTo>
                    <a:pt x="7067042" y="19050"/>
                  </a:lnTo>
                  <a:lnTo>
                    <a:pt x="7067042" y="0"/>
                  </a:lnTo>
                  <a:cubicBezTo>
                    <a:pt x="7146163" y="0"/>
                    <a:pt x="7210679" y="63373"/>
                    <a:pt x="7210679" y="142113"/>
                  </a:cubicBezTo>
                  <a:lnTo>
                    <a:pt x="7191629" y="142113"/>
                  </a:lnTo>
                  <a:lnTo>
                    <a:pt x="7210679" y="142113"/>
                  </a:lnTo>
                  <a:lnTo>
                    <a:pt x="7210679" y="2074291"/>
                  </a:lnTo>
                  <a:lnTo>
                    <a:pt x="7191629" y="2074291"/>
                  </a:lnTo>
                  <a:lnTo>
                    <a:pt x="7210679" y="2074291"/>
                  </a:lnTo>
                  <a:cubicBezTo>
                    <a:pt x="7210679" y="2153031"/>
                    <a:pt x="7146163" y="2216404"/>
                    <a:pt x="7067042" y="2216404"/>
                  </a:cubicBezTo>
                  <a:lnTo>
                    <a:pt x="7067042" y="2197354"/>
                  </a:lnTo>
                  <a:lnTo>
                    <a:pt x="7067042" y="2216404"/>
                  </a:lnTo>
                  <a:lnTo>
                    <a:pt x="143637" y="2216404"/>
                  </a:lnTo>
                  <a:lnTo>
                    <a:pt x="143637" y="2197354"/>
                  </a:lnTo>
                  <a:lnTo>
                    <a:pt x="143637" y="2216404"/>
                  </a:lnTo>
                  <a:cubicBezTo>
                    <a:pt x="64516" y="2216404"/>
                    <a:pt x="0" y="2152904"/>
                    <a:pt x="0" y="2074291"/>
                  </a:cubicBezTo>
                  <a:lnTo>
                    <a:pt x="0" y="142113"/>
                  </a:lnTo>
                  <a:lnTo>
                    <a:pt x="19050" y="142113"/>
                  </a:lnTo>
                  <a:lnTo>
                    <a:pt x="0" y="142113"/>
                  </a:lnTo>
                  <a:moveTo>
                    <a:pt x="38100" y="142113"/>
                  </a:moveTo>
                  <a:lnTo>
                    <a:pt x="38100" y="2074291"/>
                  </a:lnTo>
                  <a:lnTo>
                    <a:pt x="19050" y="2074291"/>
                  </a:lnTo>
                  <a:lnTo>
                    <a:pt x="38100" y="2074291"/>
                  </a:lnTo>
                  <a:cubicBezTo>
                    <a:pt x="38100" y="2131568"/>
                    <a:pt x="85090" y="2178304"/>
                    <a:pt x="143637" y="2178304"/>
                  </a:cubicBezTo>
                  <a:lnTo>
                    <a:pt x="7067042" y="2178304"/>
                  </a:lnTo>
                  <a:cubicBezTo>
                    <a:pt x="7125462" y="2178304"/>
                    <a:pt x="7172579" y="2131568"/>
                    <a:pt x="7172579" y="2074291"/>
                  </a:cubicBezTo>
                  <a:lnTo>
                    <a:pt x="7172579" y="142113"/>
                  </a:lnTo>
                  <a:cubicBezTo>
                    <a:pt x="7172579" y="84836"/>
                    <a:pt x="7125589" y="38100"/>
                    <a:pt x="7067042" y="38100"/>
                  </a:cubicBezTo>
                  <a:lnTo>
                    <a:pt x="143637" y="38100"/>
                  </a:lnTo>
                  <a:lnTo>
                    <a:pt x="143637" y="19050"/>
                  </a:lnTo>
                  <a:lnTo>
                    <a:pt x="143637" y="38100"/>
                  </a:lnTo>
                  <a:cubicBezTo>
                    <a:pt x="85090" y="38100"/>
                    <a:pt x="38100" y="84836"/>
                    <a:pt x="38100" y="142113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1985279" y="3924148"/>
            <a:ext cx="878834" cy="1576540"/>
            <a:chOff x="0" y="0"/>
            <a:chExt cx="1171778" cy="2102053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171829" cy="2102104"/>
            </a:xfrm>
            <a:custGeom>
              <a:avLst/>
              <a:gdLst/>
              <a:ahLst/>
              <a:cxnLst/>
              <a:rect l="l" t="t" r="r" b="b"/>
              <a:pathLst>
                <a:path w="1171829" h="2102104">
                  <a:moveTo>
                    <a:pt x="0" y="77343"/>
                  </a:moveTo>
                  <a:cubicBezTo>
                    <a:pt x="0" y="34671"/>
                    <a:pt x="34671" y="0"/>
                    <a:pt x="77343" y="0"/>
                  </a:cubicBezTo>
                  <a:lnTo>
                    <a:pt x="1094486" y="0"/>
                  </a:lnTo>
                  <a:cubicBezTo>
                    <a:pt x="1137158" y="0"/>
                    <a:pt x="1171829" y="34671"/>
                    <a:pt x="1171829" y="77343"/>
                  </a:cubicBezTo>
                  <a:lnTo>
                    <a:pt x="1171829" y="2024761"/>
                  </a:lnTo>
                  <a:cubicBezTo>
                    <a:pt x="1171829" y="2067433"/>
                    <a:pt x="1137158" y="2102104"/>
                    <a:pt x="1094486" y="2102104"/>
                  </a:cubicBezTo>
                  <a:lnTo>
                    <a:pt x="77343" y="2102104"/>
                  </a:lnTo>
                  <a:cubicBezTo>
                    <a:pt x="34671" y="2102104"/>
                    <a:pt x="0" y="2067433"/>
                    <a:pt x="0" y="2024761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</p:grpSp>
      <p:sp>
        <p:nvSpPr>
          <p:cNvPr id="27" name="TextBox 27"/>
          <p:cNvSpPr txBox="1"/>
          <p:nvPr/>
        </p:nvSpPr>
        <p:spPr>
          <a:xfrm>
            <a:off x="12255103" y="4544463"/>
            <a:ext cx="329508" cy="373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562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034372" y="4124773"/>
            <a:ext cx="274661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25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By Categories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034372" y="4609805"/>
            <a:ext cx="4053478" cy="671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6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Приоритет категориям с наибольшей активностью пользователя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1942416" y="5685234"/>
            <a:ext cx="5407971" cy="1662265"/>
            <a:chOff x="0" y="0"/>
            <a:chExt cx="7210628" cy="2216353"/>
          </a:xfrm>
        </p:grpSpPr>
        <p:sp>
          <p:nvSpPr>
            <p:cNvPr id="31" name="Freeform 31"/>
            <p:cNvSpPr/>
            <p:nvPr/>
          </p:nvSpPr>
          <p:spPr>
            <a:xfrm>
              <a:off x="19050" y="19050"/>
              <a:ext cx="7172579" cy="2178304"/>
            </a:xfrm>
            <a:custGeom>
              <a:avLst/>
              <a:gdLst/>
              <a:ahLst/>
              <a:cxnLst/>
              <a:rect l="l" t="t" r="r" b="b"/>
              <a:pathLst>
                <a:path w="7172579" h="2178304">
                  <a:moveTo>
                    <a:pt x="0" y="123063"/>
                  </a:moveTo>
                  <a:cubicBezTo>
                    <a:pt x="0" y="55118"/>
                    <a:pt x="55753" y="0"/>
                    <a:pt x="124587" y="0"/>
                  </a:cubicBezTo>
                  <a:lnTo>
                    <a:pt x="7047992" y="0"/>
                  </a:lnTo>
                  <a:cubicBezTo>
                    <a:pt x="7116826" y="0"/>
                    <a:pt x="7172579" y="55118"/>
                    <a:pt x="7172579" y="123063"/>
                  </a:cubicBezTo>
                  <a:lnTo>
                    <a:pt x="7172579" y="2055241"/>
                  </a:lnTo>
                  <a:cubicBezTo>
                    <a:pt x="7172579" y="2123186"/>
                    <a:pt x="7116826" y="2178304"/>
                    <a:pt x="7047992" y="2178304"/>
                  </a:cubicBezTo>
                  <a:lnTo>
                    <a:pt x="124587" y="2178304"/>
                  </a:lnTo>
                  <a:cubicBezTo>
                    <a:pt x="55753" y="2178304"/>
                    <a:pt x="0" y="2123186"/>
                    <a:pt x="0" y="2055241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32" name="Freeform 32"/>
            <p:cNvSpPr/>
            <p:nvPr/>
          </p:nvSpPr>
          <p:spPr>
            <a:xfrm>
              <a:off x="0" y="0"/>
              <a:ext cx="7210679" cy="2216404"/>
            </a:xfrm>
            <a:custGeom>
              <a:avLst/>
              <a:gdLst/>
              <a:ahLst/>
              <a:cxnLst/>
              <a:rect l="l" t="t" r="r" b="b"/>
              <a:pathLst>
                <a:path w="7210679" h="2216404">
                  <a:moveTo>
                    <a:pt x="0" y="142113"/>
                  </a:moveTo>
                  <a:cubicBezTo>
                    <a:pt x="0" y="63373"/>
                    <a:pt x="64516" y="0"/>
                    <a:pt x="143637" y="0"/>
                  </a:cubicBezTo>
                  <a:lnTo>
                    <a:pt x="7067042" y="0"/>
                  </a:lnTo>
                  <a:lnTo>
                    <a:pt x="7067042" y="19050"/>
                  </a:lnTo>
                  <a:lnTo>
                    <a:pt x="7067042" y="0"/>
                  </a:lnTo>
                  <a:cubicBezTo>
                    <a:pt x="7146163" y="0"/>
                    <a:pt x="7210679" y="63373"/>
                    <a:pt x="7210679" y="142113"/>
                  </a:cubicBezTo>
                  <a:lnTo>
                    <a:pt x="7191629" y="142113"/>
                  </a:lnTo>
                  <a:lnTo>
                    <a:pt x="7210679" y="142113"/>
                  </a:lnTo>
                  <a:lnTo>
                    <a:pt x="7210679" y="2074291"/>
                  </a:lnTo>
                  <a:lnTo>
                    <a:pt x="7191629" y="2074291"/>
                  </a:lnTo>
                  <a:lnTo>
                    <a:pt x="7210679" y="2074291"/>
                  </a:lnTo>
                  <a:cubicBezTo>
                    <a:pt x="7210679" y="2153031"/>
                    <a:pt x="7146163" y="2216404"/>
                    <a:pt x="7067042" y="2216404"/>
                  </a:cubicBezTo>
                  <a:lnTo>
                    <a:pt x="7067042" y="2197354"/>
                  </a:lnTo>
                  <a:lnTo>
                    <a:pt x="7067042" y="2216404"/>
                  </a:lnTo>
                  <a:lnTo>
                    <a:pt x="143637" y="2216404"/>
                  </a:lnTo>
                  <a:lnTo>
                    <a:pt x="143637" y="2197354"/>
                  </a:lnTo>
                  <a:lnTo>
                    <a:pt x="143637" y="2216404"/>
                  </a:lnTo>
                  <a:cubicBezTo>
                    <a:pt x="64516" y="2216404"/>
                    <a:pt x="0" y="2152904"/>
                    <a:pt x="0" y="2074291"/>
                  </a:cubicBezTo>
                  <a:lnTo>
                    <a:pt x="0" y="142113"/>
                  </a:lnTo>
                  <a:lnTo>
                    <a:pt x="19050" y="142113"/>
                  </a:lnTo>
                  <a:lnTo>
                    <a:pt x="0" y="142113"/>
                  </a:lnTo>
                  <a:moveTo>
                    <a:pt x="38100" y="142113"/>
                  </a:moveTo>
                  <a:lnTo>
                    <a:pt x="38100" y="2074291"/>
                  </a:lnTo>
                  <a:lnTo>
                    <a:pt x="19050" y="2074291"/>
                  </a:lnTo>
                  <a:lnTo>
                    <a:pt x="38100" y="2074291"/>
                  </a:lnTo>
                  <a:cubicBezTo>
                    <a:pt x="38100" y="2131568"/>
                    <a:pt x="85090" y="2178304"/>
                    <a:pt x="143637" y="2178304"/>
                  </a:cubicBezTo>
                  <a:lnTo>
                    <a:pt x="7067042" y="2178304"/>
                  </a:lnTo>
                  <a:cubicBezTo>
                    <a:pt x="7125462" y="2178304"/>
                    <a:pt x="7172579" y="2131568"/>
                    <a:pt x="7172579" y="2074291"/>
                  </a:cubicBezTo>
                  <a:lnTo>
                    <a:pt x="7172579" y="142113"/>
                  </a:lnTo>
                  <a:cubicBezTo>
                    <a:pt x="7172579" y="84836"/>
                    <a:pt x="7125589" y="38100"/>
                    <a:pt x="7067042" y="38100"/>
                  </a:cubicBezTo>
                  <a:lnTo>
                    <a:pt x="143637" y="38100"/>
                  </a:lnTo>
                  <a:lnTo>
                    <a:pt x="143637" y="19050"/>
                  </a:lnTo>
                  <a:lnTo>
                    <a:pt x="143637" y="38100"/>
                  </a:lnTo>
                  <a:cubicBezTo>
                    <a:pt x="85090" y="38100"/>
                    <a:pt x="38100" y="84836"/>
                    <a:pt x="38100" y="142113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1985279" y="5728097"/>
            <a:ext cx="878834" cy="1576540"/>
            <a:chOff x="0" y="0"/>
            <a:chExt cx="1171778" cy="210205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171829" cy="2102104"/>
            </a:xfrm>
            <a:custGeom>
              <a:avLst/>
              <a:gdLst/>
              <a:ahLst/>
              <a:cxnLst/>
              <a:rect l="l" t="t" r="r" b="b"/>
              <a:pathLst>
                <a:path w="1171829" h="2102104">
                  <a:moveTo>
                    <a:pt x="0" y="77343"/>
                  </a:moveTo>
                  <a:cubicBezTo>
                    <a:pt x="0" y="34671"/>
                    <a:pt x="34671" y="0"/>
                    <a:pt x="77343" y="0"/>
                  </a:cubicBezTo>
                  <a:lnTo>
                    <a:pt x="1094486" y="0"/>
                  </a:lnTo>
                  <a:cubicBezTo>
                    <a:pt x="1137158" y="0"/>
                    <a:pt x="1171829" y="34671"/>
                    <a:pt x="1171829" y="77343"/>
                  </a:cubicBezTo>
                  <a:lnTo>
                    <a:pt x="1171829" y="2024761"/>
                  </a:lnTo>
                  <a:cubicBezTo>
                    <a:pt x="1171829" y="2067433"/>
                    <a:pt x="1137158" y="2102104"/>
                    <a:pt x="1094486" y="2102104"/>
                  </a:cubicBezTo>
                  <a:lnTo>
                    <a:pt x="77343" y="2102104"/>
                  </a:lnTo>
                  <a:cubicBezTo>
                    <a:pt x="34671" y="2102104"/>
                    <a:pt x="0" y="2067433"/>
                    <a:pt x="0" y="2024761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</p:grpSp>
      <p:sp>
        <p:nvSpPr>
          <p:cNvPr id="35" name="TextBox 35"/>
          <p:cNvSpPr txBox="1"/>
          <p:nvPr/>
        </p:nvSpPr>
        <p:spPr>
          <a:xfrm>
            <a:off x="12255103" y="6348412"/>
            <a:ext cx="329508" cy="373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562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034372" y="5928722"/>
            <a:ext cx="274661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25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KNN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3034372" y="6413744"/>
            <a:ext cx="4053478" cy="671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687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Похожие пользователи и их релевантный контент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1C52BF-338C-BAA7-65CD-47B5886BE7F2}"/>
              </a:ext>
            </a:extLst>
          </p:cNvPr>
          <p:cNvSpPr txBox="1"/>
          <p:nvPr/>
        </p:nvSpPr>
        <p:spPr>
          <a:xfrm>
            <a:off x="17911834" y="9867791"/>
            <a:ext cx="295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A5E73-8C6A-9130-5BBF-9989C52E6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B4C0BE4-081A-69FD-F60F-7D28838838DE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D935524B-97FF-29DB-44CD-331BDB1DBCAB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B80A1DAA-9C47-FCED-052F-24CC41451FD4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403995C-3D48-9A32-E0C2-83E11F4F98D0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6117870C-9023-D0F7-517D-CF1E8B305995}"/>
              </a:ext>
            </a:extLst>
          </p:cNvPr>
          <p:cNvSpPr txBox="1"/>
          <p:nvPr/>
        </p:nvSpPr>
        <p:spPr>
          <a:xfrm>
            <a:off x="0" y="387333"/>
            <a:ext cx="18288000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74"/>
              </a:lnSpc>
            </a:pPr>
            <a:r>
              <a:rPr lang="en-US" sz="60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Алгоритм</a:t>
            </a:r>
            <a:r>
              <a:rPr lang="en-US" sz="60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KNN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451CA8CB-B0AA-3D00-AB5B-A8CD165E98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3251" y="1079830"/>
            <a:ext cx="12301498" cy="9432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05DCE8-28CC-4B71-EBD8-06B9F975F5AE}"/>
              </a:ext>
            </a:extLst>
          </p:cNvPr>
          <p:cNvSpPr txBox="1"/>
          <p:nvPr/>
        </p:nvSpPr>
        <p:spPr>
          <a:xfrm>
            <a:off x="17983200" y="9867791"/>
            <a:ext cx="30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25498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47161" y="472467"/>
            <a:ext cx="16724083" cy="825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en-US" sz="5562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Реализованный</a:t>
            </a:r>
            <a:r>
              <a:rPr lang="en-US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функционал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85176" y="2080241"/>
            <a:ext cx="354404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Пользователь</a:t>
            </a:r>
            <a:endParaRPr lang="en-US" sz="275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285176" y="2636110"/>
            <a:ext cx="3810000" cy="2269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Регистрация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и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вход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просмотр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рекомендаций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фиксация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действий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профиль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интересов</a:t>
            </a:r>
            <a:endParaRPr lang="en-US" sz="2800" dirty="0">
              <a:solidFill>
                <a:srgbClr val="272525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3861093" y="6351973"/>
            <a:ext cx="354404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Администратор</a:t>
            </a:r>
            <a:endParaRPr lang="en-US" sz="275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3861093" y="6907842"/>
            <a:ext cx="3810152" cy="1796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CRUD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пользователей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и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контента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просмотр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БД,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экспорт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отчётов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CSV / PDF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127202" y="2177913"/>
            <a:ext cx="354404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Метрики</a:t>
            </a:r>
            <a:r>
              <a:rPr lang="en-US" sz="275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качества</a:t>
            </a:r>
            <a:endParaRPr lang="en-US" sz="275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4127202" y="2733782"/>
            <a:ext cx="3810152" cy="8844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доступны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через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Admin API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24577" y="4330720"/>
            <a:ext cx="2209800" cy="1365647"/>
            <a:chOff x="0" y="0"/>
            <a:chExt cx="2946400" cy="182086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2946400" cy="1820926"/>
            </a:xfrm>
            <a:custGeom>
              <a:avLst/>
              <a:gdLst/>
              <a:ahLst/>
              <a:cxnLst/>
              <a:rect l="l" t="t" r="r" b="b"/>
              <a:pathLst>
                <a:path w="2946400" h="1820926">
                  <a:moveTo>
                    <a:pt x="0" y="0"/>
                  </a:moveTo>
                  <a:lnTo>
                    <a:pt x="2946400" y="0"/>
                  </a:lnTo>
                  <a:lnTo>
                    <a:pt x="2946400" y="1820926"/>
                  </a:lnTo>
                  <a:lnTo>
                    <a:pt x="0" y="18209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31" r="-131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85176" y="6232121"/>
            <a:ext cx="354404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Клиенты</a:t>
            </a:r>
            <a:endParaRPr lang="en-US" sz="275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285176" y="6787990"/>
            <a:ext cx="3810152" cy="1807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Web (Razor MVC) и WPF-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приложение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—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оба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готовы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к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демонстрации</a:t>
            </a:r>
            <a:endParaRPr lang="en-US" sz="2800" dirty="0">
              <a:solidFill>
                <a:srgbClr val="272525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D898895-7A33-53BE-C5B1-F79AD1BC5C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849" y="2019800"/>
            <a:ext cx="7080706" cy="70807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79328C-6FF1-EA1B-2E5E-804445CB7832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0C5F2-727C-D5AC-DCD1-F1BE8EE22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56B5157-E55C-B1CF-7C7F-1C4D2C44E55A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81F17317-2074-54A7-B3EA-2649BB6C5C34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5094C731-809A-F59A-30E7-17D29FE241BA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45292AE-2351-89C4-99BA-DD8D1E4B3979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FFC29729-BD32-314D-8B84-CCCB7183C817}"/>
              </a:ext>
            </a:extLst>
          </p:cNvPr>
          <p:cNvSpPr txBox="1"/>
          <p:nvPr/>
        </p:nvSpPr>
        <p:spPr>
          <a:xfrm>
            <a:off x="0" y="0"/>
            <a:ext cx="18288000" cy="825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ru-RU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Скриншоты интерфейса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24E27B4-261E-92EC-0530-7F4D4DFAB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2674" y="1028700"/>
            <a:ext cx="10982651" cy="8730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3F4672-D19B-41A9-02B3-3CA84540B8AD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84381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A5C66-3114-B58C-015C-5B44EF7D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B4D765F-EE79-338B-8CC2-7A47E8B3C0D2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7A1DAD61-C8A5-F53A-4B86-8AD0BF9C690F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9A97164-EFE7-0F20-64EC-ACB950D09F2A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3CD02EC-FF6C-7DA4-B9B1-C709F0E5B06A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EF2DC4D-A237-BF08-D2F8-E62E5B41BC32}"/>
              </a:ext>
            </a:extLst>
          </p:cNvPr>
          <p:cNvSpPr txBox="1"/>
          <p:nvPr/>
        </p:nvSpPr>
        <p:spPr>
          <a:xfrm>
            <a:off x="0" y="0"/>
            <a:ext cx="18288000" cy="825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ru-RU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Скриншоты интерфейса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CFD3967-C1C3-FA73-BDBD-444E1E026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400" y="952500"/>
            <a:ext cx="15697200" cy="89995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B9D24E-36FC-36F8-F2C9-18D3ABDEFCB0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2569162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0F429-A416-5883-B3EC-C5C1B7C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52A6A60-29BB-08BF-859E-5C9D735B275C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6E3FD540-DBC8-38AE-9653-034D6A1A250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316C7966-1680-3784-A539-E8BFED0D5BA1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CAF3310-EAE4-A058-F94C-A9C44C1C8A95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E90D1B2-2FA8-DEB3-9933-24B25B1BE162}"/>
              </a:ext>
            </a:extLst>
          </p:cNvPr>
          <p:cNvSpPr txBox="1"/>
          <p:nvPr/>
        </p:nvSpPr>
        <p:spPr>
          <a:xfrm>
            <a:off x="0" y="0"/>
            <a:ext cx="18288000" cy="825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ru-RU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Скриншоты интерфейса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3693DB9-DE42-CE64-E82D-92F0517A2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044" y="1409700"/>
            <a:ext cx="16291912" cy="723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BC15-576B-14FB-E676-BE784DCA6512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082250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FF79-D467-7360-4D4D-D1B02618D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CCC08E2-3B3C-CDBA-91F6-A1BF44621BEE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9A071BD7-FB2C-FAB0-B0DE-D06507D326A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249BB073-CED0-96EB-6A7C-D3321FBC7ED3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E69929A-0CFC-F228-DB72-D08052FC57C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739DB7B6-E567-ABF7-73A4-094C5A9FA391}"/>
              </a:ext>
            </a:extLst>
          </p:cNvPr>
          <p:cNvSpPr txBox="1"/>
          <p:nvPr/>
        </p:nvSpPr>
        <p:spPr>
          <a:xfrm>
            <a:off x="0" y="0"/>
            <a:ext cx="18288000" cy="825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ru-RU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Скриншоты интерфейса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7414C4A-233E-C64A-03FD-92FADC477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6466" y="1033327"/>
            <a:ext cx="10135068" cy="82203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3334D9-3FBB-7DFC-4A91-D6E9B09A9DB6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164521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2B6A-1ABB-8B38-87E9-DFBF52032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57BC5F6-948E-7274-8237-3812F00902E4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873DE76C-1A23-0CEA-7C43-C045CDE71E2C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CBB5DCF-8CC6-ECA0-C4AC-FE82F4473FBE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31C3DF2B-AA53-15F9-86A3-CFA72ED0C9F1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AF4A6423-2AE9-CE39-B565-55994130F143}"/>
              </a:ext>
            </a:extLst>
          </p:cNvPr>
          <p:cNvSpPr txBox="1"/>
          <p:nvPr/>
        </p:nvSpPr>
        <p:spPr>
          <a:xfrm>
            <a:off x="0" y="0"/>
            <a:ext cx="18288000" cy="825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ru-RU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Скриншоты интерфейса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9EF693E-71DB-D8A0-ACD8-5A26059F4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985" y="825995"/>
            <a:ext cx="8762029" cy="94842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1E8018-6A5D-37D4-3D97-F31D976EB885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206238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59472-D46B-4DDD-035A-B9F13792C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5E174DD-A7CB-D3A7-1B8F-971F63F99BC9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4AF54532-2B12-12D3-FB80-9392819C08E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0983D582-178C-9092-03D0-9F9166A72256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620784D-A401-90D2-86E4-F74C0E94EDF9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73C409F-172D-3C7B-1833-A02CB4464E4D}"/>
              </a:ext>
            </a:extLst>
          </p:cNvPr>
          <p:cNvSpPr txBox="1"/>
          <p:nvPr/>
        </p:nvSpPr>
        <p:spPr>
          <a:xfrm>
            <a:off x="0" y="0"/>
            <a:ext cx="18288000" cy="825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ru-RU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Скриншоты интерфейса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9E2877-BBF3-A6BF-FF5C-6561B6131A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5779" y="825995"/>
            <a:ext cx="8896441" cy="88146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F0C4E7-66FA-37A9-65B4-E5249151F333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7252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829CB-BCC5-77A6-CC76-8ABA00AB3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D643DA0-2794-25F3-E1B2-74C3A1636DF6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5B704470-77A6-93C7-8F15-1C868EFA722B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036266B4-7391-8237-9BF0-B944ACBDE010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0CDD782-6536-2484-F02D-F28A6067998C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E505E6E0-FA4F-565C-8551-A43BF69AA137}"/>
              </a:ext>
            </a:extLst>
          </p:cNvPr>
          <p:cNvSpPr txBox="1"/>
          <p:nvPr/>
        </p:nvSpPr>
        <p:spPr>
          <a:xfrm>
            <a:off x="0" y="0"/>
            <a:ext cx="18288000" cy="825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ru-RU" sz="5562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Скриншоты интерфейса</a:t>
            </a:r>
            <a:endParaRPr lang="en-US" sz="5562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ADE931-AAF3-71F5-5EBC-3B9F4B717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80" y="1219200"/>
            <a:ext cx="16056840" cy="7848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884EEE5-CC61-6AE1-5784-77C8A37A1D93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810868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3962400" y="1028700"/>
            <a:ext cx="9243270" cy="746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Итоги</a:t>
            </a:r>
            <a:r>
              <a:rPr lang="en-US" sz="4437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4437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цель</a:t>
            </a:r>
            <a:r>
              <a:rPr lang="en-US" sz="4437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и </a:t>
            </a:r>
            <a:r>
              <a:rPr lang="en-US" sz="4437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задачи</a:t>
            </a:r>
            <a:r>
              <a:rPr lang="en-US" sz="4437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4437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выполнены</a:t>
            </a:r>
            <a:endParaRPr lang="en-US" sz="4437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962400" y="1999955"/>
            <a:ext cx="9445523" cy="700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Все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поставленные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задачи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реализованы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в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полном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объёме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Система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готова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к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демонстрации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и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дальнейшему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75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развитию</a:t>
            </a:r>
            <a:r>
              <a:rPr lang="en-US" sz="175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3957638" y="2899915"/>
            <a:ext cx="9455048" cy="6271917"/>
            <a:chOff x="0" y="0"/>
            <a:chExt cx="12606731" cy="8362556"/>
          </a:xfrm>
        </p:grpSpPr>
        <p:sp>
          <p:nvSpPr>
            <p:cNvPr id="11" name="Freeform 11"/>
            <p:cNvSpPr/>
            <p:nvPr/>
          </p:nvSpPr>
          <p:spPr>
            <a:xfrm>
              <a:off x="6350" y="6350"/>
              <a:ext cx="12594082" cy="8349869"/>
            </a:xfrm>
            <a:custGeom>
              <a:avLst/>
              <a:gdLst/>
              <a:ahLst/>
              <a:cxnLst/>
              <a:rect l="l" t="t" r="r" b="b"/>
              <a:pathLst>
                <a:path w="12594082" h="8349869">
                  <a:moveTo>
                    <a:pt x="0" y="127000"/>
                  </a:moveTo>
                  <a:cubicBezTo>
                    <a:pt x="0" y="56896"/>
                    <a:pt x="56896" y="0"/>
                    <a:pt x="127127" y="0"/>
                  </a:cubicBezTo>
                  <a:lnTo>
                    <a:pt x="12466955" y="0"/>
                  </a:lnTo>
                  <a:cubicBezTo>
                    <a:pt x="12537187" y="0"/>
                    <a:pt x="12594082" y="56896"/>
                    <a:pt x="12594082" y="127000"/>
                  </a:cubicBezTo>
                  <a:lnTo>
                    <a:pt x="12594082" y="8222869"/>
                  </a:lnTo>
                  <a:cubicBezTo>
                    <a:pt x="12594082" y="8292973"/>
                    <a:pt x="12537187" y="8349869"/>
                    <a:pt x="12466955" y="8349869"/>
                  </a:cubicBezTo>
                  <a:lnTo>
                    <a:pt x="127127" y="8349869"/>
                  </a:lnTo>
                  <a:cubicBezTo>
                    <a:pt x="56896" y="8349869"/>
                    <a:pt x="0" y="8292973"/>
                    <a:pt x="0" y="8222869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  <p:sp>
          <p:nvSpPr>
            <p:cNvPr id="12" name="Freeform 12"/>
            <p:cNvSpPr/>
            <p:nvPr/>
          </p:nvSpPr>
          <p:spPr>
            <a:xfrm>
              <a:off x="0" y="0"/>
              <a:ext cx="12606782" cy="8362569"/>
            </a:xfrm>
            <a:custGeom>
              <a:avLst/>
              <a:gdLst/>
              <a:ahLst/>
              <a:cxnLst/>
              <a:rect l="l" t="t" r="r" b="b"/>
              <a:pathLst>
                <a:path w="12606782" h="8362569">
                  <a:moveTo>
                    <a:pt x="0" y="133350"/>
                  </a:moveTo>
                  <a:cubicBezTo>
                    <a:pt x="0" y="59690"/>
                    <a:pt x="59690" y="0"/>
                    <a:pt x="133477" y="0"/>
                  </a:cubicBezTo>
                  <a:lnTo>
                    <a:pt x="12473305" y="0"/>
                  </a:lnTo>
                  <a:lnTo>
                    <a:pt x="12473305" y="6350"/>
                  </a:lnTo>
                  <a:lnTo>
                    <a:pt x="12473305" y="0"/>
                  </a:lnTo>
                  <a:cubicBezTo>
                    <a:pt x="12546965" y="0"/>
                    <a:pt x="12606782" y="59690"/>
                    <a:pt x="12606782" y="133350"/>
                  </a:cubicBezTo>
                  <a:lnTo>
                    <a:pt x="12600432" y="133350"/>
                  </a:lnTo>
                  <a:lnTo>
                    <a:pt x="12606782" y="133350"/>
                  </a:lnTo>
                  <a:lnTo>
                    <a:pt x="12606782" y="8229219"/>
                  </a:lnTo>
                  <a:lnTo>
                    <a:pt x="12600432" y="8229219"/>
                  </a:lnTo>
                  <a:lnTo>
                    <a:pt x="12606782" y="8229219"/>
                  </a:lnTo>
                  <a:cubicBezTo>
                    <a:pt x="12606782" y="8302878"/>
                    <a:pt x="12547092" y="8362569"/>
                    <a:pt x="12473305" y="8362569"/>
                  </a:cubicBezTo>
                  <a:lnTo>
                    <a:pt x="12473305" y="8356219"/>
                  </a:lnTo>
                  <a:lnTo>
                    <a:pt x="12473305" y="8362569"/>
                  </a:lnTo>
                  <a:lnTo>
                    <a:pt x="133477" y="8362569"/>
                  </a:lnTo>
                  <a:lnTo>
                    <a:pt x="133477" y="8356219"/>
                  </a:lnTo>
                  <a:lnTo>
                    <a:pt x="133477" y="8362569"/>
                  </a:lnTo>
                  <a:cubicBezTo>
                    <a:pt x="59817" y="8362569"/>
                    <a:pt x="0" y="8302878"/>
                    <a:pt x="0" y="8229219"/>
                  </a:cubicBezTo>
                  <a:lnTo>
                    <a:pt x="0" y="133350"/>
                  </a:lnTo>
                  <a:lnTo>
                    <a:pt x="6350" y="133350"/>
                  </a:lnTo>
                  <a:lnTo>
                    <a:pt x="0" y="133350"/>
                  </a:lnTo>
                  <a:moveTo>
                    <a:pt x="12700" y="133350"/>
                  </a:moveTo>
                  <a:lnTo>
                    <a:pt x="12700" y="8229219"/>
                  </a:lnTo>
                  <a:lnTo>
                    <a:pt x="6350" y="8229219"/>
                  </a:lnTo>
                  <a:lnTo>
                    <a:pt x="12700" y="8229219"/>
                  </a:lnTo>
                  <a:cubicBezTo>
                    <a:pt x="12700" y="8295894"/>
                    <a:pt x="66802" y="8349869"/>
                    <a:pt x="133477" y="8349869"/>
                  </a:cubicBezTo>
                  <a:lnTo>
                    <a:pt x="12473305" y="8349869"/>
                  </a:lnTo>
                  <a:cubicBezTo>
                    <a:pt x="12539980" y="8349869"/>
                    <a:pt x="12594082" y="8295894"/>
                    <a:pt x="12594082" y="8229219"/>
                  </a:cubicBezTo>
                  <a:lnTo>
                    <a:pt x="12594082" y="133350"/>
                  </a:lnTo>
                  <a:cubicBezTo>
                    <a:pt x="12594082" y="66675"/>
                    <a:pt x="12539980" y="12700"/>
                    <a:pt x="12473305" y="12700"/>
                  </a:cubicBezTo>
                  <a:lnTo>
                    <a:pt x="133477" y="12700"/>
                  </a:lnTo>
                  <a:lnTo>
                    <a:pt x="133477" y="6350"/>
                  </a:lnTo>
                  <a:lnTo>
                    <a:pt x="133477" y="12700"/>
                  </a:lnTo>
                  <a:cubicBezTo>
                    <a:pt x="66802" y="12700"/>
                    <a:pt x="12700" y="66675"/>
                    <a:pt x="12700" y="13335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3971925" y="2914202"/>
            <a:ext cx="9426473" cy="1424730"/>
            <a:chOff x="0" y="0"/>
            <a:chExt cx="12568631" cy="189964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568555" cy="1899666"/>
            </a:xfrm>
            <a:custGeom>
              <a:avLst/>
              <a:gdLst/>
              <a:ahLst/>
              <a:cxnLst/>
              <a:rect l="l" t="t" r="r" b="b"/>
              <a:pathLst>
                <a:path w="12568555" h="1899666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12441555" y="0"/>
                  </a:lnTo>
                  <a:cubicBezTo>
                    <a:pt x="12511660" y="0"/>
                    <a:pt x="12568555" y="56896"/>
                    <a:pt x="12568555" y="127000"/>
                  </a:cubicBezTo>
                  <a:lnTo>
                    <a:pt x="12568555" y="1772666"/>
                  </a:lnTo>
                  <a:cubicBezTo>
                    <a:pt x="12568555" y="1842770"/>
                    <a:pt x="12511660" y="1899666"/>
                    <a:pt x="12441555" y="1899666"/>
                  </a:cubicBezTo>
                  <a:lnTo>
                    <a:pt x="127000" y="1899666"/>
                  </a:lnTo>
                  <a:cubicBezTo>
                    <a:pt x="56896" y="1899666"/>
                    <a:pt x="0" y="1842770"/>
                    <a:pt x="0" y="1772666"/>
                  </a:cubicBezTo>
                  <a:close/>
                </a:path>
              </a:pathLst>
            </a:custGeom>
            <a:solidFill>
              <a:srgbClr val="E8E8E3"/>
            </a:solidFill>
          </p:spPr>
        </p:sp>
      </p:grpSp>
      <p:sp>
        <p:nvSpPr>
          <p:cNvPr id="15" name="TextBox 15"/>
          <p:cNvSpPr txBox="1"/>
          <p:nvPr/>
        </p:nvSpPr>
        <p:spPr>
          <a:xfrm>
            <a:off x="4153348" y="3067050"/>
            <a:ext cx="2835326" cy="382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187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Цель достигнута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53348" y="3511153"/>
            <a:ext cx="9063628" cy="37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75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Система персональных рекомендаций разработана и функционирует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3971925" y="4338933"/>
            <a:ext cx="9426473" cy="1696936"/>
            <a:chOff x="0" y="0"/>
            <a:chExt cx="12568631" cy="226258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568682" cy="2262632"/>
            </a:xfrm>
            <a:custGeom>
              <a:avLst/>
              <a:gdLst/>
              <a:ahLst/>
              <a:cxnLst/>
              <a:rect l="l" t="t" r="r" b="b"/>
              <a:pathLst>
                <a:path w="12568682" h="2262632">
                  <a:moveTo>
                    <a:pt x="0" y="0"/>
                  </a:moveTo>
                  <a:lnTo>
                    <a:pt x="12568682" y="0"/>
                  </a:lnTo>
                  <a:lnTo>
                    <a:pt x="12568682" y="2262632"/>
                  </a:lnTo>
                  <a:lnTo>
                    <a:pt x="0" y="2262632"/>
                  </a:lnTo>
                  <a:close/>
                </a:path>
              </a:pathLst>
            </a:custGeom>
            <a:solidFill>
              <a:srgbClr val="E8E8E3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3971925" y="4338933"/>
            <a:ext cx="9426473" cy="28575"/>
            <a:chOff x="0" y="0"/>
            <a:chExt cx="12568631" cy="381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568682" cy="38100"/>
            </a:xfrm>
            <a:custGeom>
              <a:avLst/>
              <a:gdLst/>
              <a:ahLst/>
              <a:cxnLst/>
              <a:rect l="l" t="t" r="r" b="b"/>
              <a:pathLst>
                <a:path w="12568682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2549632" y="0"/>
                  </a:lnTo>
                  <a:cubicBezTo>
                    <a:pt x="12560173" y="0"/>
                    <a:pt x="12568682" y="8509"/>
                    <a:pt x="12568682" y="19050"/>
                  </a:cubicBezTo>
                  <a:cubicBezTo>
                    <a:pt x="12568682" y="29591"/>
                    <a:pt x="12560173" y="38100"/>
                    <a:pt x="1254963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21" name="Group 21"/>
          <p:cNvGrpSpPr/>
          <p:nvPr/>
        </p:nvGrpSpPr>
        <p:grpSpPr>
          <a:xfrm>
            <a:off x="8387210" y="4055421"/>
            <a:ext cx="595608" cy="595608"/>
            <a:chOff x="0" y="0"/>
            <a:chExt cx="794144" cy="794144"/>
          </a:xfrm>
        </p:grpSpPr>
        <p:sp>
          <p:nvSpPr>
            <p:cNvPr id="22" name="Freeform 22"/>
            <p:cNvSpPr/>
            <p:nvPr/>
          </p:nvSpPr>
          <p:spPr>
            <a:xfrm>
              <a:off x="19050" y="19050"/>
              <a:ext cx="756031" cy="756031"/>
            </a:xfrm>
            <a:custGeom>
              <a:avLst/>
              <a:gdLst/>
              <a:ahLst/>
              <a:cxnLst/>
              <a:rect l="l" t="t" r="r" b="b"/>
              <a:pathLst>
                <a:path w="756031" h="756031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629031" y="0"/>
                  </a:lnTo>
                  <a:cubicBezTo>
                    <a:pt x="699135" y="0"/>
                    <a:pt x="756031" y="56896"/>
                    <a:pt x="756031" y="127000"/>
                  </a:cubicBezTo>
                  <a:lnTo>
                    <a:pt x="756031" y="629031"/>
                  </a:lnTo>
                  <a:cubicBezTo>
                    <a:pt x="756031" y="699135"/>
                    <a:pt x="699135" y="756031"/>
                    <a:pt x="629031" y="756031"/>
                  </a:cubicBezTo>
                  <a:lnTo>
                    <a:pt x="127000" y="756031"/>
                  </a:lnTo>
                  <a:cubicBezTo>
                    <a:pt x="56896" y="756031"/>
                    <a:pt x="0" y="699135"/>
                    <a:pt x="0" y="629031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23" name="Freeform 23"/>
            <p:cNvSpPr/>
            <p:nvPr/>
          </p:nvSpPr>
          <p:spPr>
            <a:xfrm>
              <a:off x="0" y="0"/>
              <a:ext cx="794131" cy="794131"/>
            </a:xfrm>
            <a:custGeom>
              <a:avLst/>
              <a:gdLst/>
              <a:ahLst/>
              <a:cxnLst/>
              <a:rect l="l" t="t" r="r" b="b"/>
              <a:pathLst>
                <a:path w="794131" h="794131">
                  <a:moveTo>
                    <a:pt x="0" y="146050"/>
                  </a:moveTo>
                  <a:cubicBezTo>
                    <a:pt x="0" y="65405"/>
                    <a:pt x="65405" y="0"/>
                    <a:pt x="146050" y="0"/>
                  </a:cubicBezTo>
                  <a:lnTo>
                    <a:pt x="648081" y="0"/>
                  </a:lnTo>
                  <a:lnTo>
                    <a:pt x="648081" y="19050"/>
                  </a:lnTo>
                  <a:lnTo>
                    <a:pt x="648081" y="0"/>
                  </a:lnTo>
                  <a:cubicBezTo>
                    <a:pt x="728726" y="0"/>
                    <a:pt x="794131" y="65405"/>
                    <a:pt x="794131" y="146050"/>
                  </a:cubicBezTo>
                  <a:lnTo>
                    <a:pt x="775081" y="146050"/>
                  </a:lnTo>
                  <a:lnTo>
                    <a:pt x="794131" y="146050"/>
                  </a:lnTo>
                  <a:lnTo>
                    <a:pt x="794131" y="648081"/>
                  </a:lnTo>
                  <a:lnTo>
                    <a:pt x="775081" y="648081"/>
                  </a:lnTo>
                  <a:lnTo>
                    <a:pt x="794131" y="648081"/>
                  </a:lnTo>
                  <a:cubicBezTo>
                    <a:pt x="794131" y="728726"/>
                    <a:pt x="728726" y="794131"/>
                    <a:pt x="648081" y="794131"/>
                  </a:cubicBezTo>
                  <a:lnTo>
                    <a:pt x="648081" y="775081"/>
                  </a:lnTo>
                  <a:lnTo>
                    <a:pt x="648081" y="794131"/>
                  </a:lnTo>
                  <a:lnTo>
                    <a:pt x="146050" y="794131"/>
                  </a:lnTo>
                  <a:lnTo>
                    <a:pt x="146050" y="775081"/>
                  </a:lnTo>
                  <a:lnTo>
                    <a:pt x="146050" y="794131"/>
                  </a:lnTo>
                  <a:cubicBezTo>
                    <a:pt x="65405" y="794131"/>
                    <a:pt x="0" y="728726"/>
                    <a:pt x="0" y="648081"/>
                  </a:cubicBezTo>
                  <a:lnTo>
                    <a:pt x="0" y="146050"/>
                  </a:lnTo>
                  <a:lnTo>
                    <a:pt x="19050" y="146050"/>
                  </a:lnTo>
                  <a:lnTo>
                    <a:pt x="0" y="146050"/>
                  </a:lnTo>
                  <a:moveTo>
                    <a:pt x="38100" y="146050"/>
                  </a:moveTo>
                  <a:lnTo>
                    <a:pt x="38100" y="648081"/>
                  </a:lnTo>
                  <a:lnTo>
                    <a:pt x="19050" y="648081"/>
                  </a:lnTo>
                  <a:lnTo>
                    <a:pt x="38100" y="648081"/>
                  </a:lnTo>
                  <a:cubicBezTo>
                    <a:pt x="38100" y="707771"/>
                    <a:pt x="86487" y="756031"/>
                    <a:pt x="146050" y="756031"/>
                  </a:cubicBezTo>
                  <a:lnTo>
                    <a:pt x="648081" y="756031"/>
                  </a:lnTo>
                  <a:cubicBezTo>
                    <a:pt x="707771" y="756031"/>
                    <a:pt x="756031" y="707644"/>
                    <a:pt x="756031" y="648081"/>
                  </a:cubicBezTo>
                  <a:lnTo>
                    <a:pt x="756031" y="146050"/>
                  </a:lnTo>
                  <a:cubicBezTo>
                    <a:pt x="756031" y="86360"/>
                    <a:pt x="707644" y="38100"/>
                    <a:pt x="648081" y="38100"/>
                  </a:cubicBezTo>
                  <a:lnTo>
                    <a:pt x="146050" y="38100"/>
                  </a:lnTo>
                  <a:lnTo>
                    <a:pt x="146050" y="19050"/>
                  </a:lnTo>
                  <a:lnTo>
                    <a:pt x="146050" y="38100"/>
                  </a:lnTo>
                  <a:cubicBezTo>
                    <a:pt x="86487" y="38100"/>
                    <a:pt x="38100" y="86487"/>
                    <a:pt x="38100" y="14605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24" name="TextBox 24"/>
          <p:cNvSpPr txBox="1"/>
          <p:nvPr/>
        </p:nvSpPr>
        <p:spPr>
          <a:xfrm>
            <a:off x="4153348" y="4763995"/>
            <a:ext cx="2835326" cy="382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187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Задача 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153348" y="5208089"/>
            <a:ext cx="9063628" cy="37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75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Backend, безопасность, роли, CRUD, история действий — реализованы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3971925" y="6035878"/>
            <a:ext cx="9426473" cy="1696936"/>
            <a:chOff x="0" y="0"/>
            <a:chExt cx="12568631" cy="226258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568682" cy="2262632"/>
            </a:xfrm>
            <a:custGeom>
              <a:avLst/>
              <a:gdLst/>
              <a:ahLst/>
              <a:cxnLst/>
              <a:rect l="l" t="t" r="r" b="b"/>
              <a:pathLst>
                <a:path w="12568682" h="2262632">
                  <a:moveTo>
                    <a:pt x="0" y="0"/>
                  </a:moveTo>
                  <a:lnTo>
                    <a:pt x="12568682" y="0"/>
                  </a:lnTo>
                  <a:lnTo>
                    <a:pt x="12568682" y="2262632"/>
                  </a:lnTo>
                  <a:lnTo>
                    <a:pt x="0" y="2262632"/>
                  </a:lnTo>
                  <a:close/>
                </a:path>
              </a:pathLst>
            </a:custGeom>
            <a:solidFill>
              <a:srgbClr val="E8E8E3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3971925" y="6035878"/>
            <a:ext cx="9426473" cy="28575"/>
            <a:chOff x="0" y="0"/>
            <a:chExt cx="12568631" cy="381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568682" cy="38100"/>
            </a:xfrm>
            <a:custGeom>
              <a:avLst/>
              <a:gdLst/>
              <a:ahLst/>
              <a:cxnLst/>
              <a:rect l="l" t="t" r="r" b="b"/>
              <a:pathLst>
                <a:path w="12568682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2549632" y="0"/>
                  </a:lnTo>
                  <a:cubicBezTo>
                    <a:pt x="12560173" y="0"/>
                    <a:pt x="12568682" y="8509"/>
                    <a:pt x="12568682" y="19050"/>
                  </a:cubicBezTo>
                  <a:cubicBezTo>
                    <a:pt x="12568682" y="29591"/>
                    <a:pt x="12560173" y="38100"/>
                    <a:pt x="1254963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8387210" y="5752357"/>
            <a:ext cx="595608" cy="595608"/>
            <a:chOff x="0" y="0"/>
            <a:chExt cx="794144" cy="794144"/>
          </a:xfrm>
        </p:grpSpPr>
        <p:sp>
          <p:nvSpPr>
            <p:cNvPr id="31" name="Freeform 31"/>
            <p:cNvSpPr/>
            <p:nvPr/>
          </p:nvSpPr>
          <p:spPr>
            <a:xfrm>
              <a:off x="19050" y="19050"/>
              <a:ext cx="756031" cy="756031"/>
            </a:xfrm>
            <a:custGeom>
              <a:avLst/>
              <a:gdLst/>
              <a:ahLst/>
              <a:cxnLst/>
              <a:rect l="l" t="t" r="r" b="b"/>
              <a:pathLst>
                <a:path w="756031" h="756031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629031" y="0"/>
                  </a:lnTo>
                  <a:cubicBezTo>
                    <a:pt x="699135" y="0"/>
                    <a:pt x="756031" y="56896"/>
                    <a:pt x="756031" y="127000"/>
                  </a:cubicBezTo>
                  <a:lnTo>
                    <a:pt x="756031" y="629031"/>
                  </a:lnTo>
                  <a:cubicBezTo>
                    <a:pt x="756031" y="699135"/>
                    <a:pt x="699135" y="756031"/>
                    <a:pt x="629031" y="756031"/>
                  </a:cubicBezTo>
                  <a:lnTo>
                    <a:pt x="127000" y="756031"/>
                  </a:lnTo>
                  <a:cubicBezTo>
                    <a:pt x="56896" y="756031"/>
                    <a:pt x="0" y="699135"/>
                    <a:pt x="0" y="629031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32" name="Freeform 32"/>
            <p:cNvSpPr/>
            <p:nvPr/>
          </p:nvSpPr>
          <p:spPr>
            <a:xfrm>
              <a:off x="0" y="0"/>
              <a:ext cx="794131" cy="794131"/>
            </a:xfrm>
            <a:custGeom>
              <a:avLst/>
              <a:gdLst/>
              <a:ahLst/>
              <a:cxnLst/>
              <a:rect l="l" t="t" r="r" b="b"/>
              <a:pathLst>
                <a:path w="794131" h="794131">
                  <a:moveTo>
                    <a:pt x="0" y="146050"/>
                  </a:moveTo>
                  <a:cubicBezTo>
                    <a:pt x="0" y="65405"/>
                    <a:pt x="65405" y="0"/>
                    <a:pt x="146050" y="0"/>
                  </a:cubicBezTo>
                  <a:lnTo>
                    <a:pt x="648081" y="0"/>
                  </a:lnTo>
                  <a:lnTo>
                    <a:pt x="648081" y="19050"/>
                  </a:lnTo>
                  <a:lnTo>
                    <a:pt x="648081" y="0"/>
                  </a:lnTo>
                  <a:cubicBezTo>
                    <a:pt x="728726" y="0"/>
                    <a:pt x="794131" y="65405"/>
                    <a:pt x="794131" y="146050"/>
                  </a:cubicBezTo>
                  <a:lnTo>
                    <a:pt x="775081" y="146050"/>
                  </a:lnTo>
                  <a:lnTo>
                    <a:pt x="794131" y="146050"/>
                  </a:lnTo>
                  <a:lnTo>
                    <a:pt x="794131" y="648081"/>
                  </a:lnTo>
                  <a:lnTo>
                    <a:pt x="775081" y="648081"/>
                  </a:lnTo>
                  <a:lnTo>
                    <a:pt x="794131" y="648081"/>
                  </a:lnTo>
                  <a:cubicBezTo>
                    <a:pt x="794131" y="728726"/>
                    <a:pt x="728726" y="794131"/>
                    <a:pt x="648081" y="794131"/>
                  </a:cubicBezTo>
                  <a:lnTo>
                    <a:pt x="648081" y="775081"/>
                  </a:lnTo>
                  <a:lnTo>
                    <a:pt x="648081" y="794131"/>
                  </a:lnTo>
                  <a:lnTo>
                    <a:pt x="146050" y="794131"/>
                  </a:lnTo>
                  <a:lnTo>
                    <a:pt x="146050" y="775081"/>
                  </a:lnTo>
                  <a:lnTo>
                    <a:pt x="146050" y="794131"/>
                  </a:lnTo>
                  <a:cubicBezTo>
                    <a:pt x="65405" y="794131"/>
                    <a:pt x="0" y="728726"/>
                    <a:pt x="0" y="648081"/>
                  </a:cubicBezTo>
                  <a:lnTo>
                    <a:pt x="0" y="146050"/>
                  </a:lnTo>
                  <a:lnTo>
                    <a:pt x="19050" y="146050"/>
                  </a:lnTo>
                  <a:lnTo>
                    <a:pt x="0" y="146050"/>
                  </a:lnTo>
                  <a:moveTo>
                    <a:pt x="38100" y="146050"/>
                  </a:moveTo>
                  <a:lnTo>
                    <a:pt x="38100" y="648081"/>
                  </a:lnTo>
                  <a:lnTo>
                    <a:pt x="19050" y="648081"/>
                  </a:lnTo>
                  <a:lnTo>
                    <a:pt x="38100" y="648081"/>
                  </a:lnTo>
                  <a:cubicBezTo>
                    <a:pt x="38100" y="707771"/>
                    <a:pt x="86487" y="756031"/>
                    <a:pt x="146050" y="756031"/>
                  </a:cubicBezTo>
                  <a:lnTo>
                    <a:pt x="648081" y="756031"/>
                  </a:lnTo>
                  <a:cubicBezTo>
                    <a:pt x="707771" y="756031"/>
                    <a:pt x="756031" y="707644"/>
                    <a:pt x="756031" y="648081"/>
                  </a:cubicBezTo>
                  <a:lnTo>
                    <a:pt x="756031" y="146050"/>
                  </a:lnTo>
                  <a:cubicBezTo>
                    <a:pt x="756031" y="86360"/>
                    <a:pt x="707644" y="38100"/>
                    <a:pt x="648081" y="38100"/>
                  </a:cubicBezTo>
                  <a:lnTo>
                    <a:pt x="146050" y="38100"/>
                  </a:lnTo>
                  <a:lnTo>
                    <a:pt x="146050" y="19050"/>
                  </a:lnTo>
                  <a:lnTo>
                    <a:pt x="146050" y="38100"/>
                  </a:lnTo>
                  <a:cubicBezTo>
                    <a:pt x="86487" y="38100"/>
                    <a:pt x="38100" y="86487"/>
                    <a:pt x="38100" y="14605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33" name="TextBox 33"/>
          <p:cNvSpPr txBox="1"/>
          <p:nvPr/>
        </p:nvSpPr>
        <p:spPr>
          <a:xfrm>
            <a:off x="4153348" y="6460931"/>
            <a:ext cx="2835326" cy="382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187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Задача 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53348" y="6905034"/>
            <a:ext cx="9063628" cy="37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75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Popular, By Categories, KNN и explainability — алгоритмы работают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3971925" y="7732814"/>
            <a:ext cx="9426473" cy="1424730"/>
            <a:chOff x="0" y="0"/>
            <a:chExt cx="12568631" cy="1899641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568682" cy="1899666"/>
            </a:xfrm>
            <a:custGeom>
              <a:avLst/>
              <a:gdLst/>
              <a:ahLst/>
              <a:cxnLst/>
              <a:rect l="l" t="t" r="r" b="b"/>
              <a:pathLst>
                <a:path w="12568682" h="1899666">
                  <a:moveTo>
                    <a:pt x="0" y="0"/>
                  </a:moveTo>
                  <a:lnTo>
                    <a:pt x="12568682" y="0"/>
                  </a:lnTo>
                  <a:lnTo>
                    <a:pt x="12568682" y="1899666"/>
                  </a:lnTo>
                  <a:lnTo>
                    <a:pt x="0" y="1899666"/>
                  </a:lnTo>
                  <a:close/>
                </a:path>
              </a:pathLst>
            </a:custGeom>
            <a:solidFill>
              <a:srgbClr val="E8E8E3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3971925" y="7732814"/>
            <a:ext cx="9426473" cy="28575"/>
            <a:chOff x="0" y="0"/>
            <a:chExt cx="12568631" cy="381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568682" cy="38100"/>
            </a:xfrm>
            <a:custGeom>
              <a:avLst/>
              <a:gdLst/>
              <a:ahLst/>
              <a:cxnLst/>
              <a:rect l="l" t="t" r="r" b="b"/>
              <a:pathLst>
                <a:path w="12568682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2549632" y="0"/>
                  </a:lnTo>
                  <a:cubicBezTo>
                    <a:pt x="12560173" y="0"/>
                    <a:pt x="12568682" y="8509"/>
                    <a:pt x="12568682" y="19050"/>
                  </a:cubicBezTo>
                  <a:cubicBezTo>
                    <a:pt x="12568682" y="29591"/>
                    <a:pt x="12560173" y="38100"/>
                    <a:pt x="1254963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8387210" y="7449293"/>
            <a:ext cx="595608" cy="595608"/>
            <a:chOff x="0" y="0"/>
            <a:chExt cx="794144" cy="794144"/>
          </a:xfrm>
        </p:grpSpPr>
        <p:sp>
          <p:nvSpPr>
            <p:cNvPr id="40" name="Freeform 40"/>
            <p:cNvSpPr/>
            <p:nvPr/>
          </p:nvSpPr>
          <p:spPr>
            <a:xfrm>
              <a:off x="19050" y="19050"/>
              <a:ext cx="756031" cy="756031"/>
            </a:xfrm>
            <a:custGeom>
              <a:avLst/>
              <a:gdLst/>
              <a:ahLst/>
              <a:cxnLst/>
              <a:rect l="l" t="t" r="r" b="b"/>
              <a:pathLst>
                <a:path w="756031" h="756031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629031" y="0"/>
                  </a:lnTo>
                  <a:cubicBezTo>
                    <a:pt x="699135" y="0"/>
                    <a:pt x="756031" y="56896"/>
                    <a:pt x="756031" y="127000"/>
                  </a:cubicBezTo>
                  <a:lnTo>
                    <a:pt x="756031" y="629031"/>
                  </a:lnTo>
                  <a:cubicBezTo>
                    <a:pt x="756031" y="699135"/>
                    <a:pt x="699135" y="756031"/>
                    <a:pt x="629031" y="756031"/>
                  </a:cubicBezTo>
                  <a:lnTo>
                    <a:pt x="127000" y="756031"/>
                  </a:lnTo>
                  <a:cubicBezTo>
                    <a:pt x="56896" y="756031"/>
                    <a:pt x="0" y="699135"/>
                    <a:pt x="0" y="629031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41" name="Freeform 41"/>
            <p:cNvSpPr/>
            <p:nvPr/>
          </p:nvSpPr>
          <p:spPr>
            <a:xfrm>
              <a:off x="0" y="0"/>
              <a:ext cx="794131" cy="794131"/>
            </a:xfrm>
            <a:custGeom>
              <a:avLst/>
              <a:gdLst/>
              <a:ahLst/>
              <a:cxnLst/>
              <a:rect l="l" t="t" r="r" b="b"/>
              <a:pathLst>
                <a:path w="794131" h="794131">
                  <a:moveTo>
                    <a:pt x="0" y="146050"/>
                  </a:moveTo>
                  <a:cubicBezTo>
                    <a:pt x="0" y="65405"/>
                    <a:pt x="65405" y="0"/>
                    <a:pt x="146050" y="0"/>
                  </a:cubicBezTo>
                  <a:lnTo>
                    <a:pt x="648081" y="0"/>
                  </a:lnTo>
                  <a:lnTo>
                    <a:pt x="648081" y="19050"/>
                  </a:lnTo>
                  <a:lnTo>
                    <a:pt x="648081" y="0"/>
                  </a:lnTo>
                  <a:cubicBezTo>
                    <a:pt x="728726" y="0"/>
                    <a:pt x="794131" y="65405"/>
                    <a:pt x="794131" y="146050"/>
                  </a:cubicBezTo>
                  <a:lnTo>
                    <a:pt x="775081" y="146050"/>
                  </a:lnTo>
                  <a:lnTo>
                    <a:pt x="794131" y="146050"/>
                  </a:lnTo>
                  <a:lnTo>
                    <a:pt x="794131" y="648081"/>
                  </a:lnTo>
                  <a:lnTo>
                    <a:pt x="775081" y="648081"/>
                  </a:lnTo>
                  <a:lnTo>
                    <a:pt x="794131" y="648081"/>
                  </a:lnTo>
                  <a:cubicBezTo>
                    <a:pt x="794131" y="728726"/>
                    <a:pt x="728726" y="794131"/>
                    <a:pt x="648081" y="794131"/>
                  </a:cubicBezTo>
                  <a:lnTo>
                    <a:pt x="648081" y="775081"/>
                  </a:lnTo>
                  <a:lnTo>
                    <a:pt x="648081" y="794131"/>
                  </a:lnTo>
                  <a:lnTo>
                    <a:pt x="146050" y="794131"/>
                  </a:lnTo>
                  <a:lnTo>
                    <a:pt x="146050" y="775081"/>
                  </a:lnTo>
                  <a:lnTo>
                    <a:pt x="146050" y="794131"/>
                  </a:lnTo>
                  <a:cubicBezTo>
                    <a:pt x="65405" y="794131"/>
                    <a:pt x="0" y="728726"/>
                    <a:pt x="0" y="648081"/>
                  </a:cubicBezTo>
                  <a:lnTo>
                    <a:pt x="0" y="146050"/>
                  </a:lnTo>
                  <a:lnTo>
                    <a:pt x="19050" y="146050"/>
                  </a:lnTo>
                  <a:lnTo>
                    <a:pt x="0" y="146050"/>
                  </a:lnTo>
                  <a:moveTo>
                    <a:pt x="38100" y="146050"/>
                  </a:moveTo>
                  <a:lnTo>
                    <a:pt x="38100" y="648081"/>
                  </a:lnTo>
                  <a:lnTo>
                    <a:pt x="19050" y="648081"/>
                  </a:lnTo>
                  <a:lnTo>
                    <a:pt x="38100" y="648081"/>
                  </a:lnTo>
                  <a:cubicBezTo>
                    <a:pt x="38100" y="707771"/>
                    <a:pt x="86487" y="756031"/>
                    <a:pt x="146050" y="756031"/>
                  </a:cubicBezTo>
                  <a:lnTo>
                    <a:pt x="648081" y="756031"/>
                  </a:lnTo>
                  <a:cubicBezTo>
                    <a:pt x="707771" y="756031"/>
                    <a:pt x="756031" y="707644"/>
                    <a:pt x="756031" y="648081"/>
                  </a:cubicBezTo>
                  <a:lnTo>
                    <a:pt x="756031" y="146050"/>
                  </a:lnTo>
                  <a:cubicBezTo>
                    <a:pt x="756031" y="86360"/>
                    <a:pt x="707644" y="38100"/>
                    <a:pt x="648081" y="38100"/>
                  </a:cubicBezTo>
                  <a:lnTo>
                    <a:pt x="146050" y="38100"/>
                  </a:lnTo>
                  <a:lnTo>
                    <a:pt x="146050" y="19050"/>
                  </a:lnTo>
                  <a:lnTo>
                    <a:pt x="146050" y="38100"/>
                  </a:lnTo>
                  <a:cubicBezTo>
                    <a:pt x="86487" y="38100"/>
                    <a:pt x="38100" y="86487"/>
                    <a:pt x="38100" y="146050"/>
                  </a:cubicBezTo>
                  <a:close/>
                </a:path>
              </a:pathLst>
            </a:custGeom>
            <a:solidFill>
              <a:srgbClr val="CECEC9"/>
            </a:solidFill>
          </p:spPr>
        </p:sp>
      </p:grpSp>
      <p:sp>
        <p:nvSpPr>
          <p:cNvPr id="42" name="TextBox 42"/>
          <p:cNvSpPr txBox="1"/>
          <p:nvPr/>
        </p:nvSpPr>
        <p:spPr>
          <a:xfrm>
            <a:off x="4153348" y="8157867"/>
            <a:ext cx="2835326" cy="382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187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Задача 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153348" y="8601970"/>
            <a:ext cx="9063628" cy="37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175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Web и WPF клиенты готовы к демонстрации и тестированию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363C8B-62FB-D227-D1AB-5EDAF3C3AB86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66800" y="554157"/>
            <a:ext cx="6482353" cy="765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25"/>
              </a:lnSpc>
            </a:pPr>
            <a:r>
              <a:rPr lang="en-US" sz="4499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Перспективы</a:t>
            </a:r>
            <a:r>
              <a:rPr lang="en-US" sz="4499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4499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развития</a:t>
            </a:r>
            <a:endParaRPr lang="en-US" sz="4499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1977096" y="1994297"/>
            <a:ext cx="4405903" cy="374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36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Следующие</a:t>
            </a:r>
            <a:r>
              <a:rPr lang="en-US" sz="3600" dirty="0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600" dirty="0" err="1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шаги</a:t>
            </a:r>
            <a:endParaRPr lang="en-US" sz="3600" dirty="0">
              <a:solidFill>
                <a:srgbClr val="312F2B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1882070" y="3205898"/>
            <a:ext cx="6310904" cy="3627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Интеграция</a:t>
            </a:r>
            <a:r>
              <a:rPr lang="en-US" sz="32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внешних</a:t>
            </a:r>
            <a:r>
              <a:rPr lang="en-US" sz="32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источников</a:t>
            </a:r>
            <a:endParaRPr lang="en-US" sz="320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1977096" y="3749525"/>
            <a:ext cx="6097934" cy="12926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Подключение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сторонних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API и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контентных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партнёров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для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расширения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каталога</a:t>
            </a:r>
            <a:endParaRPr lang="en-US" sz="2800" dirty="0">
              <a:solidFill>
                <a:srgbClr val="272525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1977096" y="5545079"/>
            <a:ext cx="6097934" cy="3627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Микросервисная</a:t>
            </a:r>
            <a:r>
              <a:rPr lang="en-US" sz="32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архитектура</a:t>
            </a:r>
            <a:endParaRPr lang="en-US" sz="320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977096" y="6045459"/>
            <a:ext cx="5548904" cy="12926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Переход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от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монолита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к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независимо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масштабируемым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сервисам</a:t>
            </a:r>
            <a:endParaRPr lang="en-US" sz="2800" dirty="0">
              <a:solidFill>
                <a:srgbClr val="272525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977096" y="7887137"/>
            <a:ext cx="4802534" cy="3627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Дашборд</a:t>
            </a:r>
            <a:r>
              <a:rPr lang="en-US" sz="3200" dirty="0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200" dirty="0" err="1">
                <a:solidFill>
                  <a:srgbClr val="272525"/>
                </a:solidFill>
                <a:latin typeface="Arimo"/>
                <a:ea typeface="Arimo"/>
                <a:cs typeface="Arimo"/>
                <a:sym typeface="Arimo"/>
              </a:rPr>
              <a:t>мониторинга</a:t>
            </a:r>
            <a:endParaRPr lang="en-US" sz="3200" dirty="0">
              <a:solidFill>
                <a:srgbClr val="272525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1977096" y="8439667"/>
            <a:ext cx="5701304" cy="12926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Real-time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визуализация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метрик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качества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рекомендаций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для</a:t>
            </a:r>
            <a:r>
              <a:rPr lang="en-US" sz="2800" dirty="0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272525"/>
                </a:solidFill>
                <a:latin typeface="Lato"/>
                <a:ea typeface="Lato"/>
                <a:cs typeface="Lato"/>
                <a:sym typeface="Lato"/>
              </a:rPr>
              <a:t>аналитиков</a:t>
            </a:r>
            <a:endParaRPr lang="en-US" sz="2800" dirty="0">
              <a:solidFill>
                <a:srgbClr val="272525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FD75777-F052-8D9A-16A5-6A8BA1791E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3744" y="1319576"/>
            <a:ext cx="8883082" cy="88830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BA8300-4146-CB65-5273-917AFF57C6E0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62638" y="793337"/>
            <a:ext cx="16162715" cy="765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25"/>
              </a:lnSpc>
            </a:pPr>
            <a:r>
              <a:rPr lang="en-US" sz="4499">
                <a:solidFill>
                  <a:srgbClr val="312F2B"/>
                </a:solidFill>
                <a:latin typeface="Arimo"/>
                <a:ea typeface="Arimo"/>
                <a:cs typeface="Arimo"/>
                <a:sym typeface="Arimo"/>
              </a:rPr>
              <a:t>Спасибо за внимание!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9C6CDA6-9688-4FC3-FE6D-7BB00C9AC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39" y="1462086"/>
            <a:ext cx="7362825" cy="73628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A2B7C07-6009-600C-1250-7C25670310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36" y="1462085"/>
            <a:ext cx="7362825" cy="7362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E2908A-6514-3CCD-FA0E-57412D1A7F24}"/>
              </a:ext>
            </a:extLst>
          </p:cNvPr>
          <p:cNvSpPr txBox="1"/>
          <p:nvPr/>
        </p:nvSpPr>
        <p:spPr>
          <a:xfrm>
            <a:off x="1947852" y="8240135"/>
            <a:ext cx="563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Репозиторий на </a:t>
            </a:r>
            <a:r>
              <a:rPr lang="en-US" sz="3200" dirty="0" err="1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github</a:t>
            </a:r>
            <a:endParaRPr lang="ru-RU" sz="3200" dirty="0">
              <a:latin typeface="Arimo" panose="020B0604020202020204" charset="0"/>
              <a:ea typeface="Arimo" panose="020B0604020202020204" charset="0"/>
              <a:cs typeface="Arimo" panose="020B060402020202020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9E36FF-C451-4ED5-37FD-C8042132687E}"/>
              </a:ext>
            </a:extLst>
          </p:cNvPr>
          <p:cNvSpPr txBox="1"/>
          <p:nvPr/>
        </p:nvSpPr>
        <p:spPr>
          <a:xfrm>
            <a:off x="10701348" y="8216943"/>
            <a:ext cx="563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Arimo" panose="020B0604020202020204" charset="0"/>
                <a:ea typeface="Arimo" panose="020B0604020202020204" charset="0"/>
                <a:cs typeface="Arimo" panose="020B0604020202020204" charset="0"/>
              </a:rPr>
              <a:t>Мои контакты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A39EBE-2660-C062-DA1D-A3DCB4FA24D1}"/>
              </a:ext>
            </a:extLst>
          </p:cNvPr>
          <p:cNvSpPr txBox="1"/>
          <p:nvPr/>
        </p:nvSpPr>
        <p:spPr>
          <a:xfrm>
            <a:off x="17830800" y="986779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</TotalTime>
  <Words>716</Words>
  <Application>Microsoft Office PowerPoint</Application>
  <PresentationFormat>Произвольный</PresentationFormat>
  <Paragraphs>191</Paragraphs>
  <Slides>21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Lato Bold</vt:lpstr>
      <vt:lpstr>Arial</vt:lpstr>
      <vt:lpstr>Arimo</vt:lpstr>
      <vt:lpstr>Lato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Sistema-personalnyh-rekomendacij.pptx</dc:title>
  <cp:lastModifiedBy>Дмитрий Лёвкин</cp:lastModifiedBy>
  <cp:revision>16</cp:revision>
  <dcterms:created xsi:type="dcterms:W3CDTF">2006-08-16T00:00:00Z</dcterms:created>
  <dcterms:modified xsi:type="dcterms:W3CDTF">2026-04-13T14:49:12Z</dcterms:modified>
  <dc:identifier>DAHGdFp_2VA</dc:identifier>
</cp:coreProperties>
</file>
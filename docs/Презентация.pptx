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4"/>
  </p:notesMasterIdLst>
  <p:sldIdLst>
    <p:sldId id="267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18288000" cy="10287000"/>
  <p:notesSz cx="6858000" cy="9144000"/>
  <p:embeddedFontLst>
    <p:embeddedFont>
      <p:font typeface="Arimo" panose="020B0604020202020204" charset="0"/>
      <p:regular r:id="rId15"/>
    </p:embeddedFont>
    <p:embeddedFont>
      <p:font typeface="Lato" panose="020F0502020204030203" pitchFamily="34" charset="0"/>
      <p:regular r:id="rId16"/>
    </p:embeddedFont>
    <p:embeddedFont>
      <p:font typeface="Lato Bold" panose="020B0604020202020204" charset="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534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10.04.2026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95EDE0-A679-0C0C-BD0A-033359A514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9173BF6-FA52-8186-88E6-F1089FFD1EA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E5AEB21-3C4F-B7A0-B6A3-76CD1F7F5F43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3DDA56FC-E71A-0B2B-5FBA-BF2A5DD452E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429C9657-2065-D36F-F282-C21BDB1D42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A02197-86F3-0F23-E555-01B5F69AE75A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D46D3E-561B-90C2-6D67-43670B9178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3649171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A8BA73-2B40-48A2-04FB-CCE2D1AA5C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79C75AEE-17E3-0E81-C395-32195C9FAB65}"/>
              </a:ext>
            </a:extLst>
          </p:cNvPr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>
              <a:extLst>
                <a:ext uri="{FF2B5EF4-FFF2-40B4-BE49-F238E27FC236}">
                  <a16:creationId xmlns:a16="http://schemas.microsoft.com/office/drawing/2014/main" id="{0599D171-CFA0-CAE1-6E83-2114424ECEDE}"/>
                </a:ext>
              </a:extLst>
            </p:cNvPr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CE7F6851-B94A-7531-1584-69DD4A0A8903}"/>
              </a:ext>
            </a:extLst>
          </p:cNvPr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4B4321E3-D0E6-41B1-6078-25B99695F9B8}"/>
                </a:ext>
              </a:extLst>
            </p:cNvPr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sp>
        <p:nvSpPr>
          <p:cNvPr id="6" name="TextBox 6">
            <a:extLst>
              <a:ext uri="{FF2B5EF4-FFF2-40B4-BE49-F238E27FC236}">
                <a16:creationId xmlns:a16="http://schemas.microsoft.com/office/drawing/2014/main" id="{DB3A5F0D-AC33-B16F-CEBD-001FF4D0E565}"/>
              </a:ext>
            </a:extLst>
          </p:cNvPr>
          <p:cNvSpPr txBox="1"/>
          <p:nvPr/>
        </p:nvSpPr>
        <p:spPr>
          <a:xfrm>
            <a:off x="992238" y="824208"/>
            <a:ext cx="7916761" cy="9431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>
                <a:solidFill>
                  <a:srgbClr val="312F2B"/>
                </a:solidFill>
                <a:latin typeface="Arimo"/>
                <a:ea typeface="Arimo"/>
                <a:cs typeface="Arimo"/>
                <a:sym typeface="Arimo"/>
              </a:rPr>
              <a:t>Цель и задачи проекта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C1167E02-6968-261B-1056-C9791306DF12}"/>
              </a:ext>
            </a:extLst>
          </p:cNvPr>
          <p:cNvSpPr txBox="1"/>
          <p:nvPr/>
        </p:nvSpPr>
        <p:spPr>
          <a:xfrm>
            <a:off x="992238" y="2097291"/>
            <a:ext cx="9445523" cy="10025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 b="1">
                <a:solidFill>
                  <a:srgbClr val="272525"/>
                </a:solidFill>
                <a:latin typeface="Lato Bold"/>
                <a:ea typeface="Lato Bold"/>
                <a:cs typeface="Lato Bold"/>
                <a:sym typeface="Lato Bold"/>
              </a:rPr>
              <a:t>Цель:</a:t>
            </a:r>
            <a:r>
              <a:rPr lang="en-US" sz="2187">
                <a:solidFill>
                  <a:srgbClr val="272525"/>
                </a:solidFill>
                <a:latin typeface="Lato"/>
                <a:ea typeface="Lato"/>
                <a:cs typeface="Lato"/>
                <a:sym typeface="Lato"/>
              </a:rPr>
              <a:t> разработать систему, формирующую персональные рекомендации на основе истории действий пользователя.</a:t>
            </a:r>
          </a:p>
        </p:txBody>
      </p:sp>
      <p:grpSp>
        <p:nvGrpSpPr>
          <p:cNvPr id="8" name="Group 8">
            <a:extLst>
              <a:ext uri="{FF2B5EF4-FFF2-40B4-BE49-F238E27FC236}">
                <a16:creationId xmlns:a16="http://schemas.microsoft.com/office/drawing/2014/main" id="{F2F9A2D0-5B40-2908-40C1-002863E55B75}"/>
              </a:ext>
            </a:extLst>
          </p:cNvPr>
          <p:cNvGrpSpPr/>
          <p:nvPr/>
        </p:nvGrpSpPr>
        <p:grpSpPr>
          <a:xfrm>
            <a:off x="987476" y="3413970"/>
            <a:ext cx="647405" cy="647405"/>
            <a:chOff x="0" y="0"/>
            <a:chExt cx="863206" cy="863206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874BED7E-D3D7-E1D5-6321-0BD20DB606E9}"/>
                </a:ext>
              </a:extLst>
            </p:cNvPr>
            <p:cNvSpPr/>
            <p:nvPr/>
          </p:nvSpPr>
          <p:spPr>
            <a:xfrm>
              <a:off x="6350" y="6350"/>
              <a:ext cx="850519" cy="850519"/>
            </a:xfrm>
            <a:custGeom>
              <a:avLst/>
              <a:gdLst/>
              <a:ahLst/>
              <a:cxnLst/>
              <a:rect l="l" t="t" r="r" b="b"/>
              <a:pathLst>
                <a:path w="850519" h="850519">
                  <a:moveTo>
                    <a:pt x="0" y="158750"/>
                  </a:moveTo>
                  <a:cubicBezTo>
                    <a:pt x="0" y="71120"/>
                    <a:pt x="71120" y="0"/>
                    <a:pt x="158750" y="0"/>
                  </a:cubicBezTo>
                  <a:lnTo>
                    <a:pt x="691769" y="0"/>
                  </a:lnTo>
                  <a:cubicBezTo>
                    <a:pt x="779399" y="0"/>
                    <a:pt x="850519" y="71120"/>
                    <a:pt x="850519" y="158750"/>
                  </a:cubicBezTo>
                  <a:lnTo>
                    <a:pt x="850519" y="691769"/>
                  </a:lnTo>
                  <a:cubicBezTo>
                    <a:pt x="850519" y="779399"/>
                    <a:pt x="779399" y="850519"/>
                    <a:pt x="691769" y="850519"/>
                  </a:cubicBezTo>
                  <a:lnTo>
                    <a:pt x="158750" y="850519"/>
                  </a:lnTo>
                  <a:cubicBezTo>
                    <a:pt x="71120" y="850519"/>
                    <a:pt x="0" y="779399"/>
                    <a:pt x="0" y="691769"/>
                  </a:cubicBezTo>
                  <a:close/>
                </a:path>
              </a:pathLst>
            </a:custGeom>
            <a:solidFill>
              <a:srgbClr val="E8E8E3"/>
            </a:solidFill>
          </p:spPr>
        </p:sp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62DA47C1-5EC2-FE1C-87DD-02AC50E70C1F}"/>
                </a:ext>
              </a:extLst>
            </p:cNvPr>
            <p:cNvSpPr/>
            <p:nvPr/>
          </p:nvSpPr>
          <p:spPr>
            <a:xfrm>
              <a:off x="0" y="0"/>
              <a:ext cx="863219" cy="863219"/>
            </a:xfrm>
            <a:custGeom>
              <a:avLst/>
              <a:gdLst/>
              <a:ahLst/>
              <a:cxnLst/>
              <a:rect l="l" t="t" r="r" b="b"/>
              <a:pathLst>
                <a:path w="863219" h="863219">
                  <a:moveTo>
                    <a:pt x="0" y="165100"/>
                  </a:moveTo>
                  <a:cubicBezTo>
                    <a:pt x="0" y="73914"/>
                    <a:pt x="73914" y="0"/>
                    <a:pt x="165100" y="0"/>
                  </a:cubicBezTo>
                  <a:lnTo>
                    <a:pt x="698119" y="0"/>
                  </a:lnTo>
                  <a:lnTo>
                    <a:pt x="698119" y="6350"/>
                  </a:lnTo>
                  <a:lnTo>
                    <a:pt x="698119" y="0"/>
                  </a:lnTo>
                  <a:lnTo>
                    <a:pt x="698119" y="6350"/>
                  </a:lnTo>
                  <a:lnTo>
                    <a:pt x="698119" y="0"/>
                  </a:lnTo>
                  <a:cubicBezTo>
                    <a:pt x="789305" y="0"/>
                    <a:pt x="863219" y="73914"/>
                    <a:pt x="863219" y="165100"/>
                  </a:cubicBezTo>
                  <a:lnTo>
                    <a:pt x="856869" y="165100"/>
                  </a:lnTo>
                  <a:lnTo>
                    <a:pt x="863219" y="165100"/>
                  </a:lnTo>
                  <a:lnTo>
                    <a:pt x="863219" y="698119"/>
                  </a:lnTo>
                  <a:lnTo>
                    <a:pt x="856869" y="698119"/>
                  </a:lnTo>
                  <a:lnTo>
                    <a:pt x="863219" y="698119"/>
                  </a:lnTo>
                  <a:cubicBezTo>
                    <a:pt x="863219" y="789305"/>
                    <a:pt x="789305" y="863219"/>
                    <a:pt x="698119" y="863219"/>
                  </a:cubicBezTo>
                  <a:lnTo>
                    <a:pt x="698119" y="856869"/>
                  </a:lnTo>
                  <a:lnTo>
                    <a:pt x="698119" y="863219"/>
                  </a:lnTo>
                  <a:lnTo>
                    <a:pt x="165100" y="863219"/>
                  </a:lnTo>
                  <a:lnTo>
                    <a:pt x="165100" y="856869"/>
                  </a:lnTo>
                  <a:lnTo>
                    <a:pt x="165100" y="863219"/>
                  </a:lnTo>
                  <a:cubicBezTo>
                    <a:pt x="73914" y="863219"/>
                    <a:pt x="0" y="789305"/>
                    <a:pt x="0" y="698119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698119"/>
                  </a:lnTo>
                  <a:lnTo>
                    <a:pt x="6350" y="698119"/>
                  </a:lnTo>
                  <a:lnTo>
                    <a:pt x="12700" y="698119"/>
                  </a:lnTo>
                  <a:cubicBezTo>
                    <a:pt x="12700" y="782320"/>
                    <a:pt x="80899" y="850519"/>
                    <a:pt x="165100" y="850519"/>
                  </a:cubicBezTo>
                  <a:lnTo>
                    <a:pt x="698119" y="850519"/>
                  </a:lnTo>
                  <a:cubicBezTo>
                    <a:pt x="782320" y="850519"/>
                    <a:pt x="850519" y="782320"/>
                    <a:pt x="850519" y="698119"/>
                  </a:cubicBezTo>
                  <a:lnTo>
                    <a:pt x="850519" y="165100"/>
                  </a:lnTo>
                  <a:cubicBezTo>
                    <a:pt x="850519" y="80899"/>
                    <a:pt x="782320" y="12700"/>
                    <a:pt x="698119" y="12700"/>
                  </a:cubicBezTo>
                  <a:lnTo>
                    <a:pt x="165100" y="12700"/>
                  </a:lnTo>
                  <a:lnTo>
                    <a:pt x="165100" y="6350"/>
                  </a:lnTo>
                  <a:lnTo>
                    <a:pt x="165100" y="12700"/>
                  </a:lnTo>
                  <a:cubicBezTo>
                    <a:pt x="80899" y="12700"/>
                    <a:pt x="12700" y="80899"/>
                    <a:pt x="12700" y="165100"/>
                  </a:cubicBezTo>
                  <a:close/>
                </a:path>
              </a:pathLst>
            </a:custGeom>
            <a:solidFill>
              <a:srgbClr val="CECEC9"/>
            </a:solidFill>
          </p:spPr>
        </p:sp>
      </p:grpSp>
      <p:sp>
        <p:nvSpPr>
          <p:cNvPr id="11" name="TextBox 11">
            <a:extLst>
              <a:ext uri="{FF2B5EF4-FFF2-40B4-BE49-F238E27FC236}">
                <a16:creationId xmlns:a16="http://schemas.microsoft.com/office/drawing/2014/main" id="{200177F4-A863-3C42-87B0-20F3BF7D47A5}"/>
              </a:ext>
            </a:extLst>
          </p:cNvPr>
          <p:cNvSpPr txBox="1"/>
          <p:nvPr/>
        </p:nvSpPr>
        <p:spPr>
          <a:xfrm>
            <a:off x="1098575" y="3509962"/>
            <a:ext cx="425206" cy="4935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12"/>
              </a:lnSpc>
            </a:pPr>
            <a:r>
              <a:rPr lang="en-US" sz="3312">
                <a:solidFill>
                  <a:srgbClr val="272525"/>
                </a:solidFill>
                <a:latin typeface="Arimo"/>
                <a:ea typeface="Arimo"/>
                <a:cs typeface="Arimo"/>
                <a:sym typeface="Arimo"/>
              </a:rPr>
              <a:t>1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F24098E5-B312-8887-B51D-A76F9181522E}"/>
              </a:ext>
            </a:extLst>
          </p:cNvPr>
          <p:cNvSpPr txBox="1"/>
          <p:nvPr/>
        </p:nvSpPr>
        <p:spPr>
          <a:xfrm>
            <a:off x="1913630" y="3477968"/>
            <a:ext cx="4264666" cy="4810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272525"/>
                </a:solidFill>
                <a:latin typeface="Arimo"/>
                <a:ea typeface="Arimo"/>
                <a:cs typeface="Arimo"/>
                <a:sym typeface="Arimo"/>
              </a:rPr>
              <a:t>Backend-инфраструктура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B0962A87-E443-7111-DF8F-41EE6851CCBD}"/>
              </a:ext>
            </a:extLst>
          </p:cNvPr>
          <p:cNvSpPr txBox="1"/>
          <p:nvPr/>
        </p:nvSpPr>
        <p:spPr>
          <a:xfrm>
            <a:off x="1913630" y="4033838"/>
            <a:ext cx="8524132" cy="10025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272525"/>
                </a:solidFill>
                <a:latin typeface="Lato"/>
                <a:ea typeface="Lato"/>
                <a:cs typeface="Lato"/>
                <a:sym typeface="Lato"/>
              </a:rPr>
              <a:t>Авторизация, ролевая модель, CRUD-операции, хранение и обработка действий пользователей</a:t>
            </a:r>
          </a:p>
        </p:txBody>
      </p:sp>
      <p:grpSp>
        <p:nvGrpSpPr>
          <p:cNvPr id="14" name="Group 14">
            <a:extLst>
              <a:ext uri="{FF2B5EF4-FFF2-40B4-BE49-F238E27FC236}">
                <a16:creationId xmlns:a16="http://schemas.microsoft.com/office/drawing/2014/main" id="{6A7FF706-B484-5962-8743-ED20B9373712}"/>
              </a:ext>
            </a:extLst>
          </p:cNvPr>
          <p:cNvGrpSpPr/>
          <p:nvPr/>
        </p:nvGrpSpPr>
        <p:grpSpPr>
          <a:xfrm>
            <a:off x="987476" y="5598614"/>
            <a:ext cx="647405" cy="647405"/>
            <a:chOff x="0" y="0"/>
            <a:chExt cx="863206" cy="863206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D83F6485-E8AF-8CC7-6558-90F90F9D595B}"/>
                </a:ext>
              </a:extLst>
            </p:cNvPr>
            <p:cNvSpPr/>
            <p:nvPr/>
          </p:nvSpPr>
          <p:spPr>
            <a:xfrm>
              <a:off x="6350" y="6350"/>
              <a:ext cx="850519" cy="850519"/>
            </a:xfrm>
            <a:custGeom>
              <a:avLst/>
              <a:gdLst/>
              <a:ahLst/>
              <a:cxnLst/>
              <a:rect l="l" t="t" r="r" b="b"/>
              <a:pathLst>
                <a:path w="850519" h="850519">
                  <a:moveTo>
                    <a:pt x="0" y="158750"/>
                  </a:moveTo>
                  <a:cubicBezTo>
                    <a:pt x="0" y="71120"/>
                    <a:pt x="71120" y="0"/>
                    <a:pt x="158750" y="0"/>
                  </a:cubicBezTo>
                  <a:lnTo>
                    <a:pt x="691769" y="0"/>
                  </a:lnTo>
                  <a:cubicBezTo>
                    <a:pt x="779399" y="0"/>
                    <a:pt x="850519" y="71120"/>
                    <a:pt x="850519" y="158750"/>
                  </a:cubicBezTo>
                  <a:lnTo>
                    <a:pt x="850519" y="691769"/>
                  </a:lnTo>
                  <a:cubicBezTo>
                    <a:pt x="850519" y="779399"/>
                    <a:pt x="779399" y="850519"/>
                    <a:pt x="691769" y="850519"/>
                  </a:cubicBezTo>
                  <a:lnTo>
                    <a:pt x="158750" y="850519"/>
                  </a:lnTo>
                  <a:cubicBezTo>
                    <a:pt x="71120" y="850519"/>
                    <a:pt x="0" y="779399"/>
                    <a:pt x="0" y="691769"/>
                  </a:cubicBezTo>
                  <a:close/>
                </a:path>
              </a:pathLst>
            </a:custGeom>
            <a:solidFill>
              <a:srgbClr val="E8E8E3"/>
            </a:solidFill>
          </p:spPr>
        </p:sp>
        <p:sp>
          <p:nvSpPr>
            <p:cNvPr id="16" name="Freeform 16">
              <a:extLst>
                <a:ext uri="{FF2B5EF4-FFF2-40B4-BE49-F238E27FC236}">
                  <a16:creationId xmlns:a16="http://schemas.microsoft.com/office/drawing/2014/main" id="{11269365-023D-4F38-2FA2-BE24CD905A08}"/>
                </a:ext>
              </a:extLst>
            </p:cNvPr>
            <p:cNvSpPr/>
            <p:nvPr/>
          </p:nvSpPr>
          <p:spPr>
            <a:xfrm>
              <a:off x="0" y="0"/>
              <a:ext cx="863219" cy="863219"/>
            </a:xfrm>
            <a:custGeom>
              <a:avLst/>
              <a:gdLst/>
              <a:ahLst/>
              <a:cxnLst/>
              <a:rect l="l" t="t" r="r" b="b"/>
              <a:pathLst>
                <a:path w="863219" h="863219">
                  <a:moveTo>
                    <a:pt x="0" y="165100"/>
                  </a:moveTo>
                  <a:cubicBezTo>
                    <a:pt x="0" y="73914"/>
                    <a:pt x="73914" y="0"/>
                    <a:pt x="165100" y="0"/>
                  </a:cubicBezTo>
                  <a:lnTo>
                    <a:pt x="698119" y="0"/>
                  </a:lnTo>
                  <a:lnTo>
                    <a:pt x="698119" y="6350"/>
                  </a:lnTo>
                  <a:lnTo>
                    <a:pt x="698119" y="0"/>
                  </a:lnTo>
                  <a:lnTo>
                    <a:pt x="698119" y="6350"/>
                  </a:lnTo>
                  <a:lnTo>
                    <a:pt x="698119" y="0"/>
                  </a:lnTo>
                  <a:cubicBezTo>
                    <a:pt x="789305" y="0"/>
                    <a:pt x="863219" y="73914"/>
                    <a:pt x="863219" y="165100"/>
                  </a:cubicBezTo>
                  <a:lnTo>
                    <a:pt x="856869" y="165100"/>
                  </a:lnTo>
                  <a:lnTo>
                    <a:pt x="863219" y="165100"/>
                  </a:lnTo>
                  <a:lnTo>
                    <a:pt x="863219" y="698119"/>
                  </a:lnTo>
                  <a:lnTo>
                    <a:pt x="856869" y="698119"/>
                  </a:lnTo>
                  <a:lnTo>
                    <a:pt x="863219" y="698119"/>
                  </a:lnTo>
                  <a:cubicBezTo>
                    <a:pt x="863219" y="789305"/>
                    <a:pt x="789305" y="863219"/>
                    <a:pt x="698119" y="863219"/>
                  </a:cubicBezTo>
                  <a:lnTo>
                    <a:pt x="698119" y="856869"/>
                  </a:lnTo>
                  <a:lnTo>
                    <a:pt x="698119" y="863219"/>
                  </a:lnTo>
                  <a:lnTo>
                    <a:pt x="165100" y="863219"/>
                  </a:lnTo>
                  <a:lnTo>
                    <a:pt x="165100" y="856869"/>
                  </a:lnTo>
                  <a:lnTo>
                    <a:pt x="165100" y="863219"/>
                  </a:lnTo>
                  <a:cubicBezTo>
                    <a:pt x="73914" y="863219"/>
                    <a:pt x="0" y="789305"/>
                    <a:pt x="0" y="698119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698119"/>
                  </a:lnTo>
                  <a:lnTo>
                    <a:pt x="6350" y="698119"/>
                  </a:lnTo>
                  <a:lnTo>
                    <a:pt x="12700" y="698119"/>
                  </a:lnTo>
                  <a:cubicBezTo>
                    <a:pt x="12700" y="782320"/>
                    <a:pt x="80899" y="850519"/>
                    <a:pt x="165100" y="850519"/>
                  </a:cubicBezTo>
                  <a:lnTo>
                    <a:pt x="698119" y="850519"/>
                  </a:lnTo>
                  <a:cubicBezTo>
                    <a:pt x="782320" y="850519"/>
                    <a:pt x="850519" y="782320"/>
                    <a:pt x="850519" y="698119"/>
                  </a:cubicBezTo>
                  <a:lnTo>
                    <a:pt x="850519" y="165100"/>
                  </a:lnTo>
                  <a:cubicBezTo>
                    <a:pt x="850519" y="80899"/>
                    <a:pt x="782320" y="12700"/>
                    <a:pt x="698119" y="12700"/>
                  </a:cubicBezTo>
                  <a:lnTo>
                    <a:pt x="165100" y="12700"/>
                  </a:lnTo>
                  <a:lnTo>
                    <a:pt x="165100" y="6350"/>
                  </a:lnTo>
                  <a:lnTo>
                    <a:pt x="165100" y="12700"/>
                  </a:lnTo>
                  <a:cubicBezTo>
                    <a:pt x="80899" y="12700"/>
                    <a:pt x="12700" y="80899"/>
                    <a:pt x="12700" y="165100"/>
                  </a:cubicBezTo>
                  <a:close/>
                </a:path>
              </a:pathLst>
            </a:custGeom>
            <a:solidFill>
              <a:srgbClr val="CECEC9"/>
            </a:solidFill>
          </p:spPr>
        </p:sp>
      </p:grpSp>
      <p:sp>
        <p:nvSpPr>
          <p:cNvPr id="17" name="TextBox 17">
            <a:extLst>
              <a:ext uri="{FF2B5EF4-FFF2-40B4-BE49-F238E27FC236}">
                <a16:creationId xmlns:a16="http://schemas.microsoft.com/office/drawing/2014/main" id="{69594FEE-F28F-CB1A-15E5-1A98B312DBE0}"/>
              </a:ext>
            </a:extLst>
          </p:cNvPr>
          <p:cNvSpPr txBox="1"/>
          <p:nvPr/>
        </p:nvSpPr>
        <p:spPr>
          <a:xfrm>
            <a:off x="1098575" y="5694607"/>
            <a:ext cx="425206" cy="4935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12"/>
              </a:lnSpc>
            </a:pPr>
            <a:r>
              <a:rPr lang="en-US" sz="3312">
                <a:solidFill>
                  <a:srgbClr val="272525"/>
                </a:solidFill>
                <a:latin typeface="Arimo"/>
                <a:ea typeface="Arimo"/>
                <a:cs typeface="Arimo"/>
                <a:sym typeface="Arimo"/>
              </a:rPr>
              <a:t>2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7C0A8246-2E9E-4276-9275-19C856A62CC3}"/>
              </a:ext>
            </a:extLst>
          </p:cNvPr>
          <p:cNvSpPr txBox="1"/>
          <p:nvPr/>
        </p:nvSpPr>
        <p:spPr>
          <a:xfrm>
            <a:off x="1913630" y="5662612"/>
            <a:ext cx="4585392" cy="4810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272525"/>
                </a:solidFill>
                <a:latin typeface="Arimo"/>
                <a:ea typeface="Arimo"/>
                <a:cs typeface="Arimo"/>
                <a:sym typeface="Arimo"/>
              </a:rPr>
              <a:t>Алгоритмы рекомендаций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681A8B21-6ADC-A97A-C28E-786D6DEE8E9D}"/>
              </a:ext>
            </a:extLst>
          </p:cNvPr>
          <p:cNvSpPr txBox="1"/>
          <p:nvPr/>
        </p:nvSpPr>
        <p:spPr>
          <a:xfrm>
            <a:off x="1913630" y="6218482"/>
            <a:ext cx="8524132" cy="10025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272525"/>
                </a:solidFill>
                <a:latin typeface="Lato"/>
                <a:ea typeface="Lato"/>
                <a:cs typeface="Lato"/>
                <a:sym typeface="Lato"/>
              </a:rPr>
              <a:t>Реализация алгоритмов Popular, By Categories, KNN и механизма объяснимости (explainability)</a:t>
            </a:r>
          </a:p>
        </p:txBody>
      </p:sp>
      <p:grpSp>
        <p:nvGrpSpPr>
          <p:cNvPr id="20" name="Group 20">
            <a:extLst>
              <a:ext uri="{FF2B5EF4-FFF2-40B4-BE49-F238E27FC236}">
                <a16:creationId xmlns:a16="http://schemas.microsoft.com/office/drawing/2014/main" id="{C0B8F399-EF53-5E48-72DE-D77B9C34A445}"/>
              </a:ext>
            </a:extLst>
          </p:cNvPr>
          <p:cNvGrpSpPr/>
          <p:nvPr/>
        </p:nvGrpSpPr>
        <p:grpSpPr>
          <a:xfrm>
            <a:off x="987476" y="7783268"/>
            <a:ext cx="647405" cy="647405"/>
            <a:chOff x="0" y="0"/>
            <a:chExt cx="863206" cy="863206"/>
          </a:xfrm>
        </p:grpSpPr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BC2941A7-417C-2DB2-6127-C71EF4913D7A}"/>
                </a:ext>
              </a:extLst>
            </p:cNvPr>
            <p:cNvSpPr/>
            <p:nvPr/>
          </p:nvSpPr>
          <p:spPr>
            <a:xfrm>
              <a:off x="6350" y="6350"/>
              <a:ext cx="850519" cy="850519"/>
            </a:xfrm>
            <a:custGeom>
              <a:avLst/>
              <a:gdLst/>
              <a:ahLst/>
              <a:cxnLst/>
              <a:rect l="l" t="t" r="r" b="b"/>
              <a:pathLst>
                <a:path w="850519" h="850519">
                  <a:moveTo>
                    <a:pt x="0" y="158750"/>
                  </a:moveTo>
                  <a:cubicBezTo>
                    <a:pt x="0" y="71120"/>
                    <a:pt x="71120" y="0"/>
                    <a:pt x="158750" y="0"/>
                  </a:cubicBezTo>
                  <a:lnTo>
                    <a:pt x="691769" y="0"/>
                  </a:lnTo>
                  <a:cubicBezTo>
                    <a:pt x="779399" y="0"/>
                    <a:pt x="850519" y="71120"/>
                    <a:pt x="850519" y="158750"/>
                  </a:cubicBezTo>
                  <a:lnTo>
                    <a:pt x="850519" y="691769"/>
                  </a:lnTo>
                  <a:cubicBezTo>
                    <a:pt x="850519" y="779399"/>
                    <a:pt x="779399" y="850519"/>
                    <a:pt x="691769" y="850519"/>
                  </a:cubicBezTo>
                  <a:lnTo>
                    <a:pt x="158750" y="850519"/>
                  </a:lnTo>
                  <a:cubicBezTo>
                    <a:pt x="71120" y="850519"/>
                    <a:pt x="0" y="779399"/>
                    <a:pt x="0" y="691769"/>
                  </a:cubicBezTo>
                  <a:close/>
                </a:path>
              </a:pathLst>
            </a:custGeom>
            <a:solidFill>
              <a:srgbClr val="E8E8E3"/>
            </a:solidFill>
          </p:spPr>
        </p:sp>
        <p:sp>
          <p:nvSpPr>
            <p:cNvPr id="22" name="Freeform 22">
              <a:extLst>
                <a:ext uri="{FF2B5EF4-FFF2-40B4-BE49-F238E27FC236}">
                  <a16:creationId xmlns:a16="http://schemas.microsoft.com/office/drawing/2014/main" id="{5739BDFE-B2F8-1A8D-1816-7932281BAF01}"/>
                </a:ext>
              </a:extLst>
            </p:cNvPr>
            <p:cNvSpPr/>
            <p:nvPr/>
          </p:nvSpPr>
          <p:spPr>
            <a:xfrm>
              <a:off x="0" y="0"/>
              <a:ext cx="863219" cy="863219"/>
            </a:xfrm>
            <a:custGeom>
              <a:avLst/>
              <a:gdLst/>
              <a:ahLst/>
              <a:cxnLst/>
              <a:rect l="l" t="t" r="r" b="b"/>
              <a:pathLst>
                <a:path w="863219" h="863219">
                  <a:moveTo>
                    <a:pt x="0" y="165100"/>
                  </a:moveTo>
                  <a:cubicBezTo>
                    <a:pt x="0" y="73914"/>
                    <a:pt x="73914" y="0"/>
                    <a:pt x="165100" y="0"/>
                  </a:cubicBezTo>
                  <a:lnTo>
                    <a:pt x="698119" y="0"/>
                  </a:lnTo>
                  <a:lnTo>
                    <a:pt x="698119" y="6350"/>
                  </a:lnTo>
                  <a:lnTo>
                    <a:pt x="698119" y="0"/>
                  </a:lnTo>
                  <a:lnTo>
                    <a:pt x="698119" y="6350"/>
                  </a:lnTo>
                  <a:lnTo>
                    <a:pt x="698119" y="0"/>
                  </a:lnTo>
                  <a:cubicBezTo>
                    <a:pt x="789305" y="0"/>
                    <a:pt x="863219" y="73914"/>
                    <a:pt x="863219" y="165100"/>
                  </a:cubicBezTo>
                  <a:lnTo>
                    <a:pt x="856869" y="165100"/>
                  </a:lnTo>
                  <a:lnTo>
                    <a:pt x="863219" y="165100"/>
                  </a:lnTo>
                  <a:lnTo>
                    <a:pt x="863219" y="698119"/>
                  </a:lnTo>
                  <a:lnTo>
                    <a:pt x="856869" y="698119"/>
                  </a:lnTo>
                  <a:lnTo>
                    <a:pt x="863219" y="698119"/>
                  </a:lnTo>
                  <a:cubicBezTo>
                    <a:pt x="863219" y="789305"/>
                    <a:pt x="789305" y="863219"/>
                    <a:pt x="698119" y="863219"/>
                  </a:cubicBezTo>
                  <a:lnTo>
                    <a:pt x="698119" y="856869"/>
                  </a:lnTo>
                  <a:lnTo>
                    <a:pt x="698119" y="863219"/>
                  </a:lnTo>
                  <a:lnTo>
                    <a:pt x="165100" y="863219"/>
                  </a:lnTo>
                  <a:lnTo>
                    <a:pt x="165100" y="856869"/>
                  </a:lnTo>
                  <a:lnTo>
                    <a:pt x="165100" y="863219"/>
                  </a:lnTo>
                  <a:cubicBezTo>
                    <a:pt x="73914" y="863219"/>
                    <a:pt x="0" y="789305"/>
                    <a:pt x="0" y="698119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698119"/>
                  </a:lnTo>
                  <a:lnTo>
                    <a:pt x="6350" y="698119"/>
                  </a:lnTo>
                  <a:lnTo>
                    <a:pt x="12700" y="698119"/>
                  </a:lnTo>
                  <a:cubicBezTo>
                    <a:pt x="12700" y="782320"/>
                    <a:pt x="80899" y="850519"/>
                    <a:pt x="165100" y="850519"/>
                  </a:cubicBezTo>
                  <a:lnTo>
                    <a:pt x="698119" y="850519"/>
                  </a:lnTo>
                  <a:cubicBezTo>
                    <a:pt x="782320" y="850519"/>
                    <a:pt x="850519" y="782320"/>
                    <a:pt x="850519" y="698119"/>
                  </a:cubicBezTo>
                  <a:lnTo>
                    <a:pt x="850519" y="165100"/>
                  </a:lnTo>
                  <a:cubicBezTo>
                    <a:pt x="850519" y="80899"/>
                    <a:pt x="782320" y="12700"/>
                    <a:pt x="698119" y="12700"/>
                  </a:cubicBezTo>
                  <a:lnTo>
                    <a:pt x="165100" y="12700"/>
                  </a:lnTo>
                  <a:lnTo>
                    <a:pt x="165100" y="6350"/>
                  </a:lnTo>
                  <a:lnTo>
                    <a:pt x="165100" y="12700"/>
                  </a:lnTo>
                  <a:cubicBezTo>
                    <a:pt x="80899" y="12700"/>
                    <a:pt x="12700" y="80899"/>
                    <a:pt x="12700" y="165100"/>
                  </a:cubicBezTo>
                  <a:close/>
                </a:path>
              </a:pathLst>
            </a:custGeom>
            <a:solidFill>
              <a:srgbClr val="CECEC9"/>
            </a:solidFill>
          </p:spPr>
        </p:sp>
      </p:grpSp>
      <p:sp>
        <p:nvSpPr>
          <p:cNvPr id="23" name="TextBox 23">
            <a:extLst>
              <a:ext uri="{FF2B5EF4-FFF2-40B4-BE49-F238E27FC236}">
                <a16:creationId xmlns:a16="http://schemas.microsoft.com/office/drawing/2014/main" id="{C7510559-F199-0EFC-4D8F-A98C592AEB2D}"/>
              </a:ext>
            </a:extLst>
          </p:cNvPr>
          <p:cNvSpPr txBox="1"/>
          <p:nvPr/>
        </p:nvSpPr>
        <p:spPr>
          <a:xfrm>
            <a:off x="1098575" y="7879261"/>
            <a:ext cx="425206" cy="4935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12"/>
              </a:lnSpc>
            </a:pPr>
            <a:r>
              <a:rPr lang="en-US" sz="3312">
                <a:solidFill>
                  <a:srgbClr val="272525"/>
                </a:solidFill>
                <a:latin typeface="Arimo"/>
                <a:ea typeface="Arimo"/>
                <a:cs typeface="Arimo"/>
                <a:sym typeface="Arimo"/>
              </a:rPr>
              <a:t>3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293002E1-FF7B-4848-BFAF-58319C9F1FCD}"/>
              </a:ext>
            </a:extLst>
          </p:cNvPr>
          <p:cNvSpPr txBox="1"/>
          <p:nvPr/>
        </p:nvSpPr>
        <p:spPr>
          <a:xfrm>
            <a:off x="1913630" y="7847257"/>
            <a:ext cx="4277916" cy="4810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272525"/>
                </a:solidFill>
                <a:latin typeface="Arimo"/>
                <a:ea typeface="Arimo"/>
                <a:cs typeface="Arimo"/>
                <a:sym typeface="Arimo"/>
              </a:rPr>
              <a:t>Клиентские приложения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4A8FE6C5-02D0-2AAE-B682-BC59F6196E99}"/>
              </a:ext>
            </a:extLst>
          </p:cNvPr>
          <p:cNvSpPr txBox="1"/>
          <p:nvPr/>
        </p:nvSpPr>
        <p:spPr>
          <a:xfrm>
            <a:off x="1913630" y="8403136"/>
            <a:ext cx="8524132" cy="10025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272525"/>
                </a:solidFill>
                <a:latin typeface="Lato"/>
                <a:ea typeface="Lato"/>
                <a:cs typeface="Lato"/>
                <a:sym typeface="Lato"/>
              </a:rPr>
              <a:t>Web-клиент (MVC) и WPF-клиент с пользовательским и административным функционалом</a:t>
            </a:r>
          </a:p>
        </p:txBody>
      </p:sp>
    </p:spTree>
    <p:extLst>
      <p:ext uri="{BB962C8B-B14F-4D97-AF65-F5344CB8AC3E}">
        <p14:creationId xmlns:p14="http://schemas.microsoft.com/office/powerpoint/2010/main" val="10333470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0" y="0"/>
            <a:ext cx="6858000" cy="10287000"/>
            <a:chOff x="0" y="0"/>
            <a:chExt cx="9144000" cy="13716000"/>
          </a:xfrm>
        </p:grpSpPr>
        <p:sp>
          <p:nvSpPr>
            <p:cNvPr id="7" name="Freeform 7" descr="preencoded.png"/>
            <p:cNvSpPr/>
            <p:nvPr/>
          </p:nvSpPr>
          <p:spPr>
            <a:xfrm>
              <a:off x="0" y="0"/>
              <a:ext cx="9144000" cy="13716000"/>
            </a:xfrm>
            <a:custGeom>
              <a:avLst/>
              <a:gdLst/>
              <a:ahLst/>
              <a:cxnLst/>
              <a:rect l="l" t="t" r="r" b="b"/>
              <a:pathLst>
                <a:path w="9144000" h="13716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sp>
        <p:nvSpPr>
          <p:cNvPr id="8" name="TextBox 8"/>
          <p:cNvSpPr txBox="1"/>
          <p:nvPr/>
        </p:nvSpPr>
        <p:spPr>
          <a:xfrm>
            <a:off x="7834760" y="784622"/>
            <a:ext cx="9476480" cy="1433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37"/>
              </a:lnSpc>
            </a:pPr>
            <a:r>
              <a:rPr lang="en-US" sz="4375">
                <a:solidFill>
                  <a:srgbClr val="312F2B"/>
                </a:solidFill>
                <a:latin typeface="Arimo"/>
                <a:ea typeface="Arimo"/>
                <a:cs typeface="Arimo"/>
                <a:sym typeface="Arimo"/>
              </a:rPr>
              <a:t>Система персональных рекомендаций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834760" y="2443753"/>
            <a:ext cx="9476480" cy="6765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1750">
                <a:solidFill>
                  <a:srgbClr val="272525"/>
                </a:solidFill>
                <a:latin typeface="Lato"/>
                <a:ea typeface="Lato"/>
                <a:cs typeface="Lato"/>
                <a:sym typeface="Lato"/>
              </a:rPr>
              <a:t>Проблема поиска релевантного контента становится острее с каждым годом. Без персонализации платформы теряют пользователей — и нам нужно это изменить.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7834760" y="3318119"/>
            <a:ext cx="2321566" cy="389334"/>
            <a:chOff x="0" y="0"/>
            <a:chExt cx="3095422" cy="519112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3095498" cy="519176"/>
            </a:xfrm>
            <a:custGeom>
              <a:avLst/>
              <a:gdLst/>
              <a:ahLst/>
              <a:cxnLst/>
              <a:rect l="l" t="t" r="r" b="b"/>
              <a:pathLst>
                <a:path w="3095498" h="519176">
                  <a:moveTo>
                    <a:pt x="0" y="100076"/>
                  </a:moveTo>
                  <a:cubicBezTo>
                    <a:pt x="0" y="44831"/>
                    <a:pt x="44831" y="0"/>
                    <a:pt x="100076" y="0"/>
                  </a:cubicBezTo>
                  <a:lnTo>
                    <a:pt x="2995422" y="0"/>
                  </a:lnTo>
                  <a:cubicBezTo>
                    <a:pt x="3050667" y="0"/>
                    <a:pt x="3095498" y="44831"/>
                    <a:pt x="3095498" y="100076"/>
                  </a:cubicBezTo>
                  <a:lnTo>
                    <a:pt x="3095498" y="419100"/>
                  </a:lnTo>
                  <a:cubicBezTo>
                    <a:pt x="3095498" y="474345"/>
                    <a:pt x="3050667" y="519176"/>
                    <a:pt x="2995422" y="519176"/>
                  </a:cubicBezTo>
                  <a:lnTo>
                    <a:pt x="100076" y="519176"/>
                  </a:lnTo>
                  <a:cubicBezTo>
                    <a:pt x="44831" y="519176"/>
                    <a:pt x="0" y="474345"/>
                    <a:pt x="0" y="419100"/>
                  </a:cubicBezTo>
                  <a:close/>
                </a:path>
              </a:pathLst>
            </a:custGeom>
            <a:solidFill>
              <a:srgbClr val="E8E8E3"/>
            </a:solidFill>
          </p:spPr>
        </p:sp>
      </p:grpSp>
      <p:sp>
        <p:nvSpPr>
          <p:cNvPr id="12" name="TextBox 12"/>
          <p:cNvSpPr txBox="1"/>
          <p:nvPr/>
        </p:nvSpPr>
        <p:spPr>
          <a:xfrm>
            <a:off x="7968701" y="3337474"/>
            <a:ext cx="2053676" cy="3030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00"/>
              </a:lnSpc>
            </a:pPr>
            <a:r>
              <a:rPr lang="en-US" sz="1375">
                <a:solidFill>
                  <a:srgbClr val="272525"/>
                </a:solidFill>
                <a:latin typeface="Lato"/>
                <a:ea typeface="Lato"/>
                <a:cs typeface="Lato"/>
                <a:sym typeface="Lato"/>
              </a:rPr>
              <a:t>ОПИСАНИЕ ПРОБЛЕМЫ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7829998" y="3900488"/>
            <a:ext cx="9486005" cy="1267416"/>
            <a:chOff x="0" y="0"/>
            <a:chExt cx="12648006" cy="1689887"/>
          </a:xfrm>
        </p:grpSpPr>
        <p:sp>
          <p:nvSpPr>
            <p:cNvPr id="14" name="Freeform 14"/>
            <p:cNvSpPr/>
            <p:nvPr/>
          </p:nvSpPr>
          <p:spPr>
            <a:xfrm>
              <a:off x="6350" y="6350"/>
              <a:ext cx="12635357" cy="1677289"/>
            </a:xfrm>
            <a:custGeom>
              <a:avLst/>
              <a:gdLst/>
              <a:ahLst/>
              <a:cxnLst/>
              <a:rect l="l" t="t" r="r" b="b"/>
              <a:pathLst>
                <a:path w="12635357" h="1677289">
                  <a:moveTo>
                    <a:pt x="0" y="125095"/>
                  </a:moveTo>
                  <a:cubicBezTo>
                    <a:pt x="0" y="56007"/>
                    <a:pt x="56388" y="0"/>
                    <a:pt x="125857" y="0"/>
                  </a:cubicBezTo>
                  <a:lnTo>
                    <a:pt x="12509500" y="0"/>
                  </a:lnTo>
                  <a:cubicBezTo>
                    <a:pt x="12578969" y="0"/>
                    <a:pt x="12635357" y="56007"/>
                    <a:pt x="12635357" y="125095"/>
                  </a:cubicBezTo>
                  <a:lnTo>
                    <a:pt x="12635357" y="1552194"/>
                  </a:lnTo>
                  <a:cubicBezTo>
                    <a:pt x="12635357" y="1621282"/>
                    <a:pt x="12578969" y="1677289"/>
                    <a:pt x="12509500" y="1677289"/>
                  </a:cubicBezTo>
                  <a:lnTo>
                    <a:pt x="125857" y="1677289"/>
                  </a:lnTo>
                  <a:cubicBezTo>
                    <a:pt x="56388" y="1677289"/>
                    <a:pt x="0" y="1621282"/>
                    <a:pt x="0" y="1552194"/>
                  </a:cubicBezTo>
                  <a:close/>
                </a:path>
              </a:pathLst>
            </a:custGeom>
            <a:solidFill>
              <a:srgbClr val="E8E8E3"/>
            </a:solidFill>
          </p:spPr>
        </p:sp>
        <p:sp>
          <p:nvSpPr>
            <p:cNvPr id="15" name="Freeform 15"/>
            <p:cNvSpPr/>
            <p:nvPr/>
          </p:nvSpPr>
          <p:spPr>
            <a:xfrm>
              <a:off x="0" y="0"/>
              <a:ext cx="12648057" cy="1689989"/>
            </a:xfrm>
            <a:custGeom>
              <a:avLst/>
              <a:gdLst/>
              <a:ahLst/>
              <a:cxnLst/>
              <a:rect l="l" t="t" r="r" b="b"/>
              <a:pathLst>
                <a:path w="12648057" h="1689989">
                  <a:moveTo>
                    <a:pt x="0" y="131445"/>
                  </a:moveTo>
                  <a:cubicBezTo>
                    <a:pt x="0" y="58801"/>
                    <a:pt x="59182" y="0"/>
                    <a:pt x="132207" y="0"/>
                  </a:cubicBezTo>
                  <a:lnTo>
                    <a:pt x="12515850" y="0"/>
                  </a:lnTo>
                  <a:lnTo>
                    <a:pt x="12515850" y="6350"/>
                  </a:lnTo>
                  <a:lnTo>
                    <a:pt x="12515850" y="0"/>
                  </a:lnTo>
                  <a:cubicBezTo>
                    <a:pt x="12588875" y="0"/>
                    <a:pt x="12648057" y="58801"/>
                    <a:pt x="12648057" y="131445"/>
                  </a:cubicBezTo>
                  <a:lnTo>
                    <a:pt x="12641707" y="131445"/>
                  </a:lnTo>
                  <a:lnTo>
                    <a:pt x="12648057" y="131445"/>
                  </a:lnTo>
                  <a:lnTo>
                    <a:pt x="12648057" y="1558544"/>
                  </a:lnTo>
                  <a:lnTo>
                    <a:pt x="12641707" y="1558544"/>
                  </a:lnTo>
                  <a:lnTo>
                    <a:pt x="12648057" y="1558544"/>
                  </a:lnTo>
                  <a:cubicBezTo>
                    <a:pt x="12648057" y="1631188"/>
                    <a:pt x="12588875" y="1689989"/>
                    <a:pt x="12515850" y="1689989"/>
                  </a:cubicBezTo>
                  <a:lnTo>
                    <a:pt x="12515850" y="1683639"/>
                  </a:lnTo>
                  <a:lnTo>
                    <a:pt x="12515850" y="1689989"/>
                  </a:lnTo>
                  <a:lnTo>
                    <a:pt x="132207" y="1689989"/>
                  </a:lnTo>
                  <a:lnTo>
                    <a:pt x="132207" y="1683639"/>
                  </a:lnTo>
                  <a:lnTo>
                    <a:pt x="132207" y="1689989"/>
                  </a:lnTo>
                  <a:cubicBezTo>
                    <a:pt x="59182" y="1689862"/>
                    <a:pt x="0" y="1631061"/>
                    <a:pt x="0" y="1558544"/>
                  </a:cubicBezTo>
                  <a:lnTo>
                    <a:pt x="0" y="131445"/>
                  </a:lnTo>
                  <a:lnTo>
                    <a:pt x="6350" y="131445"/>
                  </a:lnTo>
                  <a:lnTo>
                    <a:pt x="0" y="131445"/>
                  </a:lnTo>
                  <a:moveTo>
                    <a:pt x="12700" y="131445"/>
                  </a:moveTo>
                  <a:lnTo>
                    <a:pt x="12700" y="1558544"/>
                  </a:lnTo>
                  <a:lnTo>
                    <a:pt x="6350" y="1558544"/>
                  </a:lnTo>
                  <a:lnTo>
                    <a:pt x="12700" y="1558544"/>
                  </a:lnTo>
                  <a:cubicBezTo>
                    <a:pt x="12700" y="1624076"/>
                    <a:pt x="66167" y="1677289"/>
                    <a:pt x="132207" y="1677289"/>
                  </a:cubicBezTo>
                  <a:lnTo>
                    <a:pt x="12515850" y="1677289"/>
                  </a:lnTo>
                  <a:cubicBezTo>
                    <a:pt x="12581890" y="1677289"/>
                    <a:pt x="12635357" y="1624076"/>
                    <a:pt x="12635357" y="1558544"/>
                  </a:cubicBezTo>
                  <a:lnTo>
                    <a:pt x="12635357" y="131445"/>
                  </a:lnTo>
                  <a:cubicBezTo>
                    <a:pt x="12635357" y="65913"/>
                    <a:pt x="12581890" y="12700"/>
                    <a:pt x="12515850" y="12700"/>
                  </a:cubicBezTo>
                  <a:lnTo>
                    <a:pt x="132207" y="12700"/>
                  </a:lnTo>
                  <a:lnTo>
                    <a:pt x="132207" y="6350"/>
                  </a:lnTo>
                  <a:lnTo>
                    <a:pt x="132207" y="12700"/>
                  </a:lnTo>
                  <a:cubicBezTo>
                    <a:pt x="66167" y="12700"/>
                    <a:pt x="12700" y="65913"/>
                    <a:pt x="12700" y="131445"/>
                  </a:cubicBezTo>
                  <a:close/>
                </a:path>
              </a:pathLst>
            </a:custGeom>
            <a:solidFill>
              <a:srgbClr val="CECEC9"/>
            </a:solidFill>
          </p:spPr>
        </p:sp>
      </p:grpSp>
      <p:sp>
        <p:nvSpPr>
          <p:cNvPr id="16" name="TextBox 16"/>
          <p:cNvSpPr txBox="1"/>
          <p:nvPr/>
        </p:nvSpPr>
        <p:spPr>
          <a:xfrm>
            <a:off x="8067523" y="4118972"/>
            <a:ext cx="2790977" cy="3868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87"/>
              </a:lnSpc>
            </a:pPr>
            <a:r>
              <a:rPr lang="en-US" sz="2187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⏱</a:t>
            </a:r>
            <a:r>
              <a:rPr lang="en-US" sz="2187">
                <a:solidFill>
                  <a:srgbClr val="272525"/>
                </a:solidFill>
                <a:latin typeface="Arimo"/>
                <a:ea typeface="Arimo"/>
                <a:cs typeface="Arimo"/>
                <a:sym typeface="Arimo"/>
              </a:rPr>
              <a:t> Потеря времени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067523" y="4573038"/>
            <a:ext cx="9010945" cy="3573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1750">
                <a:solidFill>
                  <a:srgbClr val="272525"/>
                </a:solidFill>
                <a:latin typeface="Lato"/>
                <a:ea typeface="Lato"/>
                <a:cs typeface="Lato"/>
                <a:sym typeface="Lato"/>
              </a:rPr>
              <a:t>Пользователи тратят часы на поиск нужного контента вручную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7829998" y="5334152"/>
            <a:ext cx="9486005" cy="1267416"/>
            <a:chOff x="0" y="0"/>
            <a:chExt cx="12648006" cy="1689887"/>
          </a:xfrm>
        </p:grpSpPr>
        <p:sp>
          <p:nvSpPr>
            <p:cNvPr id="19" name="Freeform 19"/>
            <p:cNvSpPr/>
            <p:nvPr/>
          </p:nvSpPr>
          <p:spPr>
            <a:xfrm>
              <a:off x="6350" y="6350"/>
              <a:ext cx="12635357" cy="1677289"/>
            </a:xfrm>
            <a:custGeom>
              <a:avLst/>
              <a:gdLst/>
              <a:ahLst/>
              <a:cxnLst/>
              <a:rect l="l" t="t" r="r" b="b"/>
              <a:pathLst>
                <a:path w="12635357" h="1677289">
                  <a:moveTo>
                    <a:pt x="0" y="125095"/>
                  </a:moveTo>
                  <a:cubicBezTo>
                    <a:pt x="0" y="56007"/>
                    <a:pt x="56388" y="0"/>
                    <a:pt x="125857" y="0"/>
                  </a:cubicBezTo>
                  <a:lnTo>
                    <a:pt x="12509500" y="0"/>
                  </a:lnTo>
                  <a:cubicBezTo>
                    <a:pt x="12578969" y="0"/>
                    <a:pt x="12635357" y="56007"/>
                    <a:pt x="12635357" y="125095"/>
                  </a:cubicBezTo>
                  <a:lnTo>
                    <a:pt x="12635357" y="1552194"/>
                  </a:lnTo>
                  <a:cubicBezTo>
                    <a:pt x="12635357" y="1621282"/>
                    <a:pt x="12578969" y="1677289"/>
                    <a:pt x="12509500" y="1677289"/>
                  </a:cubicBezTo>
                  <a:lnTo>
                    <a:pt x="125857" y="1677289"/>
                  </a:lnTo>
                  <a:cubicBezTo>
                    <a:pt x="56388" y="1677289"/>
                    <a:pt x="0" y="1621282"/>
                    <a:pt x="0" y="1552194"/>
                  </a:cubicBezTo>
                  <a:close/>
                </a:path>
              </a:pathLst>
            </a:custGeom>
            <a:solidFill>
              <a:srgbClr val="E8E8E3"/>
            </a:solidFill>
          </p:spPr>
        </p:sp>
        <p:sp>
          <p:nvSpPr>
            <p:cNvPr id="20" name="Freeform 20"/>
            <p:cNvSpPr/>
            <p:nvPr/>
          </p:nvSpPr>
          <p:spPr>
            <a:xfrm>
              <a:off x="0" y="0"/>
              <a:ext cx="12648057" cy="1689989"/>
            </a:xfrm>
            <a:custGeom>
              <a:avLst/>
              <a:gdLst/>
              <a:ahLst/>
              <a:cxnLst/>
              <a:rect l="l" t="t" r="r" b="b"/>
              <a:pathLst>
                <a:path w="12648057" h="1689989">
                  <a:moveTo>
                    <a:pt x="0" y="131445"/>
                  </a:moveTo>
                  <a:cubicBezTo>
                    <a:pt x="0" y="58801"/>
                    <a:pt x="59182" y="0"/>
                    <a:pt x="132207" y="0"/>
                  </a:cubicBezTo>
                  <a:lnTo>
                    <a:pt x="12515850" y="0"/>
                  </a:lnTo>
                  <a:lnTo>
                    <a:pt x="12515850" y="6350"/>
                  </a:lnTo>
                  <a:lnTo>
                    <a:pt x="12515850" y="0"/>
                  </a:lnTo>
                  <a:cubicBezTo>
                    <a:pt x="12588875" y="0"/>
                    <a:pt x="12648057" y="58801"/>
                    <a:pt x="12648057" y="131445"/>
                  </a:cubicBezTo>
                  <a:lnTo>
                    <a:pt x="12641707" y="131445"/>
                  </a:lnTo>
                  <a:lnTo>
                    <a:pt x="12648057" y="131445"/>
                  </a:lnTo>
                  <a:lnTo>
                    <a:pt x="12648057" y="1558544"/>
                  </a:lnTo>
                  <a:lnTo>
                    <a:pt x="12641707" y="1558544"/>
                  </a:lnTo>
                  <a:lnTo>
                    <a:pt x="12648057" y="1558544"/>
                  </a:lnTo>
                  <a:cubicBezTo>
                    <a:pt x="12648057" y="1631188"/>
                    <a:pt x="12588875" y="1689989"/>
                    <a:pt x="12515850" y="1689989"/>
                  </a:cubicBezTo>
                  <a:lnTo>
                    <a:pt x="12515850" y="1683639"/>
                  </a:lnTo>
                  <a:lnTo>
                    <a:pt x="12515850" y="1689989"/>
                  </a:lnTo>
                  <a:lnTo>
                    <a:pt x="132207" y="1689989"/>
                  </a:lnTo>
                  <a:lnTo>
                    <a:pt x="132207" y="1683639"/>
                  </a:lnTo>
                  <a:lnTo>
                    <a:pt x="132207" y="1689989"/>
                  </a:lnTo>
                  <a:cubicBezTo>
                    <a:pt x="59182" y="1689862"/>
                    <a:pt x="0" y="1631061"/>
                    <a:pt x="0" y="1558544"/>
                  </a:cubicBezTo>
                  <a:lnTo>
                    <a:pt x="0" y="131445"/>
                  </a:lnTo>
                  <a:lnTo>
                    <a:pt x="6350" y="131445"/>
                  </a:lnTo>
                  <a:lnTo>
                    <a:pt x="0" y="131445"/>
                  </a:lnTo>
                  <a:moveTo>
                    <a:pt x="12700" y="131445"/>
                  </a:moveTo>
                  <a:lnTo>
                    <a:pt x="12700" y="1558544"/>
                  </a:lnTo>
                  <a:lnTo>
                    <a:pt x="6350" y="1558544"/>
                  </a:lnTo>
                  <a:lnTo>
                    <a:pt x="12700" y="1558544"/>
                  </a:lnTo>
                  <a:cubicBezTo>
                    <a:pt x="12700" y="1624076"/>
                    <a:pt x="66167" y="1677289"/>
                    <a:pt x="132207" y="1677289"/>
                  </a:cubicBezTo>
                  <a:lnTo>
                    <a:pt x="12515850" y="1677289"/>
                  </a:lnTo>
                  <a:cubicBezTo>
                    <a:pt x="12581890" y="1677289"/>
                    <a:pt x="12635357" y="1624076"/>
                    <a:pt x="12635357" y="1558544"/>
                  </a:cubicBezTo>
                  <a:lnTo>
                    <a:pt x="12635357" y="131445"/>
                  </a:lnTo>
                  <a:cubicBezTo>
                    <a:pt x="12635357" y="65913"/>
                    <a:pt x="12581890" y="12700"/>
                    <a:pt x="12515850" y="12700"/>
                  </a:cubicBezTo>
                  <a:lnTo>
                    <a:pt x="132207" y="12700"/>
                  </a:lnTo>
                  <a:lnTo>
                    <a:pt x="132207" y="6350"/>
                  </a:lnTo>
                  <a:lnTo>
                    <a:pt x="132207" y="12700"/>
                  </a:lnTo>
                  <a:cubicBezTo>
                    <a:pt x="66167" y="12700"/>
                    <a:pt x="12700" y="65913"/>
                    <a:pt x="12700" y="131445"/>
                  </a:cubicBezTo>
                  <a:close/>
                </a:path>
              </a:pathLst>
            </a:custGeom>
            <a:solidFill>
              <a:srgbClr val="CECEC9"/>
            </a:solidFill>
          </p:spPr>
        </p:sp>
      </p:grpSp>
      <p:sp>
        <p:nvSpPr>
          <p:cNvPr id="21" name="TextBox 21"/>
          <p:cNvSpPr txBox="1"/>
          <p:nvPr/>
        </p:nvSpPr>
        <p:spPr>
          <a:xfrm>
            <a:off x="8067523" y="5552627"/>
            <a:ext cx="3762375" cy="3868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87"/>
              </a:lnSpc>
            </a:pPr>
            <a:r>
              <a:rPr lang="en-US" sz="2187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📉</a:t>
            </a:r>
            <a:r>
              <a:rPr lang="en-US" sz="2187">
                <a:solidFill>
                  <a:srgbClr val="272525"/>
                </a:solidFill>
                <a:latin typeface="Arimo"/>
                <a:ea typeface="Arimo"/>
                <a:cs typeface="Arimo"/>
                <a:sym typeface="Arimo"/>
              </a:rPr>
              <a:t> Падение вовлечённости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067523" y="6006703"/>
            <a:ext cx="9010945" cy="3573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1750">
                <a:solidFill>
                  <a:srgbClr val="272525"/>
                </a:solidFill>
                <a:latin typeface="Lato"/>
                <a:ea typeface="Lato"/>
                <a:cs typeface="Lato"/>
                <a:sym typeface="Lato"/>
              </a:rPr>
              <a:t>Без персонализации снижаются удержание и активность аудитории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7829998" y="6767808"/>
            <a:ext cx="9486005" cy="1267416"/>
            <a:chOff x="0" y="0"/>
            <a:chExt cx="12648006" cy="1689887"/>
          </a:xfrm>
        </p:grpSpPr>
        <p:sp>
          <p:nvSpPr>
            <p:cNvPr id="24" name="Freeform 24"/>
            <p:cNvSpPr/>
            <p:nvPr/>
          </p:nvSpPr>
          <p:spPr>
            <a:xfrm>
              <a:off x="6350" y="6350"/>
              <a:ext cx="12635357" cy="1677289"/>
            </a:xfrm>
            <a:custGeom>
              <a:avLst/>
              <a:gdLst/>
              <a:ahLst/>
              <a:cxnLst/>
              <a:rect l="l" t="t" r="r" b="b"/>
              <a:pathLst>
                <a:path w="12635357" h="1677289">
                  <a:moveTo>
                    <a:pt x="0" y="125095"/>
                  </a:moveTo>
                  <a:cubicBezTo>
                    <a:pt x="0" y="56007"/>
                    <a:pt x="56388" y="0"/>
                    <a:pt x="125857" y="0"/>
                  </a:cubicBezTo>
                  <a:lnTo>
                    <a:pt x="12509500" y="0"/>
                  </a:lnTo>
                  <a:cubicBezTo>
                    <a:pt x="12578969" y="0"/>
                    <a:pt x="12635357" y="56007"/>
                    <a:pt x="12635357" y="125095"/>
                  </a:cubicBezTo>
                  <a:lnTo>
                    <a:pt x="12635357" y="1552194"/>
                  </a:lnTo>
                  <a:cubicBezTo>
                    <a:pt x="12635357" y="1621282"/>
                    <a:pt x="12578969" y="1677289"/>
                    <a:pt x="12509500" y="1677289"/>
                  </a:cubicBezTo>
                  <a:lnTo>
                    <a:pt x="125857" y="1677289"/>
                  </a:lnTo>
                  <a:cubicBezTo>
                    <a:pt x="56388" y="1677289"/>
                    <a:pt x="0" y="1621282"/>
                    <a:pt x="0" y="1552194"/>
                  </a:cubicBezTo>
                  <a:close/>
                </a:path>
              </a:pathLst>
            </a:custGeom>
            <a:solidFill>
              <a:srgbClr val="E8E8E3"/>
            </a:solidFill>
          </p:spPr>
        </p:sp>
        <p:sp>
          <p:nvSpPr>
            <p:cNvPr id="25" name="Freeform 25"/>
            <p:cNvSpPr/>
            <p:nvPr/>
          </p:nvSpPr>
          <p:spPr>
            <a:xfrm>
              <a:off x="0" y="0"/>
              <a:ext cx="12648057" cy="1689989"/>
            </a:xfrm>
            <a:custGeom>
              <a:avLst/>
              <a:gdLst/>
              <a:ahLst/>
              <a:cxnLst/>
              <a:rect l="l" t="t" r="r" b="b"/>
              <a:pathLst>
                <a:path w="12648057" h="1689989">
                  <a:moveTo>
                    <a:pt x="0" y="131445"/>
                  </a:moveTo>
                  <a:cubicBezTo>
                    <a:pt x="0" y="58801"/>
                    <a:pt x="59182" y="0"/>
                    <a:pt x="132207" y="0"/>
                  </a:cubicBezTo>
                  <a:lnTo>
                    <a:pt x="12515850" y="0"/>
                  </a:lnTo>
                  <a:lnTo>
                    <a:pt x="12515850" y="6350"/>
                  </a:lnTo>
                  <a:lnTo>
                    <a:pt x="12515850" y="0"/>
                  </a:lnTo>
                  <a:cubicBezTo>
                    <a:pt x="12588875" y="0"/>
                    <a:pt x="12648057" y="58801"/>
                    <a:pt x="12648057" y="131445"/>
                  </a:cubicBezTo>
                  <a:lnTo>
                    <a:pt x="12641707" y="131445"/>
                  </a:lnTo>
                  <a:lnTo>
                    <a:pt x="12648057" y="131445"/>
                  </a:lnTo>
                  <a:lnTo>
                    <a:pt x="12648057" y="1558544"/>
                  </a:lnTo>
                  <a:lnTo>
                    <a:pt x="12641707" y="1558544"/>
                  </a:lnTo>
                  <a:lnTo>
                    <a:pt x="12648057" y="1558544"/>
                  </a:lnTo>
                  <a:cubicBezTo>
                    <a:pt x="12648057" y="1631188"/>
                    <a:pt x="12588875" y="1689989"/>
                    <a:pt x="12515850" y="1689989"/>
                  </a:cubicBezTo>
                  <a:lnTo>
                    <a:pt x="12515850" y="1683639"/>
                  </a:lnTo>
                  <a:lnTo>
                    <a:pt x="12515850" y="1689989"/>
                  </a:lnTo>
                  <a:lnTo>
                    <a:pt x="132207" y="1689989"/>
                  </a:lnTo>
                  <a:lnTo>
                    <a:pt x="132207" y="1683639"/>
                  </a:lnTo>
                  <a:lnTo>
                    <a:pt x="132207" y="1689989"/>
                  </a:lnTo>
                  <a:cubicBezTo>
                    <a:pt x="59182" y="1689862"/>
                    <a:pt x="0" y="1631061"/>
                    <a:pt x="0" y="1558544"/>
                  </a:cubicBezTo>
                  <a:lnTo>
                    <a:pt x="0" y="131445"/>
                  </a:lnTo>
                  <a:lnTo>
                    <a:pt x="6350" y="131445"/>
                  </a:lnTo>
                  <a:lnTo>
                    <a:pt x="0" y="131445"/>
                  </a:lnTo>
                  <a:moveTo>
                    <a:pt x="12700" y="131445"/>
                  </a:moveTo>
                  <a:lnTo>
                    <a:pt x="12700" y="1558544"/>
                  </a:lnTo>
                  <a:lnTo>
                    <a:pt x="6350" y="1558544"/>
                  </a:lnTo>
                  <a:lnTo>
                    <a:pt x="12700" y="1558544"/>
                  </a:lnTo>
                  <a:cubicBezTo>
                    <a:pt x="12700" y="1624076"/>
                    <a:pt x="66167" y="1677289"/>
                    <a:pt x="132207" y="1677289"/>
                  </a:cubicBezTo>
                  <a:lnTo>
                    <a:pt x="12515850" y="1677289"/>
                  </a:lnTo>
                  <a:cubicBezTo>
                    <a:pt x="12581890" y="1677289"/>
                    <a:pt x="12635357" y="1624076"/>
                    <a:pt x="12635357" y="1558544"/>
                  </a:cubicBezTo>
                  <a:lnTo>
                    <a:pt x="12635357" y="131445"/>
                  </a:lnTo>
                  <a:cubicBezTo>
                    <a:pt x="12635357" y="65913"/>
                    <a:pt x="12581890" y="12700"/>
                    <a:pt x="12515850" y="12700"/>
                  </a:cubicBezTo>
                  <a:lnTo>
                    <a:pt x="132207" y="12700"/>
                  </a:lnTo>
                  <a:lnTo>
                    <a:pt x="132207" y="6350"/>
                  </a:lnTo>
                  <a:lnTo>
                    <a:pt x="132207" y="12700"/>
                  </a:lnTo>
                  <a:cubicBezTo>
                    <a:pt x="66167" y="12700"/>
                    <a:pt x="12700" y="65913"/>
                    <a:pt x="12700" y="131445"/>
                  </a:cubicBezTo>
                  <a:close/>
                </a:path>
              </a:pathLst>
            </a:custGeom>
            <a:solidFill>
              <a:srgbClr val="CECEC9"/>
            </a:solidFill>
          </p:spPr>
        </p:sp>
      </p:grpSp>
      <p:sp>
        <p:nvSpPr>
          <p:cNvPr id="26" name="TextBox 26"/>
          <p:cNvSpPr txBox="1"/>
          <p:nvPr/>
        </p:nvSpPr>
        <p:spPr>
          <a:xfrm>
            <a:off x="8067523" y="6986292"/>
            <a:ext cx="3509810" cy="3868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87"/>
              </a:lnSpc>
            </a:pPr>
            <a:r>
              <a:rPr lang="en-US" sz="2187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🚫</a:t>
            </a:r>
            <a:r>
              <a:rPr lang="en-US" sz="2187">
                <a:solidFill>
                  <a:srgbClr val="272525"/>
                </a:solidFill>
                <a:latin typeface="Arimo"/>
                <a:ea typeface="Arimo"/>
                <a:cs typeface="Arimo"/>
                <a:sym typeface="Arimo"/>
              </a:rPr>
              <a:t> Нет масштабирования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067523" y="7440368"/>
            <a:ext cx="9010945" cy="3573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1750">
                <a:solidFill>
                  <a:srgbClr val="272525"/>
                </a:solidFill>
                <a:latin typeface="Lato"/>
                <a:ea typeface="Lato"/>
                <a:cs typeface="Lato"/>
                <a:sym typeface="Lato"/>
              </a:rPr>
              <a:t>Ручная подборка контента не справляется с растущим объёмом</a:t>
            </a:r>
          </a:p>
        </p:txBody>
      </p:sp>
      <p:grpSp>
        <p:nvGrpSpPr>
          <p:cNvPr id="28" name="Group 28"/>
          <p:cNvGrpSpPr/>
          <p:nvPr/>
        </p:nvGrpSpPr>
        <p:grpSpPr>
          <a:xfrm>
            <a:off x="7829998" y="8201473"/>
            <a:ext cx="9486005" cy="1267416"/>
            <a:chOff x="0" y="0"/>
            <a:chExt cx="12648006" cy="1689887"/>
          </a:xfrm>
        </p:grpSpPr>
        <p:sp>
          <p:nvSpPr>
            <p:cNvPr id="29" name="Freeform 29"/>
            <p:cNvSpPr/>
            <p:nvPr/>
          </p:nvSpPr>
          <p:spPr>
            <a:xfrm>
              <a:off x="6350" y="6350"/>
              <a:ext cx="12635357" cy="1677289"/>
            </a:xfrm>
            <a:custGeom>
              <a:avLst/>
              <a:gdLst/>
              <a:ahLst/>
              <a:cxnLst/>
              <a:rect l="l" t="t" r="r" b="b"/>
              <a:pathLst>
                <a:path w="12635357" h="1677289">
                  <a:moveTo>
                    <a:pt x="0" y="125095"/>
                  </a:moveTo>
                  <a:cubicBezTo>
                    <a:pt x="0" y="56007"/>
                    <a:pt x="56388" y="0"/>
                    <a:pt x="125857" y="0"/>
                  </a:cubicBezTo>
                  <a:lnTo>
                    <a:pt x="12509500" y="0"/>
                  </a:lnTo>
                  <a:cubicBezTo>
                    <a:pt x="12578969" y="0"/>
                    <a:pt x="12635357" y="56007"/>
                    <a:pt x="12635357" y="125095"/>
                  </a:cubicBezTo>
                  <a:lnTo>
                    <a:pt x="12635357" y="1552194"/>
                  </a:lnTo>
                  <a:cubicBezTo>
                    <a:pt x="12635357" y="1621282"/>
                    <a:pt x="12578969" y="1677289"/>
                    <a:pt x="12509500" y="1677289"/>
                  </a:cubicBezTo>
                  <a:lnTo>
                    <a:pt x="125857" y="1677289"/>
                  </a:lnTo>
                  <a:cubicBezTo>
                    <a:pt x="56388" y="1677289"/>
                    <a:pt x="0" y="1621282"/>
                    <a:pt x="0" y="1552194"/>
                  </a:cubicBezTo>
                  <a:close/>
                </a:path>
              </a:pathLst>
            </a:custGeom>
            <a:solidFill>
              <a:srgbClr val="E8E8E3"/>
            </a:solidFill>
          </p:spPr>
        </p:sp>
        <p:sp>
          <p:nvSpPr>
            <p:cNvPr id="30" name="Freeform 30"/>
            <p:cNvSpPr/>
            <p:nvPr/>
          </p:nvSpPr>
          <p:spPr>
            <a:xfrm>
              <a:off x="0" y="0"/>
              <a:ext cx="12648057" cy="1689989"/>
            </a:xfrm>
            <a:custGeom>
              <a:avLst/>
              <a:gdLst/>
              <a:ahLst/>
              <a:cxnLst/>
              <a:rect l="l" t="t" r="r" b="b"/>
              <a:pathLst>
                <a:path w="12648057" h="1689989">
                  <a:moveTo>
                    <a:pt x="0" y="131445"/>
                  </a:moveTo>
                  <a:cubicBezTo>
                    <a:pt x="0" y="58801"/>
                    <a:pt x="59182" y="0"/>
                    <a:pt x="132207" y="0"/>
                  </a:cubicBezTo>
                  <a:lnTo>
                    <a:pt x="12515850" y="0"/>
                  </a:lnTo>
                  <a:lnTo>
                    <a:pt x="12515850" y="6350"/>
                  </a:lnTo>
                  <a:lnTo>
                    <a:pt x="12515850" y="0"/>
                  </a:lnTo>
                  <a:cubicBezTo>
                    <a:pt x="12588875" y="0"/>
                    <a:pt x="12648057" y="58801"/>
                    <a:pt x="12648057" y="131445"/>
                  </a:cubicBezTo>
                  <a:lnTo>
                    <a:pt x="12641707" y="131445"/>
                  </a:lnTo>
                  <a:lnTo>
                    <a:pt x="12648057" y="131445"/>
                  </a:lnTo>
                  <a:lnTo>
                    <a:pt x="12648057" y="1558544"/>
                  </a:lnTo>
                  <a:lnTo>
                    <a:pt x="12641707" y="1558544"/>
                  </a:lnTo>
                  <a:lnTo>
                    <a:pt x="12648057" y="1558544"/>
                  </a:lnTo>
                  <a:cubicBezTo>
                    <a:pt x="12648057" y="1631188"/>
                    <a:pt x="12588875" y="1689989"/>
                    <a:pt x="12515850" y="1689989"/>
                  </a:cubicBezTo>
                  <a:lnTo>
                    <a:pt x="12515850" y="1683639"/>
                  </a:lnTo>
                  <a:lnTo>
                    <a:pt x="12515850" y="1689989"/>
                  </a:lnTo>
                  <a:lnTo>
                    <a:pt x="132207" y="1689989"/>
                  </a:lnTo>
                  <a:lnTo>
                    <a:pt x="132207" y="1683639"/>
                  </a:lnTo>
                  <a:lnTo>
                    <a:pt x="132207" y="1689989"/>
                  </a:lnTo>
                  <a:cubicBezTo>
                    <a:pt x="59182" y="1689862"/>
                    <a:pt x="0" y="1631061"/>
                    <a:pt x="0" y="1558544"/>
                  </a:cubicBezTo>
                  <a:lnTo>
                    <a:pt x="0" y="131445"/>
                  </a:lnTo>
                  <a:lnTo>
                    <a:pt x="6350" y="131445"/>
                  </a:lnTo>
                  <a:lnTo>
                    <a:pt x="0" y="131445"/>
                  </a:lnTo>
                  <a:moveTo>
                    <a:pt x="12700" y="131445"/>
                  </a:moveTo>
                  <a:lnTo>
                    <a:pt x="12700" y="1558544"/>
                  </a:lnTo>
                  <a:lnTo>
                    <a:pt x="6350" y="1558544"/>
                  </a:lnTo>
                  <a:lnTo>
                    <a:pt x="12700" y="1558544"/>
                  </a:lnTo>
                  <a:cubicBezTo>
                    <a:pt x="12700" y="1624076"/>
                    <a:pt x="66167" y="1677289"/>
                    <a:pt x="132207" y="1677289"/>
                  </a:cubicBezTo>
                  <a:lnTo>
                    <a:pt x="12515850" y="1677289"/>
                  </a:lnTo>
                  <a:cubicBezTo>
                    <a:pt x="12581890" y="1677289"/>
                    <a:pt x="12635357" y="1624076"/>
                    <a:pt x="12635357" y="1558544"/>
                  </a:cubicBezTo>
                  <a:lnTo>
                    <a:pt x="12635357" y="131445"/>
                  </a:lnTo>
                  <a:cubicBezTo>
                    <a:pt x="12635357" y="65913"/>
                    <a:pt x="12581890" y="12700"/>
                    <a:pt x="12515850" y="12700"/>
                  </a:cubicBezTo>
                  <a:lnTo>
                    <a:pt x="132207" y="12700"/>
                  </a:lnTo>
                  <a:lnTo>
                    <a:pt x="132207" y="6350"/>
                  </a:lnTo>
                  <a:lnTo>
                    <a:pt x="132207" y="12700"/>
                  </a:lnTo>
                  <a:cubicBezTo>
                    <a:pt x="66167" y="12700"/>
                    <a:pt x="12700" y="65913"/>
                    <a:pt x="12700" y="131445"/>
                  </a:cubicBezTo>
                  <a:close/>
                </a:path>
              </a:pathLst>
            </a:custGeom>
            <a:solidFill>
              <a:srgbClr val="CECEC9"/>
            </a:solidFill>
          </p:spPr>
        </p:sp>
      </p:grpSp>
      <p:sp>
        <p:nvSpPr>
          <p:cNvPr id="31" name="TextBox 31"/>
          <p:cNvSpPr txBox="1"/>
          <p:nvPr/>
        </p:nvSpPr>
        <p:spPr>
          <a:xfrm>
            <a:off x="8067523" y="8419948"/>
            <a:ext cx="3444030" cy="3868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87"/>
              </a:lnSpc>
            </a:pPr>
            <a:r>
              <a:rPr lang="en-US" sz="2187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🤖</a:t>
            </a:r>
            <a:r>
              <a:rPr lang="en-US" sz="2187">
                <a:solidFill>
                  <a:srgbClr val="272525"/>
                </a:solidFill>
                <a:latin typeface="Arimo"/>
                <a:ea typeface="Arimo"/>
                <a:cs typeface="Arimo"/>
                <a:sym typeface="Arimo"/>
              </a:rPr>
              <a:t> Нужна автоматизация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8067523" y="8874023"/>
            <a:ext cx="9010945" cy="3573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1750">
                <a:solidFill>
                  <a:srgbClr val="272525"/>
                </a:solidFill>
                <a:latin typeface="Lato"/>
                <a:ea typeface="Lato"/>
                <a:cs typeface="Lato"/>
                <a:sym typeface="Lato"/>
              </a:rPr>
              <a:t>Требуется механизм рекомендаций на основе реального поведения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992238" y="824208"/>
            <a:ext cx="7916761" cy="9431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>
                <a:solidFill>
                  <a:srgbClr val="312F2B"/>
                </a:solidFill>
                <a:latin typeface="Arimo"/>
                <a:ea typeface="Arimo"/>
                <a:cs typeface="Arimo"/>
                <a:sym typeface="Arimo"/>
              </a:rPr>
              <a:t>Цель и задачи проекта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92238" y="2097291"/>
            <a:ext cx="9445523" cy="10025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 b="1">
                <a:solidFill>
                  <a:srgbClr val="272525"/>
                </a:solidFill>
                <a:latin typeface="Lato Bold"/>
                <a:ea typeface="Lato Bold"/>
                <a:cs typeface="Lato Bold"/>
                <a:sym typeface="Lato Bold"/>
              </a:rPr>
              <a:t>Цель:</a:t>
            </a:r>
            <a:r>
              <a:rPr lang="en-US" sz="2187">
                <a:solidFill>
                  <a:srgbClr val="272525"/>
                </a:solidFill>
                <a:latin typeface="Lato"/>
                <a:ea typeface="Lato"/>
                <a:cs typeface="Lato"/>
                <a:sym typeface="Lato"/>
              </a:rPr>
              <a:t> разработать систему, формирующую персональные рекомендации на основе истории действий пользователя.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987476" y="3413970"/>
            <a:ext cx="647405" cy="647405"/>
            <a:chOff x="0" y="0"/>
            <a:chExt cx="863206" cy="863206"/>
          </a:xfrm>
        </p:grpSpPr>
        <p:sp>
          <p:nvSpPr>
            <p:cNvPr id="9" name="Freeform 9"/>
            <p:cNvSpPr/>
            <p:nvPr/>
          </p:nvSpPr>
          <p:spPr>
            <a:xfrm>
              <a:off x="6350" y="6350"/>
              <a:ext cx="850519" cy="850519"/>
            </a:xfrm>
            <a:custGeom>
              <a:avLst/>
              <a:gdLst/>
              <a:ahLst/>
              <a:cxnLst/>
              <a:rect l="l" t="t" r="r" b="b"/>
              <a:pathLst>
                <a:path w="850519" h="850519">
                  <a:moveTo>
                    <a:pt x="0" y="158750"/>
                  </a:moveTo>
                  <a:cubicBezTo>
                    <a:pt x="0" y="71120"/>
                    <a:pt x="71120" y="0"/>
                    <a:pt x="158750" y="0"/>
                  </a:cubicBezTo>
                  <a:lnTo>
                    <a:pt x="691769" y="0"/>
                  </a:lnTo>
                  <a:cubicBezTo>
                    <a:pt x="779399" y="0"/>
                    <a:pt x="850519" y="71120"/>
                    <a:pt x="850519" y="158750"/>
                  </a:cubicBezTo>
                  <a:lnTo>
                    <a:pt x="850519" y="691769"/>
                  </a:lnTo>
                  <a:cubicBezTo>
                    <a:pt x="850519" y="779399"/>
                    <a:pt x="779399" y="850519"/>
                    <a:pt x="691769" y="850519"/>
                  </a:cubicBezTo>
                  <a:lnTo>
                    <a:pt x="158750" y="850519"/>
                  </a:lnTo>
                  <a:cubicBezTo>
                    <a:pt x="71120" y="850519"/>
                    <a:pt x="0" y="779399"/>
                    <a:pt x="0" y="691769"/>
                  </a:cubicBezTo>
                  <a:close/>
                </a:path>
              </a:pathLst>
            </a:custGeom>
            <a:solidFill>
              <a:srgbClr val="E8E8E3"/>
            </a:solidFill>
          </p:spPr>
        </p:sp>
        <p:sp>
          <p:nvSpPr>
            <p:cNvPr id="10" name="Freeform 10"/>
            <p:cNvSpPr/>
            <p:nvPr/>
          </p:nvSpPr>
          <p:spPr>
            <a:xfrm>
              <a:off x="0" y="0"/>
              <a:ext cx="863219" cy="863219"/>
            </a:xfrm>
            <a:custGeom>
              <a:avLst/>
              <a:gdLst/>
              <a:ahLst/>
              <a:cxnLst/>
              <a:rect l="l" t="t" r="r" b="b"/>
              <a:pathLst>
                <a:path w="863219" h="863219">
                  <a:moveTo>
                    <a:pt x="0" y="165100"/>
                  </a:moveTo>
                  <a:cubicBezTo>
                    <a:pt x="0" y="73914"/>
                    <a:pt x="73914" y="0"/>
                    <a:pt x="165100" y="0"/>
                  </a:cubicBezTo>
                  <a:lnTo>
                    <a:pt x="698119" y="0"/>
                  </a:lnTo>
                  <a:lnTo>
                    <a:pt x="698119" y="6350"/>
                  </a:lnTo>
                  <a:lnTo>
                    <a:pt x="698119" y="0"/>
                  </a:lnTo>
                  <a:lnTo>
                    <a:pt x="698119" y="6350"/>
                  </a:lnTo>
                  <a:lnTo>
                    <a:pt x="698119" y="0"/>
                  </a:lnTo>
                  <a:cubicBezTo>
                    <a:pt x="789305" y="0"/>
                    <a:pt x="863219" y="73914"/>
                    <a:pt x="863219" y="165100"/>
                  </a:cubicBezTo>
                  <a:lnTo>
                    <a:pt x="856869" y="165100"/>
                  </a:lnTo>
                  <a:lnTo>
                    <a:pt x="863219" y="165100"/>
                  </a:lnTo>
                  <a:lnTo>
                    <a:pt x="863219" y="698119"/>
                  </a:lnTo>
                  <a:lnTo>
                    <a:pt x="856869" y="698119"/>
                  </a:lnTo>
                  <a:lnTo>
                    <a:pt x="863219" y="698119"/>
                  </a:lnTo>
                  <a:cubicBezTo>
                    <a:pt x="863219" y="789305"/>
                    <a:pt x="789305" y="863219"/>
                    <a:pt x="698119" y="863219"/>
                  </a:cubicBezTo>
                  <a:lnTo>
                    <a:pt x="698119" y="856869"/>
                  </a:lnTo>
                  <a:lnTo>
                    <a:pt x="698119" y="863219"/>
                  </a:lnTo>
                  <a:lnTo>
                    <a:pt x="165100" y="863219"/>
                  </a:lnTo>
                  <a:lnTo>
                    <a:pt x="165100" y="856869"/>
                  </a:lnTo>
                  <a:lnTo>
                    <a:pt x="165100" y="863219"/>
                  </a:lnTo>
                  <a:cubicBezTo>
                    <a:pt x="73914" y="863219"/>
                    <a:pt x="0" y="789305"/>
                    <a:pt x="0" y="698119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698119"/>
                  </a:lnTo>
                  <a:lnTo>
                    <a:pt x="6350" y="698119"/>
                  </a:lnTo>
                  <a:lnTo>
                    <a:pt x="12700" y="698119"/>
                  </a:lnTo>
                  <a:cubicBezTo>
                    <a:pt x="12700" y="782320"/>
                    <a:pt x="80899" y="850519"/>
                    <a:pt x="165100" y="850519"/>
                  </a:cubicBezTo>
                  <a:lnTo>
                    <a:pt x="698119" y="850519"/>
                  </a:lnTo>
                  <a:cubicBezTo>
                    <a:pt x="782320" y="850519"/>
                    <a:pt x="850519" y="782320"/>
                    <a:pt x="850519" y="698119"/>
                  </a:cubicBezTo>
                  <a:lnTo>
                    <a:pt x="850519" y="165100"/>
                  </a:lnTo>
                  <a:cubicBezTo>
                    <a:pt x="850519" y="80899"/>
                    <a:pt x="782320" y="12700"/>
                    <a:pt x="698119" y="12700"/>
                  </a:cubicBezTo>
                  <a:lnTo>
                    <a:pt x="165100" y="12700"/>
                  </a:lnTo>
                  <a:lnTo>
                    <a:pt x="165100" y="6350"/>
                  </a:lnTo>
                  <a:lnTo>
                    <a:pt x="165100" y="12700"/>
                  </a:lnTo>
                  <a:cubicBezTo>
                    <a:pt x="80899" y="12700"/>
                    <a:pt x="12700" y="80899"/>
                    <a:pt x="12700" y="165100"/>
                  </a:cubicBezTo>
                  <a:close/>
                </a:path>
              </a:pathLst>
            </a:custGeom>
            <a:solidFill>
              <a:srgbClr val="CECEC9"/>
            </a:solidFill>
          </p:spPr>
        </p:sp>
      </p:grpSp>
      <p:sp>
        <p:nvSpPr>
          <p:cNvPr id="11" name="TextBox 11"/>
          <p:cNvSpPr txBox="1"/>
          <p:nvPr/>
        </p:nvSpPr>
        <p:spPr>
          <a:xfrm>
            <a:off x="1098575" y="3509962"/>
            <a:ext cx="425206" cy="4935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12"/>
              </a:lnSpc>
            </a:pPr>
            <a:r>
              <a:rPr lang="en-US" sz="3312">
                <a:solidFill>
                  <a:srgbClr val="272525"/>
                </a:solidFill>
                <a:latin typeface="Arimo"/>
                <a:ea typeface="Arimo"/>
                <a:cs typeface="Arimo"/>
                <a:sym typeface="Arimo"/>
              </a:rPr>
              <a:t>1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913630" y="3477968"/>
            <a:ext cx="4264666" cy="4810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272525"/>
                </a:solidFill>
                <a:latin typeface="Arimo"/>
                <a:ea typeface="Arimo"/>
                <a:cs typeface="Arimo"/>
                <a:sym typeface="Arimo"/>
              </a:rPr>
              <a:t>Backend-инфраструктура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913630" y="4033838"/>
            <a:ext cx="8524132" cy="10025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272525"/>
                </a:solidFill>
                <a:latin typeface="Lato"/>
                <a:ea typeface="Lato"/>
                <a:cs typeface="Lato"/>
                <a:sym typeface="Lato"/>
              </a:rPr>
              <a:t>Авторизация, ролевая модель, CRUD-операции, хранение и обработка действий пользователей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987476" y="5598614"/>
            <a:ext cx="647405" cy="647405"/>
            <a:chOff x="0" y="0"/>
            <a:chExt cx="863206" cy="863206"/>
          </a:xfrm>
        </p:grpSpPr>
        <p:sp>
          <p:nvSpPr>
            <p:cNvPr id="15" name="Freeform 15"/>
            <p:cNvSpPr/>
            <p:nvPr/>
          </p:nvSpPr>
          <p:spPr>
            <a:xfrm>
              <a:off x="6350" y="6350"/>
              <a:ext cx="850519" cy="850519"/>
            </a:xfrm>
            <a:custGeom>
              <a:avLst/>
              <a:gdLst/>
              <a:ahLst/>
              <a:cxnLst/>
              <a:rect l="l" t="t" r="r" b="b"/>
              <a:pathLst>
                <a:path w="850519" h="850519">
                  <a:moveTo>
                    <a:pt x="0" y="158750"/>
                  </a:moveTo>
                  <a:cubicBezTo>
                    <a:pt x="0" y="71120"/>
                    <a:pt x="71120" y="0"/>
                    <a:pt x="158750" y="0"/>
                  </a:cubicBezTo>
                  <a:lnTo>
                    <a:pt x="691769" y="0"/>
                  </a:lnTo>
                  <a:cubicBezTo>
                    <a:pt x="779399" y="0"/>
                    <a:pt x="850519" y="71120"/>
                    <a:pt x="850519" y="158750"/>
                  </a:cubicBezTo>
                  <a:lnTo>
                    <a:pt x="850519" y="691769"/>
                  </a:lnTo>
                  <a:cubicBezTo>
                    <a:pt x="850519" y="779399"/>
                    <a:pt x="779399" y="850519"/>
                    <a:pt x="691769" y="850519"/>
                  </a:cubicBezTo>
                  <a:lnTo>
                    <a:pt x="158750" y="850519"/>
                  </a:lnTo>
                  <a:cubicBezTo>
                    <a:pt x="71120" y="850519"/>
                    <a:pt x="0" y="779399"/>
                    <a:pt x="0" y="691769"/>
                  </a:cubicBezTo>
                  <a:close/>
                </a:path>
              </a:pathLst>
            </a:custGeom>
            <a:solidFill>
              <a:srgbClr val="E8E8E3"/>
            </a:solidFill>
          </p:spPr>
        </p:sp>
        <p:sp>
          <p:nvSpPr>
            <p:cNvPr id="16" name="Freeform 16"/>
            <p:cNvSpPr/>
            <p:nvPr/>
          </p:nvSpPr>
          <p:spPr>
            <a:xfrm>
              <a:off x="0" y="0"/>
              <a:ext cx="863219" cy="863219"/>
            </a:xfrm>
            <a:custGeom>
              <a:avLst/>
              <a:gdLst/>
              <a:ahLst/>
              <a:cxnLst/>
              <a:rect l="l" t="t" r="r" b="b"/>
              <a:pathLst>
                <a:path w="863219" h="863219">
                  <a:moveTo>
                    <a:pt x="0" y="165100"/>
                  </a:moveTo>
                  <a:cubicBezTo>
                    <a:pt x="0" y="73914"/>
                    <a:pt x="73914" y="0"/>
                    <a:pt x="165100" y="0"/>
                  </a:cubicBezTo>
                  <a:lnTo>
                    <a:pt x="698119" y="0"/>
                  </a:lnTo>
                  <a:lnTo>
                    <a:pt x="698119" y="6350"/>
                  </a:lnTo>
                  <a:lnTo>
                    <a:pt x="698119" y="0"/>
                  </a:lnTo>
                  <a:lnTo>
                    <a:pt x="698119" y="6350"/>
                  </a:lnTo>
                  <a:lnTo>
                    <a:pt x="698119" y="0"/>
                  </a:lnTo>
                  <a:cubicBezTo>
                    <a:pt x="789305" y="0"/>
                    <a:pt x="863219" y="73914"/>
                    <a:pt x="863219" y="165100"/>
                  </a:cubicBezTo>
                  <a:lnTo>
                    <a:pt x="856869" y="165100"/>
                  </a:lnTo>
                  <a:lnTo>
                    <a:pt x="863219" y="165100"/>
                  </a:lnTo>
                  <a:lnTo>
                    <a:pt x="863219" y="698119"/>
                  </a:lnTo>
                  <a:lnTo>
                    <a:pt x="856869" y="698119"/>
                  </a:lnTo>
                  <a:lnTo>
                    <a:pt x="863219" y="698119"/>
                  </a:lnTo>
                  <a:cubicBezTo>
                    <a:pt x="863219" y="789305"/>
                    <a:pt x="789305" y="863219"/>
                    <a:pt x="698119" y="863219"/>
                  </a:cubicBezTo>
                  <a:lnTo>
                    <a:pt x="698119" y="856869"/>
                  </a:lnTo>
                  <a:lnTo>
                    <a:pt x="698119" y="863219"/>
                  </a:lnTo>
                  <a:lnTo>
                    <a:pt x="165100" y="863219"/>
                  </a:lnTo>
                  <a:lnTo>
                    <a:pt x="165100" y="856869"/>
                  </a:lnTo>
                  <a:lnTo>
                    <a:pt x="165100" y="863219"/>
                  </a:lnTo>
                  <a:cubicBezTo>
                    <a:pt x="73914" y="863219"/>
                    <a:pt x="0" y="789305"/>
                    <a:pt x="0" y="698119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698119"/>
                  </a:lnTo>
                  <a:lnTo>
                    <a:pt x="6350" y="698119"/>
                  </a:lnTo>
                  <a:lnTo>
                    <a:pt x="12700" y="698119"/>
                  </a:lnTo>
                  <a:cubicBezTo>
                    <a:pt x="12700" y="782320"/>
                    <a:pt x="80899" y="850519"/>
                    <a:pt x="165100" y="850519"/>
                  </a:cubicBezTo>
                  <a:lnTo>
                    <a:pt x="698119" y="850519"/>
                  </a:lnTo>
                  <a:cubicBezTo>
                    <a:pt x="782320" y="850519"/>
                    <a:pt x="850519" y="782320"/>
                    <a:pt x="850519" y="698119"/>
                  </a:cubicBezTo>
                  <a:lnTo>
                    <a:pt x="850519" y="165100"/>
                  </a:lnTo>
                  <a:cubicBezTo>
                    <a:pt x="850519" y="80899"/>
                    <a:pt x="782320" y="12700"/>
                    <a:pt x="698119" y="12700"/>
                  </a:cubicBezTo>
                  <a:lnTo>
                    <a:pt x="165100" y="12700"/>
                  </a:lnTo>
                  <a:lnTo>
                    <a:pt x="165100" y="6350"/>
                  </a:lnTo>
                  <a:lnTo>
                    <a:pt x="165100" y="12700"/>
                  </a:lnTo>
                  <a:cubicBezTo>
                    <a:pt x="80899" y="12700"/>
                    <a:pt x="12700" y="80899"/>
                    <a:pt x="12700" y="165100"/>
                  </a:cubicBezTo>
                  <a:close/>
                </a:path>
              </a:pathLst>
            </a:custGeom>
            <a:solidFill>
              <a:srgbClr val="CECEC9"/>
            </a:solidFill>
          </p:spPr>
        </p:sp>
      </p:grpSp>
      <p:sp>
        <p:nvSpPr>
          <p:cNvPr id="17" name="TextBox 17"/>
          <p:cNvSpPr txBox="1"/>
          <p:nvPr/>
        </p:nvSpPr>
        <p:spPr>
          <a:xfrm>
            <a:off x="1098575" y="5694607"/>
            <a:ext cx="425206" cy="4935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12"/>
              </a:lnSpc>
            </a:pPr>
            <a:r>
              <a:rPr lang="en-US" sz="3312">
                <a:solidFill>
                  <a:srgbClr val="272525"/>
                </a:solidFill>
                <a:latin typeface="Arimo"/>
                <a:ea typeface="Arimo"/>
                <a:cs typeface="Arimo"/>
                <a:sym typeface="Arimo"/>
              </a:rPr>
              <a:t>2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913630" y="5662612"/>
            <a:ext cx="4585392" cy="4810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272525"/>
                </a:solidFill>
                <a:latin typeface="Arimo"/>
                <a:ea typeface="Arimo"/>
                <a:cs typeface="Arimo"/>
                <a:sym typeface="Arimo"/>
              </a:rPr>
              <a:t>Алгоритмы рекомендаций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913630" y="6218482"/>
            <a:ext cx="8524132" cy="10025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272525"/>
                </a:solidFill>
                <a:latin typeface="Lato"/>
                <a:ea typeface="Lato"/>
                <a:cs typeface="Lato"/>
                <a:sym typeface="Lato"/>
              </a:rPr>
              <a:t>Реализация алгоритмов Popular, By Categories, KNN и механизма объяснимости (explainability)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987476" y="7783268"/>
            <a:ext cx="647405" cy="647405"/>
            <a:chOff x="0" y="0"/>
            <a:chExt cx="863206" cy="863206"/>
          </a:xfrm>
        </p:grpSpPr>
        <p:sp>
          <p:nvSpPr>
            <p:cNvPr id="21" name="Freeform 21"/>
            <p:cNvSpPr/>
            <p:nvPr/>
          </p:nvSpPr>
          <p:spPr>
            <a:xfrm>
              <a:off x="6350" y="6350"/>
              <a:ext cx="850519" cy="850519"/>
            </a:xfrm>
            <a:custGeom>
              <a:avLst/>
              <a:gdLst/>
              <a:ahLst/>
              <a:cxnLst/>
              <a:rect l="l" t="t" r="r" b="b"/>
              <a:pathLst>
                <a:path w="850519" h="850519">
                  <a:moveTo>
                    <a:pt x="0" y="158750"/>
                  </a:moveTo>
                  <a:cubicBezTo>
                    <a:pt x="0" y="71120"/>
                    <a:pt x="71120" y="0"/>
                    <a:pt x="158750" y="0"/>
                  </a:cubicBezTo>
                  <a:lnTo>
                    <a:pt x="691769" y="0"/>
                  </a:lnTo>
                  <a:cubicBezTo>
                    <a:pt x="779399" y="0"/>
                    <a:pt x="850519" y="71120"/>
                    <a:pt x="850519" y="158750"/>
                  </a:cubicBezTo>
                  <a:lnTo>
                    <a:pt x="850519" y="691769"/>
                  </a:lnTo>
                  <a:cubicBezTo>
                    <a:pt x="850519" y="779399"/>
                    <a:pt x="779399" y="850519"/>
                    <a:pt x="691769" y="850519"/>
                  </a:cubicBezTo>
                  <a:lnTo>
                    <a:pt x="158750" y="850519"/>
                  </a:lnTo>
                  <a:cubicBezTo>
                    <a:pt x="71120" y="850519"/>
                    <a:pt x="0" y="779399"/>
                    <a:pt x="0" y="691769"/>
                  </a:cubicBezTo>
                  <a:close/>
                </a:path>
              </a:pathLst>
            </a:custGeom>
            <a:solidFill>
              <a:srgbClr val="E8E8E3"/>
            </a:solidFill>
          </p:spPr>
        </p:sp>
        <p:sp>
          <p:nvSpPr>
            <p:cNvPr id="22" name="Freeform 22"/>
            <p:cNvSpPr/>
            <p:nvPr/>
          </p:nvSpPr>
          <p:spPr>
            <a:xfrm>
              <a:off x="0" y="0"/>
              <a:ext cx="863219" cy="863219"/>
            </a:xfrm>
            <a:custGeom>
              <a:avLst/>
              <a:gdLst/>
              <a:ahLst/>
              <a:cxnLst/>
              <a:rect l="l" t="t" r="r" b="b"/>
              <a:pathLst>
                <a:path w="863219" h="863219">
                  <a:moveTo>
                    <a:pt x="0" y="165100"/>
                  </a:moveTo>
                  <a:cubicBezTo>
                    <a:pt x="0" y="73914"/>
                    <a:pt x="73914" y="0"/>
                    <a:pt x="165100" y="0"/>
                  </a:cubicBezTo>
                  <a:lnTo>
                    <a:pt x="698119" y="0"/>
                  </a:lnTo>
                  <a:lnTo>
                    <a:pt x="698119" y="6350"/>
                  </a:lnTo>
                  <a:lnTo>
                    <a:pt x="698119" y="0"/>
                  </a:lnTo>
                  <a:lnTo>
                    <a:pt x="698119" y="6350"/>
                  </a:lnTo>
                  <a:lnTo>
                    <a:pt x="698119" y="0"/>
                  </a:lnTo>
                  <a:cubicBezTo>
                    <a:pt x="789305" y="0"/>
                    <a:pt x="863219" y="73914"/>
                    <a:pt x="863219" y="165100"/>
                  </a:cubicBezTo>
                  <a:lnTo>
                    <a:pt x="856869" y="165100"/>
                  </a:lnTo>
                  <a:lnTo>
                    <a:pt x="863219" y="165100"/>
                  </a:lnTo>
                  <a:lnTo>
                    <a:pt x="863219" y="698119"/>
                  </a:lnTo>
                  <a:lnTo>
                    <a:pt x="856869" y="698119"/>
                  </a:lnTo>
                  <a:lnTo>
                    <a:pt x="863219" y="698119"/>
                  </a:lnTo>
                  <a:cubicBezTo>
                    <a:pt x="863219" y="789305"/>
                    <a:pt x="789305" y="863219"/>
                    <a:pt x="698119" y="863219"/>
                  </a:cubicBezTo>
                  <a:lnTo>
                    <a:pt x="698119" y="856869"/>
                  </a:lnTo>
                  <a:lnTo>
                    <a:pt x="698119" y="863219"/>
                  </a:lnTo>
                  <a:lnTo>
                    <a:pt x="165100" y="863219"/>
                  </a:lnTo>
                  <a:lnTo>
                    <a:pt x="165100" y="856869"/>
                  </a:lnTo>
                  <a:lnTo>
                    <a:pt x="165100" y="863219"/>
                  </a:lnTo>
                  <a:cubicBezTo>
                    <a:pt x="73914" y="863219"/>
                    <a:pt x="0" y="789305"/>
                    <a:pt x="0" y="698119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698119"/>
                  </a:lnTo>
                  <a:lnTo>
                    <a:pt x="6350" y="698119"/>
                  </a:lnTo>
                  <a:lnTo>
                    <a:pt x="12700" y="698119"/>
                  </a:lnTo>
                  <a:cubicBezTo>
                    <a:pt x="12700" y="782320"/>
                    <a:pt x="80899" y="850519"/>
                    <a:pt x="165100" y="850519"/>
                  </a:cubicBezTo>
                  <a:lnTo>
                    <a:pt x="698119" y="850519"/>
                  </a:lnTo>
                  <a:cubicBezTo>
                    <a:pt x="782320" y="850519"/>
                    <a:pt x="850519" y="782320"/>
                    <a:pt x="850519" y="698119"/>
                  </a:cubicBezTo>
                  <a:lnTo>
                    <a:pt x="850519" y="165100"/>
                  </a:lnTo>
                  <a:cubicBezTo>
                    <a:pt x="850519" y="80899"/>
                    <a:pt x="782320" y="12700"/>
                    <a:pt x="698119" y="12700"/>
                  </a:cubicBezTo>
                  <a:lnTo>
                    <a:pt x="165100" y="12700"/>
                  </a:lnTo>
                  <a:lnTo>
                    <a:pt x="165100" y="6350"/>
                  </a:lnTo>
                  <a:lnTo>
                    <a:pt x="165100" y="12700"/>
                  </a:lnTo>
                  <a:cubicBezTo>
                    <a:pt x="80899" y="12700"/>
                    <a:pt x="12700" y="80899"/>
                    <a:pt x="12700" y="165100"/>
                  </a:cubicBezTo>
                  <a:close/>
                </a:path>
              </a:pathLst>
            </a:custGeom>
            <a:solidFill>
              <a:srgbClr val="CECEC9"/>
            </a:solidFill>
          </p:spPr>
        </p:sp>
      </p:grpSp>
      <p:sp>
        <p:nvSpPr>
          <p:cNvPr id="23" name="TextBox 23"/>
          <p:cNvSpPr txBox="1"/>
          <p:nvPr/>
        </p:nvSpPr>
        <p:spPr>
          <a:xfrm>
            <a:off x="1098575" y="7879261"/>
            <a:ext cx="425206" cy="4935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12"/>
              </a:lnSpc>
            </a:pPr>
            <a:r>
              <a:rPr lang="en-US" sz="3312">
                <a:solidFill>
                  <a:srgbClr val="272525"/>
                </a:solidFill>
                <a:latin typeface="Arimo"/>
                <a:ea typeface="Arimo"/>
                <a:cs typeface="Arimo"/>
                <a:sym typeface="Arimo"/>
              </a:rPr>
              <a:t>3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913630" y="7847257"/>
            <a:ext cx="4277916" cy="4810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272525"/>
                </a:solidFill>
                <a:latin typeface="Arimo"/>
                <a:ea typeface="Arimo"/>
                <a:cs typeface="Arimo"/>
                <a:sym typeface="Arimo"/>
              </a:rPr>
              <a:t>Клиентские приложения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913630" y="8403136"/>
            <a:ext cx="8524132" cy="10025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272525"/>
                </a:solidFill>
                <a:latin typeface="Lato"/>
                <a:ea typeface="Lato"/>
                <a:cs typeface="Lato"/>
                <a:sym typeface="Lato"/>
              </a:rPr>
              <a:t>Web-клиент (MVC) и WPF-клиент с пользовательским и административным функционалом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496042" y="351682"/>
            <a:ext cx="7962157" cy="4360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3600" dirty="0" err="1">
                <a:solidFill>
                  <a:srgbClr val="312F2B"/>
                </a:solidFill>
                <a:latin typeface="Arimo"/>
                <a:ea typeface="Arimo"/>
                <a:cs typeface="Arimo"/>
                <a:sym typeface="Arimo"/>
              </a:rPr>
              <a:t>Актуальность</a:t>
            </a:r>
            <a:r>
              <a:rPr lang="en-US" sz="3600" dirty="0">
                <a:solidFill>
                  <a:srgbClr val="312F2B"/>
                </a:solidFill>
                <a:latin typeface="Arimo"/>
                <a:ea typeface="Arimo"/>
                <a:cs typeface="Arimo"/>
                <a:sym typeface="Arimo"/>
              </a:rPr>
              <a:t> и </a:t>
            </a:r>
            <a:r>
              <a:rPr lang="en-US" sz="3600" dirty="0" err="1">
                <a:solidFill>
                  <a:srgbClr val="312F2B"/>
                </a:solidFill>
                <a:latin typeface="Arimo"/>
                <a:ea typeface="Arimo"/>
                <a:cs typeface="Arimo"/>
                <a:sym typeface="Arimo"/>
              </a:rPr>
              <a:t>целевая</a:t>
            </a:r>
            <a:r>
              <a:rPr lang="en-US" sz="3600" dirty="0">
                <a:solidFill>
                  <a:srgbClr val="312F2B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3600" dirty="0" err="1">
                <a:solidFill>
                  <a:srgbClr val="312F2B"/>
                </a:solidFill>
                <a:latin typeface="Arimo"/>
                <a:ea typeface="Arimo"/>
                <a:cs typeface="Arimo"/>
                <a:sym typeface="Arimo"/>
              </a:rPr>
              <a:t>аудитория</a:t>
            </a:r>
            <a:endParaRPr lang="en-US" sz="3600" dirty="0">
              <a:solidFill>
                <a:srgbClr val="312F2B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496043" y="2434254"/>
            <a:ext cx="4635019" cy="17325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sz="4000" dirty="0" err="1">
                <a:solidFill>
                  <a:srgbClr val="312F2B"/>
                </a:solidFill>
                <a:latin typeface="Arimo"/>
                <a:ea typeface="Arimo"/>
                <a:cs typeface="Arimo"/>
                <a:sym typeface="Arimo"/>
              </a:rPr>
              <a:t>Почему</a:t>
            </a:r>
            <a:r>
              <a:rPr lang="en-US" sz="4000" dirty="0">
                <a:solidFill>
                  <a:srgbClr val="312F2B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4000" dirty="0" err="1">
                <a:solidFill>
                  <a:srgbClr val="312F2B"/>
                </a:solidFill>
                <a:latin typeface="Arimo"/>
                <a:ea typeface="Arimo"/>
                <a:cs typeface="Arimo"/>
                <a:sym typeface="Arimo"/>
              </a:rPr>
              <a:t>это</a:t>
            </a:r>
            <a:r>
              <a:rPr lang="en-US" sz="4000" dirty="0">
                <a:solidFill>
                  <a:srgbClr val="312F2B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4000" dirty="0" err="1">
                <a:solidFill>
                  <a:srgbClr val="312F2B"/>
                </a:solidFill>
                <a:latin typeface="Arimo"/>
                <a:ea typeface="Arimo"/>
                <a:cs typeface="Arimo"/>
                <a:sym typeface="Arimo"/>
              </a:rPr>
              <a:t>важно</a:t>
            </a:r>
            <a:r>
              <a:rPr lang="en-US" sz="4000" dirty="0">
                <a:solidFill>
                  <a:srgbClr val="312F2B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4000" dirty="0" err="1">
                <a:solidFill>
                  <a:srgbClr val="312F2B"/>
                </a:solidFill>
                <a:latin typeface="Arimo"/>
                <a:ea typeface="Arimo"/>
                <a:cs typeface="Arimo"/>
                <a:sym typeface="Arimo"/>
              </a:rPr>
              <a:t>сейчас</a:t>
            </a:r>
            <a:endParaRPr lang="en-US" sz="4000" dirty="0">
              <a:solidFill>
                <a:srgbClr val="312F2B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425720" y="4479078"/>
            <a:ext cx="8475021" cy="43347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sz="3200" dirty="0">
                <a:solidFill>
                  <a:srgbClr val="272525"/>
                </a:solidFill>
                <a:latin typeface="Lato"/>
                <a:ea typeface="Lato"/>
                <a:cs typeface="Lato"/>
                <a:sym typeface="Lato"/>
              </a:rPr>
              <a:t>Объём </a:t>
            </a:r>
            <a:r>
              <a:rPr lang="en-US" sz="3200" dirty="0" err="1">
                <a:solidFill>
                  <a:srgbClr val="272525"/>
                </a:solidFill>
                <a:latin typeface="Lato"/>
                <a:ea typeface="Lato"/>
                <a:cs typeface="Lato"/>
                <a:sym typeface="Lato"/>
              </a:rPr>
              <a:t>цифрового</a:t>
            </a:r>
            <a:r>
              <a:rPr lang="en-US" sz="3200" dirty="0">
                <a:solidFill>
                  <a:srgbClr val="27252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3200" dirty="0" err="1">
                <a:solidFill>
                  <a:srgbClr val="272525"/>
                </a:solidFill>
                <a:latin typeface="Lato"/>
                <a:ea typeface="Lato"/>
                <a:cs typeface="Lato"/>
                <a:sym typeface="Lato"/>
              </a:rPr>
              <a:t>контента</a:t>
            </a:r>
            <a:r>
              <a:rPr lang="en-US" sz="3200" dirty="0">
                <a:solidFill>
                  <a:srgbClr val="27252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3200" dirty="0" err="1">
                <a:solidFill>
                  <a:srgbClr val="272525"/>
                </a:solidFill>
                <a:latin typeface="Lato"/>
                <a:ea typeface="Lato"/>
                <a:cs typeface="Lato"/>
                <a:sym typeface="Lato"/>
              </a:rPr>
              <a:t>растёт</a:t>
            </a:r>
            <a:r>
              <a:rPr lang="en-US" sz="3200" dirty="0">
                <a:solidFill>
                  <a:srgbClr val="27252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3200" dirty="0" err="1">
                <a:solidFill>
                  <a:srgbClr val="272525"/>
                </a:solidFill>
                <a:latin typeface="Lato"/>
                <a:ea typeface="Lato"/>
                <a:cs typeface="Lato"/>
                <a:sym typeface="Lato"/>
              </a:rPr>
              <a:t>экспоненциально</a:t>
            </a:r>
            <a:r>
              <a:rPr lang="en-US" sz="3200" dirty="0">
                <a:solidFill>
                  <a:srgbClr val="272525"/>
                </a:solidFill>
                <a:latin typeface="Lato"/>
                <a:ea typeface="Lato"/>
                <a:cs typeface="Lato"/>
                <a:sym typeface="Lato"/>
              </a:rPr>
              <a:t>. </a:t>
            </a:r>
            <a:r>
              <a:rPr lang="en-US" sz="3200" dirty="0" err="1">
                <a:solidFill>
                  <a:srgbClr val="272525"/>
                </a:solidFill>
                <a:latin typeface="Lato"/>
                <a:ea typeface="Lato"/>
                <a:cs typeface="Lato"/>
                <a:sym typeface="Lato"/>
              </a:rPr>
              <a:t>Платформы</a:t>
            </a:r>
            <a:r>
              <a:rPr lang="en-US" sz="3200" dirty="0">
                <a:solidFill>
                  <a:srgbClr val="272525"/>
                </a:solidFill>
                <a:latin typeface="Lato"/>
                <a:ea typeface="Lato"/>
                <a:cs typeface="Lato"/>
                <a:sym typeface="Lato"/>
              </a:rPr>
              <a:t>, </a:t>
            </a:r>
            <a:r>
              <a:rPr lang="en-US" sz="3200" dirty="0" err="1">
                <a:solidFill>
                  <a:srgbClr val="272525"/>
                </a:solidFill>
                <a:latin typeface="Lato"/>
                <a:ea typeface="Lato"/>
                <a:cs typeface="Lato"/>
                <a:sym typeface="Lato"/>
              </a:rPr>
              <a:t>не</a:t>
            </a:r>
            <a:r>
              <a:rPr lang="en-US" sz="3200" dirty="0">
                <a:solidFill>
                  <a:srgbClr val="27252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3200" dirty="0" err="1">
                <a:solidFill>
                  <a:srgbClr val="272525"/>
                </a:solidFill>
                <a:latin typeface="Lato"/>
                <a:ea typeface="Lato"/>
                <a:cs typeface="Lato"/>
                <a:sym typeface="Lato"/>
              </a:rPr>
              <a:t>предлагающие</a:t>
            </a:r>
            <a:r>
              <a:rPr lang="en-US" sz="3200" dirty="0">
                <a:solidFill>
                  <a:srgbClr val="27252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3200" dirty="0" err="1">
                <a:solidFill>
                  <a:srgbClr val="272525"/>
                </a:solidFill>
                <a:latin typeface="Lato"/>
                <a:ea typeface="Lato"/>
                <a:cs typeface="Lato"/>
                <a:sym typeface="Lato"/>
              </a:rPr>
              <a:t>персонализацию</a:t>
            </a:r>
            <a:r>
              <a:rPr lang="en-US" sz="3200" dirty="0">
                <a:solidFill>
                  <a:srgbClr val="272525"/>
                </a:solidFill>
                <a:latin typeface="Lato"/>
                <a:ea typeface="Lato"/>
                <a:cs typeface="Lato"/>
                <a:sym typeface="Lato"/>
              </a:rPr>
              <a:t>, </a:t>
            </a:r>
            <a:r>
              <a:rPr lang="en-US" sz="3200" dirty="0" err="1">
                <a:solidFill>
                  <a:srgbClr val="272525"/>
                </a:solidFill>
                <a:latin typeface="Lato"/>
                <a:ea typeface="Lato"/>
                <a:cs typeface="Lato"/>
                <a:sym typeface="Lato"/>
              </a:rPr>
              <a:t>проигрывают</a:t>
            </a:r>
            <a:r>
              <a:rPr lang="en-US" sz="3200" dirty="0">
                <a:solidFill>
                  <a:srgbClr val="272525"/>
                </a:solidFill>
                <a:latin typeface="Lato"/>
                <a:ea typeface="Lato"/>
                <a:cs typeface="Lato"/>
                <a:sym typeface="Lato"/>
              </a:rPr>
              <a:t> в </a:t>
            </a:r>
            <a:r>
              <a:rPr lang="en-US" sz="3200" dirty="0" err="1">
                <a:solidFill>
                  <a:srgbClr val="272525"/>
                </a:solidFill>
                <a:latin typeface="Lato"/>
                <a:ea typeface="Lato"/>
                <a:cs typeface="Lato"/>
                <a:sym typeface="Lato"/>
              </a:rPr>
              <a:t>конкуренции</a:t>
            </a:r>
            <a:r>
              <a:rPr lang="en-US" sz="3200" dirty="0">
                <a:solidFill>
                  <a:srgbClr val="27252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3200" dirty="0" err="1">
                <a:solidFill>
                  <a:srgbClr val="272525"/>
                </a:solidFill>
                <a:latin typeface="Lato"/>
                <a:ea typeface="Lato"/>
                <a:cs typeface="Lato"/>
                <a:sym typeface="Lato"/>
              </a:rPr>
              <a:t>за</a:t>
            </a:r>
            <a:r>
              <a:rPr lang="en-US" sz="3200" dirty="0">
                <a:solidFill>
                  <a:srgbClr val="27252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3200" dirty="0" err="1">
                <a:solidFill>
                  <a:srgbClr val="272525"/>
                </a:solidFill>
                <a:latin typeface="Lato"/>
                <a:ea typeface="Lato"/>
                <a:cs typeface="Lato"/>
                <a:sym typeface="Lato"/>
              </a:rPr>
              <a:t>внимание</a:t>
            </a:r>
            <a:r>
              <a:rPr lang="en-US" sz="3200" dirty="0">
                <a:solidFill>
                  <a:srgbClr val="27252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3200" dirty="0" err="1">
                <a:solidFill>
                  <a:srgbClr val="272525"/>
                </a:solidFill>
                <a:latin typeface="Lato"/>
                <a:ea typeface="Lato"/>
                <a:cs typeface="Lato"/>
                <a:sym typeface="Lato"/>
              </a:rPr>
              <a:t>пользователя</a:t>
            </a:r>
            <a:r>
              <a:rPr lang="en-US" sz="3200" dirty="0">
                <a:solidFill>
                  <a:srgbClr val="272525"/>
                </a:solidFill>
                <a:latin typeface="Lato"/>
                <a:ea typeface="Lato"/>
                <a:cs typeface="Lato"/>
                <a:sym typeface="Lato"/>
              </a:rPr>
              <a:t>. </a:t>
            </a:r>
            <a:r>
              <a:rPr lang="en-US" sz="3200" dirty="0" err="1">
                <a:solidFill>
                  <a:srgbClr val="272525"/>
                </a:solidFill>
                <a:latin typeface="Lato"/>
                <a:ea typeface="Lato"/>
                <a:cs typeface="Lato"/>
                <a:sym typeface="Lato"/>
              </a:rPr>
              <a:t>Рекомендательные</a:t>
            </a:r>
            <a:r>
              <a:rPr lang="en-US" sz="3200" dirty="0">
                <a:solidFill>
                  <a:srgbClr val="27252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3200" dirty="0" err="1">
                <a:solidFill>
                  <a:srgbClr val="272525"/>
                </a:solidFill>
                <a:latin typeface="Lato"/>
                <a:ea typeface="Lato"/>
                <a:cs typeface="Lato"/>
                <a:sym typeface="Lato"/>
              </a:rPr>
              <a:t>системы</a:t>
            </a:r>
            <a:r>
              <a:rPr lang="en-US" sz="3200" dirty="0">
                <a:solidFill>
                  <a:srgbClr val="27252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3200" dirty="0" err="1">
                <a:solidFill>
                  <a:srgbClr val="272525"/>
                </a:solidFill>
                <a:latin typeface="Lato"/>
                <a:ea typeface="Lato"/>
                <a:cs typeface="Lato"/>
                <a:sym typeface="Lato"/>
              </a:rPr>
              <a:t>стали</a:t>
            </a:r>
            <a:r>
              <a:rPr lang="en-US" sz="3200" dirty="0">
                <a:solidFill>
                  <a:srgbClr val="27252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3200" dirty="0" err="1">
                <a:solidFill>
                  <a:srgbClr val="272525"/>
                </a:solidFill>
                <a:latin typeface="Lato"/>
                <a:ea typeface="Lato"/>
                <a:cs typeface="Lato"/>
                <a:sym typeface="Lato"/>
              </a:rPr>
              <a:t>стандартом</a:t>
            </a:r>
            <a:r>
              <a:rPr lang="en-US" sz="3200" dirty="0">
                <a:solidFill>
                  <a:srgbClr val="272525"/>
                </a:solidFill>
                <a:latin typeface="Lato"/>
                <a:ea typeface="Lato"/>
                <a:cs typeface="Lato"/>
                <a:sym typeface="Lato"/>
              </a:rPr>
              <a:t> de facto в </a:t>
            </a:r>
            <a:r>
              <a:rPr lang="en-US" sz="3200" dirty="0" err="1">
                <a:solidFill>
                  <a:srgbClr val="272525"/>
                </a:solidFill>
                <a:latin typeface="Lato"/>
                <a:ea typeface="Lato"/>
                <a:cs typeface="Lato"/>
                <a:sym typeface="Lato"/>
              </a:rPr>
              <a:t>индустрии</a:t>
            </a:r>
            <a:r>
              <a:rPr lang="en-US" sz="3200" dirty="0">
                <a:solidFill>
                  <a:srgbClr val="272525"/>
                </a:solidFill>
                <a:latin typeface="Lato"/>
                <a:ea typeface="Lato"/>
                <a:cs typeface="Lato"/>
                <a:sym typeface="Lato"/>
              </a:rPr>
              <a:t>.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9326461" y="1018584"/>
            <a:ext cx="8475021" cy="8475021"/>
            <a:chOff x="0" y="0"/>
            <a:chExt cx="11300028" cy="11300028"/>
          </a:xfrm>
        </p:grpSpPr>
        <p:sp>
          <p:nvSpPr>
            <p:cNvPr id="10" name="Freeform 10" descr="preencoded.png"/>
            <p:cNvSpPr/>
            <p:nvPr/>
          </p:nvSpPr>
          <p:spPr>
            <a:xfrm>
              <a:off x="0" y="0"/>
              <a:ext cx="11300079" cy="11300079"/>
            </a:xfrm>
            <a:custGeom>
              <a:avLst/>
              <a:gdLst/>
              <a:ahLst/>
              <a:cxnLst/>
              <a:rect l="l" t="t" r="r" b="b"/>
              <a:pathLst>
                <a:path w="11300079" h="11300079">
                  <a:moveTo>
                    <a:pt x="0" y="0"/>
                  </a:moveTo>
                  <a:lnTo>
                    <a:pt x="11300079" y="0"/>
                  </a:lnTo>
                  <a:lnTo>
                    <a:pt x="11300079" y="11300079"/>
                  </a:lnTo>
                  <a:lnTo>
                    <a:pt x="0" y="113000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grpSp>
        <p:nvGrpSpPr>
          <p:cNvPr id="11" name="Group 11"/>
          <p:cNvGrpSpPr/>
          <p:nvPr/>
        </p:nvGrpSpPr>
        <p:grpSpPr>
          <a:xfrm>
            <a:off x="9326461" y="1018584"/>
            <a:ext cx="8475021" cy="8475021"/>
            <a:chOff x="0" y="0"/>
            <a:chExt cx="11300028" cy="11300028"/>
          </a:xfrm>
        </p:grpSpPr>
        <p:sp>
          <p:nvSpPr>
            <p:cNvPr id="12" name="Freeform 12" descr="preencoded.png"/>
            <p:cNvSpPr/>
            <p:nvPr/>
          </p:nvSpPr>
          <p:spPr>
            <a:xfrm>
              <a:off x="0" y="0"/>
              <a:ext cx="11300079" cy="11300079"/>
            </a:xfrm>
            <a:custGeom>
              <a:avLst/>
              <a:gdLst/>
              <a:ahLst/>
              <a:cxnLst/>
              <a:rect l="l" t="t" r="r" b="b"/>
              <a:pathLst>
                <a:path w="11300079" h="11300079">
                  <a:moveTo>
                    <a:pt x="0" y="0"/>
                  </a:moveTo>
                  <a:lnTo>
                    <a:pt x="11300079" y="0"/>
                  </a:lnTo>
                  <a:lnTo>
                    <a:pt x="11300079" y="11300079"/>
                  </a:lnTo>
                  <a:lnTo>
                    <a:pt x="0" y="113000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txBody>
            <a:bodyPr/>
            <a:lstStyle/>
            <a:p>
              <a:endParaRPr lang="ru-RU" dirty="0"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486518" y="9643320"/>
            <a:ext cx="5737022" cy="561975"/>
            <a:chOff x="0" y="0"/>
            <a:chExt cx="7649362" cy="749300"/>
          </a:xfrm>
        </p:grpSpPr>
        <p:sp>
          <p:nvSpPr>
            <p:cNvPr id="14" name="Freeform 14"/>
            <p:cNvSpPr/>
            <p:nvPr/>
          </p:nvSpPr>
          <p:spPr>
            <a:xfrm>
              <a:off x="12700" y="12700"/>
              <a:ext cx="7623937" cy="723900"/>
            </a:xfrm>
            <a:custGeom>
              <a:avLst/>
              <a:gdLst/>
              <a:ahLst/>
              <a:cxnLst/>
              <a:rect l="l" t="t" r="r" b="b"/>
              <a:pathLst>
                <a:path w="7623937" h="723900">
                  <a:moveTo>
                    <a:pt x="0" y="79375"/>
                  </a:moveTo>
                  <a:cubicBezTo>
                    <a:pt x="0" y="35560"/>
                    <a:pt x="36703" y="0"/>
                    <a:pt x="81915" y="0"/>
                  </a:cubicBezTo>
                  <a:lnTo>
                    <a:pt x="7542022" y="0"/>
                  </a:lnTo>
                  <a:cubicBezTo>
                    <a:pt x="7587234" y="0"/>
                    <a:pt x="7623937" y="35560"/>
                    <a:pt x="7623937" y="79375"/>
                  </a:cubicBezTo>
                  <a:lnTo>
                    <a:pt x="7623937" y="644525"/>
                  </a:lnTo>
                  <a:cubicBezTo>
                    <a:pt x="7623937" y="688340"/>
                    <a:pt x="7587234" y="723900"/>
                    <a:pt x="7542022" y="723900"/>
                  </a:cubicBezTo>
                  <a:lnTo>
                    <a:pt x="81915" y="723900"/>
                  </a:lnTo>
                  <a:cubicBezTo>
                    <a:pt x="36703" y="723900"/>
                    <a:pt x="0" y="688340"/>
                    <a:pt x="0" y="644525"/>
                  </a:cubicBez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  <p:sp>
          <p:nvSpPr>
            <p:cNvPr id="15" name="Freeform 15"/>
            <p:cNvSpPr/>
            <p:nvPr/>
          </p:nvSpPr>
          <p:spPr>
            <a:xfrm>
              <a:off x="0" y="0"/>
              <a:ext cx="7649337" cy="749300"/>
            </a:xfrm>
            <a:custGeom>
              <a:avLst/>
              <a:gdLst/>
              <a:ahLst/>
              <a:cxnLst/>
              <a:rect l="l" t="t" r="r" b="b"/>
              <a:pathLst>
                <a:path w="7649337" h="749300">
                  <a:moveTo>
                    <a:pt x="0" y="92075"/>
                  </a:moveTo>
                  <a:cubicBezTo>
                    <a:pt x="0" y="40894"/>
                    <a:pt x="42672" y="0"/>
                    <a:pt x="94615" y="0"/>
                  </a:cubicBezTo>
                  <a:lnTo>
                    <a:pt x="7554722" y="0"/>
                  </a:lnTo>
                  <a:lnTo>
                    <a:pt x="7554722" y="12700"/>
                  </a:lnTo>
                  <a:lnTo>
                    <a:pt x="7554722" y="0"/>
                  </a:lnTo>
                  <a:cubicBezTo>
                    <a:pt x="7606538" y="0"/>
                    <a:pt x="7649337" y="40894"/>
                    <a:pt x="7649337" y="92075"/>
                  </a:cubicBezTo>
                  <a:lnTo>
                    <a:pt x="7636637" y="92075"/>
                  </a:lnTo>
                  <a:lnTo>
                    <a:pt x="7649337" y="92075"/>
                  </a:lnTo>
                  <a:lnTo>
                    <a:pt x="7649337" y="657225"/>
                  </a:lnTo>
                  <a:lnTo>
                    <a:pt x="7636637" y="657225"/>
                  </a:lnTo>
                  <a:lnTo>
                    <a:pt x="7649337" y="657225"/>
                  </a:lnTo>
                  <a:cubicBezTo>
                    <a:pt x="7649337" y="708406"/>
                    <a:pt x="7606665" y="749300"/>
                    <a:pt x="7554722" y="749300"/>
                  </a:cubicBezTo>
                  <a:lnTo>
                    <a:pt x="7554722" y="736600"/>
                  </a:lnTo>
                  <a:lnTo>
                    <a:pt x="7554722" y="749300"/>
                  </a:lnTo>
                  <a:lnTo>
                    <a:pt x="94615" y="749300"/>
                  </a:lnTo>
                  <a:lnTo>
                    <a:pt x="94615" y="736600"/>
                  </a:lnTo>
                  <a:lnTo>
                    <a:pt x="94615" y="749300"/>
                  </a:lnTo>
                  <a:cubicBezTo>
                    <a:pt x="42672" y="749300"/>
                    <a:pt x="0" y="708406"/>
                    <a:pt x="0" y="657225"/>
                  </a:cubicBezTo>
                  <a:lnTo>
                    <a:pt x="0" y="92075"/>
                  </a:lnTo>
                  <a:lnTo>
                    <a:pt x="12700" y="92075"/>
                  </a:lnTo>
                  <a:lnTo>
                    <a:pt x="0" y="92075"/>
                  </a:lnTo>
                  <a:moveTo>
                    <a:pt x="25400" y="92075"/>
                  </a:moveTo>
                  <a:lnTo>
                    <a:pt x="25400" y="657225"/>
                  </a:lnTo>
                  <a:lnTo>
                    <a:pt x="12700" y="657225"/>
                  </a:lnTo>
                  <a:lnTo>
                    <a:pt x="25400" y="657225"/>
                  </a:lnTo>
                  <a:cubicBezTo>
                    <a:pt x="25400" y="693674"/>
                    <a:pt x="56007" y="723900"/>
                    <a:pt x="94615" y="723900"/>
                  </a:cubicBezTo>
                  <a:lnTo>
                    <a:pt x="7554722" y="723900"/>
                  </a:lnTo>
                  <a:cubicBezTo>
                    <a:pt x="7593330" y="723900"/>
                    <a:pt x="7623937" y="693674"/>
                    <a:pt x="7623937" y="657225"/>
                  </a:cubicBezTo>
                  <a:lnTo>
                    <a:pt x="7623937" y="92075"/>
                  </a:lnTo>
                  <a:cubicBezTo>
                    <a:pt x="7623937" y="55626"/>
                    <a:pt x="7593330" y="25400"/>
                    <a:pt x="7554722" y="25400"/>
                  </a:cubicBezTo>
                  <a:lnTo>
                    <a:pt x="94615" y="25400"/>
                  </a:lnTo>
                  <a:lnTo>
                    <a:pt x="94615" y="12700"/>
                  </a:lnTo>
                  <a:lnTo>
                    <a:pt x="94615" y="25400"/>
                  </a:lnTo>
                  <a:cubicBezTo>
                    <a:pt x="56007" y="25400"/>
                    <a:pt x="25400" y="55626"/>
                    <a:pt x="25400" y="92075"/>
                  </a:cubicBezTo>
                  <a:close/>
                </a:path>
              </a:pathLst>
            </a:custGeom>
            <a:solidFill>
              <a:srgbClr val="CECEC9"/>
            </a:solidFill>
          </p:spPr>
        </p:sp>
      </p:grpSp>
      <p:sp>
        <p:nvSpPr>
          <p:cNvPr id="16" name="TextBox 16"/>
          <p:cNvSpPr txBox="1"/>
          <p:nvPr/>
        </p:nvSpPr>
        <p:spPr>
          <a:xfrm>
            <a:off x="602087" y="9794529"/>
            <a:ext cx="2050532" cy="2180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lang="en-US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🎓</a:t>
            </a:r>
            <a:r>
              <a:rPr lang="en-US" dirty="0" err="1">
                <a:solidFill>
                  <a:srgbClr val="272525"/>
                </a:solidFill>
                <a:latin typeface="Arimo"/>
                <a:ea typeface="Arimo"/>
                <a:cs typeface="Arimo"/>
                <a:sym typeface="Arimo"/>
              </a:rPr>
              <a:t>Образование</a:t>
            </a:r>
            <a:endParaRPr lang="en-US" dirty="0">
              <a:solidFill>
                <a:srgbClr val="272525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grpSp>
        <p:nvGrpSpPr>
          <p:cNvPr id="17" name="Group 17"/>
          <p:cNvGrpSpPr/>
          <p:nvPr/>
        </p:nvGrpSpPr>
        <p:grpSpPr>
          <a:xfrm>
            <a:off x="6275337" y="9643320"/>
            <a:ext cx="5737174" cy="561975"/>
            <a:chOff x="0" y="0"/>
            <a:chExt cx="7649566" cy="749300"/>
          </a:xfrm>
        </p:grpSpPr>
        <p:sp>
          <p:nvSpPr>
            <p:cNvPr id="18" name="Freeform 18"/>
            <p:cNvSpPr/>
            <p:nvPr/>
          </p:nvSpPr>
          <p:spPr>
            <a:xfrm>
              <a:off x="12700" y="12700"/>
              <a:ext cx="7624191" cy="723900"/>
            </a:xfrm>
            <a:custGeom>
              <a:avLst/>
              <a:gdLst/>
              <a:ahLst/>
              <a:cxnLst/>
              <a:rect l="l" t="t" r="r" b="b"/>
              <a:pathLst>
                <a:path w="7624191" h="723900">
                  <a:moveTo>
                    <a:pt x="0" y="79375"/>
                  </a:moveTo>
                  <a:cubicBezTo>
                    <a:pt x="0" y="35560"/>
                    <a:pt x="36703" y="0"/>
                    <a:pt x="81915" y="0"/>
                  </a:cubicBezTo>
                  <a:lnTo>
                    <a:pt x="7542276" y="0"/>
                  </a:lnTo>
                  <a:cubicBezTo>
                    <a:pt x="7587488" y="0"/>
                    <a:pt x="7624191" y="35560"/>
                    <a:pt x="7624191" y="79375"/>
                  </a:cubicBezTo>
                  <a:lnTo>
                    <a:pt x="7624191" y="644525"/>
                  </a:lnTo>
                  <a:cubicBezTo>
                    <a:pt x="7624191" y="688340"/>
                    <a:pt x="7587488" y="723900"/>
                    <a:pt x="7542276" y="723900"/>
                  </a:cubicBezTo>
                  <a:lnTo>
                    <a:pt x="81915" y="723900"/>
                  </a:lnTo>
                  <a:cubicBezTo>
                    <a:pt x="36703" y="723900"/>
                    <a:pt x="0" y="688340"/>
                    <a:pt x="0" y="644525"/>
                  </a:cubicBez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  <p:sp>
          <p:nvSpPr>
            <p:cNvPr id="19" name="Freeform 19"/>
            <p:cNvSpPr/>
            <p:nvPr/>
          </p:nvSpPr>
          <p:spPr>
            <a:xfrm>
              <a:off x="0" y="0"/>
              <a:ext cx="7649591" cy="749300"/>
            </a:xfrm>
            <a:custGeom>
              <a:avLst/>
              <a:gdLst/>
              <a:ahLst/>
              <a:cxnLst/>
              <a:rect l="l" t="t" r="r" b="b"/>
              <a:pathLst>
                <a:path w="7649591" h="749300">
                  <a:moveTo>
                    <a:pt x="0" y="92075"/>
                  </a:moveTo>
                  <a:cubicBezTo>
                    <a:pt x="0" y="40894"/>
                    <a:pt x="42672" y="0"/>
                    <a:pt x="94615" y="0"/>
                  </a:cubicBezTo>
                  <a:lnTo>
                    <a:pt x="7554976" y="0"/>
                  </a:lnTo>
                  <a:lnTo>
                    <a:pt x="7554976" y="12700"/>
                  </a:lnTo>
                  <a:lnTo>
                    <a:pt x="7554976" y="0"/>
                  </a:lnTo>
                  <a:cubicBezTo>
                    <a:pt x="7606792" y="0"/>
                    <a:pt x="7649591" y="40894"/>
                    <a:pt x="7649591" y="92075"/>
                  </a:cubicBezTo>
                  <a:lnTo>
                    <a:pt x="7636891" y="92075"/>
                  </a:lnTo>
                  <a:lnTo>
                    <a:pt x="7649591" y="92075"/>
                  </a:lnTo>
                  <a:lnTo>
                    <a:pt x="7649591" y="657225"/>
                  </a:lnTo>
                  <a:lnTo>
                    <a:pt x="7636891" y="657225"/>
                  </a:lnTo>
                  <a:lnTo>
                    <a:pt x="7649591" y="657225"/>
                  </a:lnTo>
                  <a:cubicBezTo>
                    <a:pt x="7649591" y="708406"/>
                    <a:pt x="7606919" y="749300"/>
                    <a:pt x="7554976" y="749300"/>
                  </a:cubicBezTo>
                  <a:lnTo>
                    <a:pt x="7554976" y="736600"/>
                  </a:lnTo>
                  <a:lnTo>
                    <a:pt x="7554976" y="749300"/>
                  </a:lnTo>
                  <a:lnTo>
                    <a:pt x="94615" y="749300"/>
                  </a:lnTo>
                  <a:lnTo>
                    <a:pt x="94615" y="736600"/>
                  </a:lnTo>
                  <a:lnTo>
                    <a:pt x="94615" y="749300"/>
                  </a:lnTo>
                  <a:cubicBezTo>
                    <a:pt x="42672" y="749300"/>
                    <a:pt x="0" y="708406"/>
                    <a:pt x="0" y="657225"/>
                  </a:cubicBezTo>
                  <a:lnTo>
                    <a:pt x="0" y="92075"/>
                  </a:lnTo>
                  <a:lnTo>
                    <a:pt x="12700" y="92075"/>
                  </a:lnTo>
                  <a:lnTo>
                    <a:pt x="0" y="92075"/>
                  </a:lnTo>
                  <a:moveTo>
                    <a:pt x="25400" y="92075"/>
                  </a:moveTo>
                  <a:lnTo>
                    <a:pt x="25400" y="657225"/>
                  </a:lnTo>
                  <a:lnTo>
                    <a:pt x="12700" y="657225"/>
                  </a:lnTo>
                  <a:lnTo>
                    <a:pt x="25400" y="657225"/>
                  </a:lnTo>
                  <a:cubicBezTo>
                    <a:pt x="25400" y="693674"/>
                    <a:pt x="56007" y="723900"/>
                    <a:pt x="94615" y="723900"/>
                  </a:cubicBezTo>
                  <a:lnTo>
                    <a:pt x="7554976" y="723900"/>
                  </a:lnTo>
                  <a:cubicBezTo>
                    <a:pt x="7593584" y="723900"/>
                    <a:pt x="7624191" y="693674"/>
                    <a:pt x="7624191" y="657225"/>
                  </a:cubicBezTo>
                  <a:lnTo>
                    <a:pt x="7624191" y="92075"/>
                  </a:lnTo>
                  <a:cubicBezTo>
                    <a:pt x="7624191" y="55626"/>
                    <a:pt x="7593584" y="25400"/>
                    <a:pt x="7554976" y="25400"/>
                  </a:cubicBezTo>
                  <a:lnTo>
                    <a:pt x="94615" y="25400"/>
                  </a:lnTo>
                  <a:lnTo>
                    <a:pt x="94615" y="12700"/>
                  </a:lnTo>
                  <a:lnTo>
                    <a:pt x="94615" y="25400"/>
                  </a:lnTo>
                  <a:cubicBezTo>
                    <a:pt x="56007" y="25400"/>
                    <a:pt x="25400" y="55626"/>
                    <a:pt x="25400" y="92075"/>
                  </a:cubicBezTo>
                  <a:close/>
                </a:path>
              </a:pathLst>
            </a:custGeom>
            <a:solidFill>
              <a:srgbClr val="CECEC9"/>
            </a:solidFill>
          </p:spPr>
        </p:sp>
      </p:grpSp>
      <p:sp>
        <p:nvSpPr>
          <p:cNvPr id="20" name="TextBox 20"/>
          <p:cNvSpPr txBox="1"/>
          <p:nvPr/>
        </p:nvSpPr>
        <p:spPr>
          <a:xfrm>
            <a:off x="6445596" y="9794529"/>
            <a:ext cx="1771945" cy="2180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lang="en-US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📺</a:t>
            </a:r>
            <a:r>
              <a:rPr lang="en-US" dirty="0">
                <a:solidFill>
                  <a:srgbClr val="272525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dirty="0" err="1">
                <a:solidFill>
                  <a:srgbClr val="272525"/>
                </a:solidFill>
                <a:latin typeface="Arimo"/>
                <a:ea typeface="Arimo"/>
                <a:cs typeface="Arimo"/>
                <a:sym typeface="Arimo"/>
              </a:rPr>
              <a:t>Медиа</a:t>
            </a:r>
            <a:endParaRPr lang="en-US" dirty="0">
              <a:solidFill>
                <a:srgbClr val="272525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grpSp>
        <p:nvGrpSpPr>
          <p:cNvPr id="21" name="Group 21"/>
          <p:cNvGrpSpPr/>
          <p:nvPr/>
        </p:nvGrpSpPr>
        <p:grpSpPr>
          <a:xfrm>
            <a:off x="12064308" y="9643320"/>
            <a:ext cx="5737174" cy="561975"/>
            <a:chOff x="0" y="0"/>
            <a:chExt cx="7649566" cy="749300"/>
          </a:xfrm>
        </p:grpSpPr>
        <p:sp>
          <p:nvSpPr>
            <p:cNvPr id="22" name="Freeform 22"/>
            <p:cNvSpPr/>
            <p:nvPr/>
          </p:nvSpPr>
          <p:spPr>
            <a:xfrm>
              <a:off x="12700" y="12700"/>
              <a:ext cx="7624191" cy="723900"/>
            </a:xfrm>
            <a:custGeom>
              <a:avLst/>
              <a:gdLst/>
              <a:ahLst/>
              <a:cxnLst/>
              <a:rect l="l" t="t" r="r" b="b"/>
              <a:pathLst>
                <a:path w="7624191" h="723900">
                  <a:moveTo>
                    <a:pt x="0" y="79375"/>
                  </a:moveTo>
                  <a:cubicBezTo>
                    <a:pt x="0" y="35560"/>
                    <a:pt x="36703" y="0"/>
                    <a:pt x="81915" y="0"/>
                  </a:cubicBezTo>
                  <a:lnTo>
                    <a:pt x="7542276" y="0"/>
                  </a:lnTo>
                  <a:cubicBezTo>
                    <a:pt x="7587488" y="0"/>
                    <a:pt x="7624191" y="35560"/>
                    <a:pt x="7624191" y="79375"/>
                  </a:cubicBezTo>
                  <a:lnTo>
                    <a:pt x="7624191" y="644525"/>
                  </a:lnTo>
                  <a:cubicBezTo>
                    <a:pt x="7624191" y="688340"/>
                    <a:pt x="7587488" y="723900"/>
                    <a:pt x="7542276" y="723900"/>
                  </a:cubicBezTo>
                  <a:lnTo>
                    <a:pt x="81915" y="723900"/>
                  </a:lnTo>
                  <a:cubicBezTo>
                    <a:pt x="36703" y="723900"/>
                    <a:pt x="0" y="688340"/>
                    <a:pt x="0" y="644525"/>
                  </a:cubicBez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  <p:sp>
          <p:nvSpPr>
            <p:cNvPr id="23" name="Freeform 23"/>
            <p:cNvSpPr/>
            <p:nvPr/>
          </p:nvSpPr>
          <p:spPr>
            <a:xfrm>
              <a:off x="0" y="0"/>
              <a:ext cx="7649591" cy="749300"/>
            </a:xfrm>
            <a:custGeom>
              <a:avLst/>
              <a:gdLst/>
              <a:ahLst/>
              <a:cxnLst/>
              <a:rect l="l" t="t" r="r" b="b"/>
              <a:pathLst>
                <a:path w="7649591" h="749300">
                  <a:moveTo>
                    <a:pt x="0" y="92075"/>
                  </a:moveTo>
                  <a:cubicBezTo>
                    <a:pt x="0" y="40894"/>
                    <a:pt x="42672" y="0"/>
                    <a:pt x="94615" y="0"/>
                  </a:cubicBezTo>
                  <a:lnTo>
                    <a:pt x="7554976" y="0"/>
                  </a:lnTo>
                  <a:lnTo>
                    <a:pt x="7554976" y="12700"/>
                  </a:lnTo>
                  <a:lnTo>
                    <a:pt x="7554976" y="0"/>
                  </a:lnTo>
                  <a:cubicBezTo>
                    <a:pt x="7606792" y="0"/>
                    <a:pt x="7649591" y="40894"/>
                    <a:pt x="7649591" y="92075"/>
                  </a:cubicBezTo>
                  <a:lnTo>
                    <a:pt x="7636891" y="92075"/>
                  </a:lnTo>
                  <a:lnTo>
                    <a:pt x="7649591" y="92075"/>
                  </a:lnTo>
                  <a:lnTo>
                    <a:pt x="7649591" y="657225"/>
                  </a:lnTo>
                  <a:lnTo>
                    <a:pt x="7636891" y="657225"/>
                  </a:lnTo>
                  <a:lnTo>
                    <a:pt x="7649591" y="657225"/>
                  </a:lnTo>
                  <a:cubicBezTo>
                    <a:pt x="7649591" y="708406"/>
                    <a:pt x="7606919" y="749300"/>
                    <a:pt x="7554976" y="749300"/>
                  </a:cubicBezTo>
                  <a:lnTo>
                    <a:pt x="7554976" y="736600"/>
                  </a:lnTo>
                  <a:lnTo>
                    <a:pt x="7554976" y="749300"/>
                  </a:lnTo>
                  <a:lnTo>
                    <a:pt x="94615" y="749300"/>
                  </a:lnTo>
                  <a:lnTo>
                    <a:pt x="94615" y="736600"/>
                  </a:lnTo>
                  <a:lnTo>
                    <a:pt x="94615" y="749300"/>
                  </a:lnTo>
                  <a:cubicBezTo>
                    <a:pt x="42672" y="749300"/>
                    <a:pt x="0" y="708406"/>
                    <a:pt x="0" y="657225"/>
                  </a:cubicBezTo>
                  <a:lnTo>
                    <a:pt x="0" y="92075"/>
                  </a:lnTo>
                  <a:lnTo>
                    <a:pt x="12700" y="92075"/>
                  </a:lnTo>
                  <a:lnTo>
                    <a:pt x="0" y="92075"/>
                  </a:lnTo>
                  <a:moveTo>
                    <a:pt x="25400" y="92075"/>
                  </a:moveTo>
                  <a:lnTo>
                    <a:pt x="25400" y="657225"/>
                  </a:lnTo>
                  <a:lnTo>
                    <a:pt x="12700" y="657225"/>
                  </a:lnTo>
                  <a:lnTo>
                    <a:pt x="25400" y="657225"/>
                  </a:lnTo>
                  <a:cubicBezTo>
                    <a:pt x="25400" y="693674"/>
                    <a:pt x="56007" y="723900"/>
                    <a:pt x="94615" y="723900"/>
                  </a:cubicBezTo>
                  <a:lnTo>
                    <a:pt x="7554976" y="723900"/>
                  </a:lnTo>
                  <a:cubicBezTo>
                    <a:pt x="7593584" y="723900"/>
                    <a:pt x="7624191" y="693674"/>
                    <a:pt x="7624191" y="657225"/>
                  </a:cubicBezTo>
                  <a:lnTo>
                    <a:pt x="7624191" y="92075"/>
                  </a:lnTo>
                  <a:cubicBezTo>
                    <a:pt x="7624191" y="55626"/>
                    <a:pt x="7593584" y="25400"/>
                    <a:pt x="7554976" y="25400"/>
                  </a:cubicBezTo>
                  <a:lnTo>
                    <a:pt x="94615" y="25400"/>
                  </a:lnTo>
                  <a:lnTo>
                    <a:pt x="94615" y="12700"/>
                  </a:lnTo>
                  <a:lnTo>
                    <a:pt x="94615" y="25400"/>
                  </a:lnTo>
                  <a:cubicBezTo>
                    <a:pt x="56007" y="25400"/>
                    <a:pt x="25400" y="55626"/>
                    <a:pt x="25400" y="92075"/>
                  </a:cubicBezTo>
                  <a:close/>
                </a:path>
              </a:pathLst>
            </a:custGeom>
            <a:solidFill>
              <a:srgbClr val="CECEC9"/>
            </a:solidFill>
          </p:spPr>
        </p:sp>
      </p:grpSp>
      <p:sp>
        <p:nvSpPr>
          <p:cNvPr id="24" name="TextBox 24"/>
          <p:cNvSpPr txBox="1"/>
          <p:nvPr/>
        </p:nvSpPr>
        <p:spPr>
          <a:xfrm>
            <a:off x="12234567" y="9794529"/>
            <a:ext cx="1771945" cy="2180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lang="en-US" sz="1375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🛒</a:t>
            </a:r>
            <a:r>
              <a:rPr lang="en-US" sz="1375" dirty="0">
                <a:solidFill>
                  <a:srgbClr val="272525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dirty="0">
                <a:solidFill>
                  <a:srgbClr val="272525"/>
                </a:solidFill>
                <a:latin typeface="Arimo"/>
                <a:ea typeface="Arimo"/>
                <a:cs typeface="Arimo"/>
                <a:sym typeface="Arimo"/>
              </a:rPr>
              <a:t>E-commerce</a:t>
            </a:r>
            <a:endParaRPr lang="en-US" sz="1375" dirty="0">
              <a:solidFill>
                <a:srgbClr val="272525"/>
              </a:solidFill>
              <a:latin typeface="Arimo"/>
              <a:ea typeface="Arimo"/>
              <a:cs typeface="Arimo"/>
              <a:sym typeface="Arim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635641" y="461372"/>
            <a:ext cx="5670794" cy="6055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37"/>
              </a:lnSpc>
            </a:pPr>
            <a:r>
              <a:rPr lang="en-US" sz="3562">
                <a:solidFill>
                  <a:srgbClr val="312F2B"/>
                </a:solidFill>
                <a:latin typeface="Arimo"/>
                <a:ea typeface="Arimo"/>
                <a:cs typeface="Arimo"/>
                <a:sym typeface="Arimo"/>
              </a:rPr>
              <a:t>Архитектура приложения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374981" y="4055564"/>
            <a:ext cx="2270369" cy="3123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87"/>
              </a:lnSpc>
            </a:pPr>
            <a:r>
              <a:rPr lang="en-US" sz="1750">
                <a:solidFill>
                  <a:srgbClr val="312F2B"/>
                </a:solidFill>
                <a:latin typeface="Arimo"/>
                <a:ea typeface="Arimo"/>
                <a:cs typeface="Arimo"/>
                <a:sym typeface="Arimo"/>
              </a:rPr>
              <a:t>Ключевые решения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9365456" y="4489247"/>
            <a:ext cx="4104380" cy="1296886"/>
            <a:chOff x="0" y="0"/>
            <a:chExt cx="5472506" cy="1729181"/>
          </a:xfrm>
        </p:grpSpPr>
        <p:sp>
          <p:nvSpPr>
            <p:cNvPr id="13" name="Freeform 13"/>
            <p:cNvSpPr/>
            <p:nvPr/>
          </p:nvSpPr>
          <p:spPr>
            <a:xfrm>
              <a:off x="12700" y="12700"/>
              <a:ext cx="5447157" cy="1703832"/>
            </a:xfrm>
            <a:custGeom>
              <a:avLst/>
              <a:gdLst/>
              <a:ahLst/>
              <a:cxnLst/>
              <a:rect l="l" t="t" r="r" b="b"/>
              <a:pathLst>
                <a:path w="5447157" h="1703832">
                  <a:moveTo>
                    <a:pt x="0" y="121920"/>
                  </a:moveTo>
                  <a:cubicBezTo>
                    <a:pt x="0" y="54610"/>
                    <a:pt x="55118" y="0"/>
                    <a:pt x="123190" y="0"/>
                  </a:cubicBezTo>
                  <a:lnTo>
                    <a:pt x="5323967" y="0"/>
                  </a:lnTo>
                  <a:cubicBezTo>
                    <a:pt x="5392039" y="0"/>
                    <a:pt x="5447157" y="54610"/>
                    <a:pt x="5447157" y="121920"/>
                  </a:cubicBezTo>
                  <a:lnTo>
                    <a:pt x="5447157" y="1581912"/>
                  </a:lnTo>
                  <a:cubicBezTo>
                    <a:pt x="5447157" y="1649222"/>
                    <a:pt x="5392039" y="1703832"/>
                    <a:pt x="5323967" y="1703832"/>
                  </a:cubicBezTo>
                  <a:lnTo>
                    <a:pt x="123190" y="1703832"/>
                  </a:lnTo>
                  <a:cubicBezTo>
                    <a:pt x="55118" y="1703832"/>
                    <a:pt x="0" y="1649222"/>
                    <a:pt x="0" y="1581912"/>
                  </a:cubicBez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  <p:sp>
          <p:nvSpPr>
            <p:cNvPr id="14" name="Freeform 14"/>
            <p:cNvSpPr/>
            <p:nvPr/>
          </p:nvSpPr>
          <p:spPr>
            <a:xfrm>
              <a:off x="0" y="0"/>
              <a:ext cx="5472557" cy="1729232"/>
            </a:xfrm>
            <a:custGeom>
              <a:avLst/>
              <a:gdLst/>
              <a:ahLst/>
              <a:cxnLst/>
              <a:rect l="l" t="t" r="r" b="b"/>
              <a:pathLst>
                <a:path w="5472557" h="1729232">
                  <a:moveTo>
                    <a:pt x="0" y="134620"/>
                  </a:moveTo>
                  <a:cubicBezTo>
                    <a:pt x="0" y="60198"/>
                    <a:pt x="60960" y="0"/>
                    <a:pt x="135890" y="0"/>
                  </a:cubicBezTo>
                  <a:lnTo>
                    <a:pt x="5336667" y="0"/>
                  </a:lnTo>
                  <a:lnTo>
                    <a:pt x="5336667" y="12700"/>
                  </a:lnTo>
                  <a:lnTo>
                    <a:pt x="5336667" y="0"/>
                  </a:lnTo>
                  <a:cubicBezTo>
                    <a:pt x="5411597" y="0"/>
                    <a:pt x="5472557" y="60198"/>
                    <a:pt x="5472557" y="134620"/>
                  </a:cubicBezTo>
                  <a:lnTo>
                    <a:pt x="5459857" y="134620"/>
                  </a:lnTo>
                  <a:lnTo>
                    <a:pt x="5472557" y="134620"/>
                  </a:lnTo>
                  <a:lnTo>
                    <a:pt x="5472557" y="1594612"/>
                  </a:lnTo>
                  <a:lnTo>
                    <a:pt x="5459857" y="1594612"/>
                  </a:lnTo>
                  <a:lnTo>
                    <a:pt x="5472557" y="1594612"/>
                  </a:lnTo>
                  <a:cubicBezTo>
                    <a:pt x="5472557" y="1669034"/>
                    <a:pt x="5411597" y="1729232"/>
                    <a:pt x="5336667" y="1729232"/>
                  </a:cubicBezTo>
                  <a:lnTo>
                    <a:pt x="5336667" y="1716532"/>
                  </a:lnTo>
                  <a:lnTo>
                    <a:pt x="5336667" y="1729232"/>
                  </a:lnTo>
                  <a:lnTo>
                    <a:pt x="135890" y="1729232"/>
                  </a:lnTo>
                  <a:lnTo>
                    <a:pt x="135890" y="1716532"/>
                  </a:lnTo>
                  <a:lnTo>
                    <a:pt x="135890" y="1729232"/>
                  </a:lnTo>
                  <a:cubicBezTo>
                    <a:pt x="60960" y="1729232"/>
                    <a:pt x="0" y="1669034"/>
                    <a:pt x="0" y="1594612"/>
                  </a:cubicBezTo>
                  <a:lnTo>
                    <a:pt x="0" y="134620"/>
                  </a:lnTo>
                  <a:lnTo>
                    <a:pt x="12700" y="134620"/>
                  </a:lnTo>
                  <a:lnTo>
                    <a:pt x="0" y="134620"/>
                  </a:lnTo>
                  <a:moveTo>
                    <a:pt x="25400" y="134620"/>
                  </a:moveTo>
                  <a:lnTo>
                    <a:pt x="25400" y="1594612"/>
                  </a:lnTo>
                  <a:lnTo>
                    <a:pt x="12700" y="1594612"/>
                  </a:lnTo>
                  <a:lnTo>
                    <a:pt x="25400" y="1594612"/>
                  </a:lnTo>
                  <a:cubicBezTo>
                    <a:pt x="25400" y="1654810"/>
                    <a:pt x="74676" y="1703832"/>
                    <a:pt x="135890" y="1703832"/>
                  </a:cubicBezTo>
                  <a:lnTo>
                    <a:pt x="5336667" y="1703832"/>
                  </a:lnTo>
                  <a:cubicBezTo>
                    <a:pt x="5397754" y="1703832"/>
                    <a:pt x="5447157" y="1654810"/>
                    <a:pt x="5447157" y="1594612"/>
                  </a:cubicBezTo>
                  <a:lnTo>
                    <a:pt x="5447157" y="134620"/>
                  </a:lnTo>
                  <a:cubicBezTo>
                    <a:pt x="5447157" y="74422"/>
                    <a:pt x="5397881" y="25400"/>
                    <a:pt x="5336667" y="25400"/>
                  </a:cubicBezTo>
                  <a:lnTo>
                    <a:pt x="135890" y="25400"/>
                  </a:lnTo>
                  <a:lnTo>
                    <a:pt x="135890" y="12700"/>
                  </a:lnTo>
                  <a:lnTo>
                    <a:pt x="135890" y="25400"/>
                  </a:lnTo>
                  <a:cubicBezTo>
                    <a:pt x="74676" y="25400"/>
                    <a:pt x="25400" y="74422"/>
                    <a:pt x="25400" y="134620"/>
                  </a:cubicBezTo>
                  <a:close/>
                </a:path>
              </a:pathLst>
            </a:custGeom>
            <a:solidFill>
              <a:srgbClr val="CECEC9"/>
            </a:solidFill>
          </p:spPr>
        </p:sp>
      </p:grpSp>
      <p:grpSp>
        <p:nvGrpSpPr>
          <p:cNvPr id="15" name="Group 15"/>
          <p:cNvGrpSpPr/>
          <p:nvPr/>
        </p:nvGrpSpPr>
        <p:grpSpPr>
          <a:xfrm>
            <a:off x="9355931" y="4498772"/>
            <a:ext cx="76200" cy="1277836"/>
            <a:chOff x="0" y="0"/>
            <a:chExt cx="101600" cy="1703781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01600" cy="1703832"/>
            </a:xfrm>
            <a:custGeom>
              <a:avLst/>
              <a:gdLst/>
              <a:ahLst/>
              <a:cxnLst/>
              <a:rect l="l" t="t" r="r" b="b"/>
              <a:pathLst>
                <a:path w="101600" h="1703832">
                  <a:moveTo>
                    <a:pt x="0" y="50800"/>
                  </a:moveTo>
                  <a:cubicBezTo>
                    <a:pt x="0" y="22733"/>
                    <a:pt x="22733" y="0"/>
                    <a:pt x="50800" y="0"/>
                  </a:cubicBezTo>
                  <a:cubicBezTo>
                    <a:pt x="78867" y="0"/>
                    <a:pt x="101600" y="22733"/>
                    <a:pt x="101600" y="50800"/>
                  </a:cubicBezTo>
                  <a:lnTo>
                    <a:pt x="101600" y="1653032"/>
                  </a:lnTo>
                  <a:cubicBezTo>
                    <a:pt x="101600" y="1681099"/>
                    <a:pt x="78867" y="1703832"/>
                    <a:pt x="50800" y="1703832"/>
                  </a:cubicBezTo>
                  <a:cubicBezTo>
                    <a:pt x="22733" y="1703832"/>
                    <a:pt x="0" y="1681099"/>
                    <a:pt x="0" y="1653032"/>
                  </a:cubicBezTo>
                  <a:close/>
                </a:path>
              </a:pathLst>
            </a:custGeom>
            <a:solidFill>
              <a:srgbClr val="E5E5E0"/>
            </a:solidFill>
          </p:spPr>
        </p:sp>
      </p:grpSp>
      <p:sp>
        <p:nvSpPr>
          <p:cNvPr id="17" name="TextBox 17"/>
          <p:cNvSpPr txBox="1"/>
          <p:nvPr/>
        </p:nvSpPr>
        <p:spPr>
          <a:xfrm>
            <a:off x="9632747" y="4670822"/>
            <a:ext cx="2270369" cy="3123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87"/>
              </a:lnSpc>
            </a:pPr>
            <a:r>
              <a:rPr lang="en-US" sz="1750">
                <a:solidFill>
                  <a:srgbClr val="272525"/>
                </a:solidFill>
                <a:latin typeface="Arimo"/>
                <a:ea typeface="Arimo"/>
                <a:cs typeface="Arimo"/>
                <a:sym typeface="Arimo"/>
              </a:rPr>
              <a:t>Clean Architecture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632747" y="5070872"/>
            <a:ext cx="3626939" cy="505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lang="en-US" sz="1375">
                <a:solidFill>
                  <a:srgbClr val="272525"/>
                </a:solidFill>
                <a:latin typeface="Lato"/>
                <a:ea typeface="Lato"/>
                <a:cs typeface="Lato"/>
                <a:sym typeface="Lato"/>
              </a:rPr>
              <a:t>Domain / Application / Infrastructure / WebAPI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13567019" y="4489247"/>
            <a:ext cx="4104380" cy="1296886"/>
            <a:chOff x="0" y="0"/>
            <a:chExt cx="5472506" cy="1729181"/>
          </a:xfrm>
        </p:grpSpPr>
        <p:sp>
          <p:nvSpPr>
            <p:cNvPr id="20" name="Freeform 20"/>
            <p:cNvSpPr/>
            <p:nvPr/>
          </p:nvSpPr>
          <p:spPr>
            <a:xfrm>
              <a:off x="12700" y="12700"/>
              <a:ext cx="5447157" cy="1703832"/>
            </a:xfrm>
            <a:custGeom>
              <a:avLst/>
              <a:gdLst/>
              <a:ahLst/>
              <a:cxnLst/>
              <a:rect l="l" t="t" r="r" b="b"/>
              <a:pathLst>
                <a:path w="5447157" h="1703832">
                  <a:moveTo>
                    <a:pt x="0" y="121920"/>
                  </a:moveTo>
                  <a:cubicBezTo>
                    <a:pt x="0" y="54610"/>
                    <a:pt x="55118" y="0"/>
                    <a:pt x="123190" y="0"/>
                  </a:cubicBezTo>
                  <a:lnTo>
                    <a:pt x="5323967" y="0"/>
                  </a:lnTo>
                  <a:cubicBezTo>
                    <a:pt x="5392039" y="0"/>
                    <a:pt x="5447157" y="54610"/>
                    <a:pt x="5447157" y="121920"/>
                  </a:cubicBezTo>
                  <a:lnTo>
                    <a:pt x="5447157" y="1581912"/>
                  </a:lnTo>
                  <a:cubicBezTo>
                    <a:pt x="5447157" y="1649222"/>
                    <a:pt x="5392039" y="1703832"/>
                    <a:pt x="5323967" y="1703832"/>
                  </a:cubicBezTo>
                  <a:lnTo>
                    <a:pt x="123190" y="1703832"/>
                  </a:lnTo>
                  <a:cubicBezTo>
                    <a:pt x="55118" y="1703832"/>
                    <a:pt x="0" y="1649222"/>
                    <a:pt x="0" y="1581912"/>
                  </a:cubicBez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  <p:sp>
          <p:nvSpPr>
            <p:cNvPr id="21" name="Freeform 21"/>
            <p:cNvSpPr/>
            <p:nvPr/>
          </p:nvSpPr>
          <p:spPr>
            <a:xfrm>
              <a:off x="0" y="0"/>
              <a:ext cx="5472557" cy="1729232"/>
            </a:xfrm>
            <a:custGeom>
              <a:avLst/>
              <a:gdLst/>
              <a:ahLst/>
              <a:cxnLst/>
              <a:rect l="l" t="t" r="r" b="b"/>
              <a:pathLst>
                <a:path w="5472557" h="1729232">
                  <a:moveTo>
                    <a:pt x="0" y="134620"/>
                  </a:moveTo>
                  <a:cubicBezTo>
                    <a:pt x="0" y="60198"/>
                    <a:pt x="60960" y="0"/>
                    <a:pt x="135890" y="0"/>
                  </a:cubicBezTo>
                  <a:lnTo>
                    <a:pt x="5336667" y="0"/>
                  </a:lnTo>
                  <a:lnTo>
                    <a:pt x="5336667" y="12700"/>
                  </a:lnTo>
                  <a:lnTo>
                    <a:pt x="5336667" y="0"/>
                  </a:lnTo>
                  <a:cubicBezTo>
                    <a:pt x="5411597" y="0"/>
                    <a:pt x="5472557" y="60198"/>
                    <a:pt x="5472557" y="134620"/>
                  </a:cubicBezTo>
                  <a:lnTo>
                    <a:pt x="5459857" y="134620"/>
                  </a:lnTo>
                  <a:lnTo>
                    <a:pt x="5472557" y="134620"/>
                  </a:lnTo>
                  <a:lnTo>
                    <a:pt x="5472557" y="1594612"/>
                  </a:lnTo>
                  <a:lnTo>
                    <a:pt x="5459857" y="1594612"/>
                  </a:lnTo>
                  <a:lnTo>
                    <a:pt x="5472557" y="1594612"/>
                  </a:lnTo>
                  <a:cubicBezTo>
                    <a:pt x="5472557" y="1669034"/>
                    <a:pt x="5411597" y="1729232"/>
                    <a:pt x="5336667" y="1729232"/>
                  </a:cubicBezTo>
                  <a:lnTo>
                    <a:pt x="5336667" y="1716532"/>
                  </a:lnTo>
                  <a:lnTo>
                    <a:pt x="5336667" y="1729232"/>
                  </a:lnTo>
                  <a:lnTo>
                    <a:pt x="135890" y="1729232"/>
                  </a:lnTo>
                  <a:lnTo>
                    <a:pt x="135890" y="1716532"/>
                  </a:lnTo>
                  <a:lnTo>
                    <a:pt x="135890" y="1729232"/>
                  </a:lnTo>
                  <a:cubicBezTo>
                    <a:pt x="60960" y="1729232"/>
                    <a:pt x="0" y="1669034"/>
                    <a:pt x="0" y="1594612"/>
                  </a:cubicBezTo>
                  <a:lnTo>
                    <a:pt x="0" y="134620"/>
                  </a:lnTo>
                  <a:lnTo>
                    <a:pt x="12700" y="134620"/>
                  </a:lnTo>
                  <a:lnTo>
                    <a:pt x="0" y="134620"/>
                  </a:lnTo>
                  <a:moveTo>
                    <a:pt x="25400" y="134620"/>
                  </a:moveTo>
                  <a:lnTo>
                    <a:pt x="25400" y="1594612"/>
                  </a:lnTo>
                  <a:lnTo>
                    <a:pt x="12700" y="1594612"/>
                  </a:lnTo>
                  <a:lnTo>
                    <a:pt x="25400" y="1594612"/>
                  </a:lnTo>
                  <a:cubicBezTo>
                    <a:pt x="25400" y="1654810"/>
                    <a:pt x="74676" y="1703832"/>
                    <a:pt x="135890" y="1703832"/>
                  </a:cubicBezTo>
                  <a:lnTo>
                    <a:pt x="5336667" y="1703832"/>
                  </a:lnTo>
                  <a:cubicBezTo>
                    <a:pt x="5397754" y="1703832"/>
                    <a:pt x="5447157" y="1654810"/>
                    <a:pt x="5447157" y="1594612"/>
                  </a:cubicBezTo>
                  <a:lnTo>
                    <a:pt x="5447157" y="134620"/>
                  </a:lnTo>
                  <a:cubicBezTo>
                    <a:pt x="5447157" y="74422"/>
                    <a:pt x="5397881" y="25400"/>
                    <a:pt x="5336667" y="25400"/>
                  </a:cubicBezTo>
                  <a:lnTo>
                    <a:pt x="135890" y="25400"/>
                  </a:lnTo>
                  <a:lnTo>
                    <a:pt x="135890" y="12700"/>
                  </a:lnTo>
                  <a:lnTo>
                    <a:pt x="135890" y="25400"/>
                  </a:lnTo>
                  <a:cubicBezTo>
                    <a:pt x="74676" y="25400"/>
                    <a:pt x="25400" y="74422"/>
                    <a:pt x="25400" y="134620"/>
                  </a:cubicBezTo>
                  <a:close/>
                </a:path>
              </a:pathLst>
            </a:custGeom>
            <a:solidFill>
              <a:srgbClr val="CECEC9"/>
            </a:solidFill>
          </p:spPr>
        </p:sp>
      </p:grpSp>
      <p:grpSp>
        <p:nvGrpSpPr>
          <p:cNvPr id="22" name="Group 22"/>
          <p:cNvGrpSpPr/>
          <p:nvPr/>
        </p:nvGrpSpPr>
        <p:grpSpPr>
          <a:xfrm>
            <a:off x="13557494" y="4498772"/>
            <a:ext cx="76200" cy="1277836"/>
            <a:chOff x="0" y="0"/>
            <a:chExt cx="101600" cy="1703781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01600" cy="1703832"/>
            </a:xfrm>
            <a:custGeom>
              <a:avLst/>
              <a:gdLst/>
              <a:ahLst/>
              <a:cxnLst/>
              <a:rect l="l" t="t" r="r" b="b"/>
              <a:pathLst>
                <a:path w="101600" h="1703832">
                  <a:moveTo>
                    <a:pt x="0" y="50800"/>
                  </a:moveTo>
                  <a:cubicBezTo>
                    <a:pt x="0" y="22733"/>
                    <a:pt x="22733" y="0"/>
                    <a:pt x="50800" y="0"/>
                  </a:cubicBezTo>
                  <a:cubicBezTo>
                    <a:pt x="78867" y="0"/>
                    <a:pt x="101600" y="22733"/>
                    <a:pt x="101600" y="50800"/>
                  </a:cubicBezTo>
                  <a:lnTo>
                    <a:pt x="101600" y="1653032"/>
                  </a:lnTo>
                  <a:cubicBezTo>
                    <a:pt x="101600" y="1681099"/>
                    <a:pt x="78867" y="1703832"/>
                    <a:pt x="50800" y="1703832"/>
                  </a:cubicBezTo>
                  <a:cubicBezTo>
                    <a:pt x="22733" y="1703832"/>
                    <a:pt x="0" y="1681099"/>
                    <a:pt x="0" y="1653032"/>
                  </a:cubicBezTo>
                  <a:close/>
                </a:path>
              </a:pathLst>
            </a:custGeom>
            <a:solidFill>
              <a:srgbClr val="E5E5E0"/>
            </a:solidFill>
          </p:spPr>
        </p:sp>
      </p:grpSp>
      <p:sp>
        <p:nvSpPr>
          <p:cNvPr id="24" name="TextBox 24"/>
          <p:cNvSpPr txBox="1"/>
          <p:nvPr/>
        </p:nvSpPr>
        <p:spPr>
          <a:xfrm>
            <a:off x="13834320" y="4670822"/>
            <a:ext cx="2270369" cy="3123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87"/>
              </a:lnSpc>
            </a:pPr>
            <a:r>
              <a:rPr lang="en-US" sz="1750">
                <a:solidFill>
                  <a:srgbClr val="272525"/>
                </a:solidFill>
                <a:latin typeface="Arimo"/>
                <a:ea typeface="Arimo"/>
                <a:cs typeface="Arimo"/>
                <a:sym typeface="Arimo"/>
              </a:rPr>
              <a:t>Web-клиент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3834320" y="5070872"/>
            <a:ext cx="3626939" cy="2668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lang="en-US" sz="1375">
                <a:solidFill>
                  <a:srgbClr val="272525"/>
                </a:solidFill>
                <a:latin typeface="Lato"/>
                <a:ea typeface="Lato"/>
                <a:cs typeface="Lato"/>
                <a:sym typeface="Lato"/>
              </a:rPr>
              <a:t>ASP.NET Core MVC + Razor Pages</a:t>
            </a:r>
          </a:p>
        </p:txBody>
      </p:sp>
      <p:grpSp>
        <p:nvGrpSpPr>
          <p:cNvPr id="26" name="Group 26"/>
          <p:cNvGrpSpPr/>
          <p:nvPr/>
        </p:nvGrpSpPr>
        <p:grpSpPr>
          <a:xfrm>
            <a:off x="9365456" y="5883326"/>
            <a:ext cx="4104380" cy="1058618"/>
            <a:chOff x="0" y="0"/>
            <a:chExt cx="5472506" cy="1411491"/>
          </a:xfrm>
        </p:grpSpPr>
        <p:sp>
          <p:nvSpPr>
            <p:cNvPr id="27" name="Freeform 27"/>
            <p:cNvSpPr/>
            <p:nvPr/>
          </p:nvSpPr>
          <p:spPr>
            <a:xfrm>
              <a:off x="12700" y="12700"/>
              <a:ext cx="5447157" cy="1386078"/>
            </a:xfrm>
            <a:custGeom>
              <a:avLst/>
              <a:gdLst/>
              <a:ahLst/>
              <a:cxnLst/>
              <a:rect l="l" t="t" r="r" b="b"/>
              <a:pathLst>
                <a:path w="5447157" h="1386078">
                  <a:moveTo>
                    <a:pt x="0" y="121920"/>
                  </a:moveTo>
                  <a:cubicBezTo>
                    <a:pt x="0" y="54610"/>
                    <a:pt x="55372" y="0"/>
                    <a:pt x="123571" y="0"/>
                  </a:cubicBezTo>
                  <a:lnTo>
                    <a:pt x="5323586" y="0"/>
                  </a:lnTo>
                  <a:cubicBezTo>
                    <a:pt x="5391785" y="0"/>
                    <a:pt x="5447157" y="54610"/>
                    <a:pt x="5447157" y="121920"/>
                  </a:cubicBezTo>
                  <a:lnTo>
                    <a:pt x="5447157" y="1264158"/>
                  </a:lnTo>
                  <a:cubicBezTo>
                    <a:pt x="5447157" y="1331468"/>
                    <a:pt x="5391785" y="1386078"/>
                    <a:pt x="5323586" y="1386078"/>
                  </a:cubicBezTo>
                  <a:lnTo>
                    <a:pt x="123571" y="1386078"/>
                  </a:lnTo>
                  <a:cubicBezTo>
                    <a:pt x="55372" y="1386078"/>
                    <a:pt x="0" y="1331468"/>
                    <a:pt x="0" y="1264158"/>
                  </a:cubicBez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  <p:sp>
          <p:nvSpPr>
            <p:cNvPr id="28" name="Freeform 28"/>
            <p:cNvSpPr/>
            <p:nvPr/>
          </p:nvSpPr>
          <p:spPr>
            <a:xfrm>
              <a:off x="0" y="0"/>
              <a:ext cx="5472557" cy="1411478"/>
            </a:xfrm>
            <a:custGeom>
              <a:avLst/>
              <a:gdLst/>
              <a:ahLst/>
              <a:cxnLst/>
              <a:rect l="l" t="t" r="r" b="b"/>
              <a:pathLst>
                <a:path w="5472557" h="1411478">
                  <a:moveTo>
                    <a:pt x="0" y="134620"/>
                  </a:moveTo>
                  <a:cubicBezTo>
                    <a:pt x="0" y="60071"/>
                    <a:pt x="61214" y="0"/>
                    <a:pt x="136271" y="0"/>
                  </a:cubicBezTo>
                  <a:lnTo>
                    <a:pt x="5336286" y="0"/>
                  </a:lnTo>
                  <a:lnTo>
                    <a:pt x="5336286" y="12700"/>
                  </a:lnTo>
                  <a:lnTo>
                    <a:pt x="5336286" y="0"/>
                  </a:lnTo>
                  <a:cubicBezTo>
                    <a:pt x="5411343" y="0"/>
                    <a:pt x="5472557" y="60071"/>
                    <a:pt x="5472557" y="134620"/>
                  </a:cubicBezTo>
                  <a:lnTo>
                    <a:pt x="5459857" y="134620"/>
                  </a:lnTo>
                  <a:lnTo>
                    <a:pt x="5472557" y="134620"/>
                  </a:lnTo>
                  <a:lnTo>
                    <a:pt x="5472557" y="1276858"/>
                  </a:lnTo>
                  <a:lnTo>
                    <a:pt x="5459857" y="1276858"/>
                  </a:lnTo>
                  <a:lnTo>
                    <a:pt x="5472557" y="1276858"/>
                  </a:lnTo>
                  <a:cubicBezTo>
                    <a:pt x="5472557" y="1351407"/>
                    <a:pt x="5411343" y="1411478"/>
                    <a:pt x="5336286" y="1411478"/>
                  </a:cubicBezTo>
                  <a:lnTo>
                    <a:pt x="5336286" y="1398778"/>
                  </a:lnTo>
                  <a:lnTo>
                    <a:pt x="5336286" y="1411478"/>
                  </a:lnTo>
                  <a:lnTo>
                    <a:pt x="136271" y="1411478"/>
                  </a:lnTo>
                  <a:lnTo>
                    <a:pt x="136271" y="1398778"/>
                  </a:lnTo>
                  <a:lnTo>
                    <a:pt x="136271" y="1411478"/>
                  </a:lnTo>
                  <a:cubicBezTo>
                    <a:pt x="61214" y="1411478"/>
                    <a:pt x="0" y="1351407"/>
                    <a:pt x="0" y="1276858"/>
                  </a:cubicBezTo>
                  <a:lnTo>
                    <a:pt x="0" y="134620"/>
                  </a:lnTo>
                  <a:lnTo>
                    <a:pt x="12700" y="134620"/>
                  </a:lnTo>
                  <a:lnTo>
                    <a:pt x="0" y="134620"/>
                  </a:lnTo>
                  <a:moveTo>
                    <a:pt x="25400" y="134620"/>
                  </a:moveTo>
                  <a:lnTo>
                    <a:pt x="25400" y="1276858"/>
                  </a:lnTo>
                  <a:lnTo>
                    <a:pt x="12700" y="1276858"/>
                  </a:lnTo>
                  <a:lnTo>
                    <a:pt x="25400" y="1276858"/>
                  </a:lnTo>
                  <a:cubicBezTo>
                    <a:pt x="25400" y="1337056"/>
                    <a:pt x="74930" y="1386078"/>
                    <a:pt x="136271" y="1386078"/>
                  </a:cubicBezTo>
                  <a:lnTo>
                    <a:pt x="5336286" y="1386078"/>
                  </a:lnTo>
                  <a:cubicBezTo>
                    <a:pt x="5397627" y="1386078"/>
                    <a:pt x="5447157" y="1337056"/>
                    <a:pt x="5447157" y="1276858"/>
                  </a:cubicBezTo>
                  <a:lnTo>
                    <a:pt x="5447157" y="134620"/>
                  </a:lnTo>
                  <a:cubicBezTo>
                    <a:pt x="5447157" y="74422"/>
                    <a:pt x="5397627" y="25400"/>
                    <a:pt x="5336286" y="25400"/>
                  </a:cubicBezTo>
                  <a:lnTo>
                    <a:pt x="136271" y="25400"/>
                  </a:lnTo>
                  <a:lnTo>
                    <a:pt x="136271" y="12700"/>
                  </a:lnTo>
                  <a:lnTo>
                    <a:pt x="136271" y="25400"/>
                  </a:lnTo>
                  <a:cubicBezTo>
                    <a:pt x="74930" y="25400"/>
                    <a:pt x="25400" y="74422"/>
                    <a:pt x="25400" y="134620"/>
                  </a:cubicBezTo>
                  <a:close/>
                </a:path>
              </a:pathLst>
            </a:custGeom>
            <a:solidFill>
              <a:srgbClr val="CECEC9"/>
            </a:solidFill>
          </p:spPr>
        </p:sp>
      </p:grpSp>
      <p:grpSp>
        <p:nvGrpSpPr>
          <p:cNvPr id="29" name="Group 29"/>
          <p:cNvGrpSpPr/>
          <p:nvPr/>
        </p:nvGrpSpPr>
        <p:grpSpPr>
          <a:xfrm>
            <a:off x="9355931" y="5892851"/>
            <a:ext cx="76200" cy="1039568"/>
            <a:chOff x="0" y="0"/>
            <a:chExt cx="101600" cy="1386091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101600" cy="1386078"/>
            </a:xfrm>
            <a:custGeom>
              <a:avLst/>
              <a:gdLst/>
              <a:ahLst/>
              <a:cxnLst/>
              <a:rect l="l" t="t" r="r" b="b"/>
              <a:pathLst>
                <a:path w="101600" h="1386078">
                  <a:moveTo>
                    <a:pt x="0" y="50800"/>
                  </a:moveTo>
                  <a:cubicBezTo>
                    <a:pt x="0" y="22733"/>
                    <a:pt x="22733" y="0"/>
                    <a:pt x="50800" y="0"/>
                  </a:cubicBezTo>
                  <a:cubicBezTo>
                    <a:pt x="78867" y="0"/>
                    <a:pt x="101600" y="22733"/>
                    <a:pt x="101600" y="50800"/>
                  </a:cubicBezTo>
                  <a:lnTo>
                    <a:pt x="101600" y="1335278"/>
                  </a:lnTo>
                  <a:cubicBezTo>
                    <a:pt x="101600" y="1363345"/>
                    <a:pt x="78867" y="1386078"/>
                    <a:pt x="50800" y="1386078"/>
                  </a:cubicBezTo>
                  <a:cubicBezTo>
                    <a:pt x="22733" y="1386078"/>
                    <a:pt x="0" y="1363345"/>
                    <a:pt x="0" y="1335278"/>
                  </a:cubicBezTo>
                  <a:close/>
                </a:path>
              </a:pathLst>
            </a:custGeom>
            <a:solidFill>
              <a:srgbClr val="E5E5E0"/>
            </a:solidFill>
          </p:spPr>
        </p:sp>
      </p:grpSp>
      <p:sp>
        <p:nvSpPr>
          <p:cNvPr id="31" name="TextBox 31"/>
          <p:cNvSpPr txBox="1"/>
          <p:nvPr/>
        </p:nvSpPr>
        <p:spPr>
          <a:xfrm>
            <a:off x="9632747" y="6064891"/>
            <a:ext cx="2270369" cy="3123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87"/>
              </a:lnSpc>
            </a:pPr>
            <a:r>
              <a:rPr lang="en-US" sz="1750">
                <a:solidFill>
                  <a:srgbClr val="272525"/>
                </a:solidFill>
                <a:latin typeface="Arimo"/>
                <a:ea typeface="Arimo"/>
                <a:cs typeface="Arimo"/>
                <a:sym typeface="Arimo"/>
              </a:rPr>
              <a:t>Desktop-клиент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9632747" y="6464941"/>
            <a:ext cx="3626939" cy="2668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lang="en-US" sz="1375">
                <a:solidFill>
                  <a:srgbClr val="272525"/>
                </a:solidFill>
                <a:latin typeface="Lato"/>
                <a:ea typeface="Lato"/>
                <a:cs typeface="Lato"/>
                <a:sym typeface="Lato"/>
              </a:rPr>
              <a:t>WPF с паттерном MVVM</a:t>
            </a:r>
          </a:p>
        </p:txBody>
      </p:sp>
      <p:grpSp>
        <p:nvGrpSpPr>
          <p:cNvPr id="33" name="Group 33"/>
          <p:cNvGrpSpPr/>
          <p:nvPr/>
        </p:nvGrpSpPr>
        <p:grpSpPr>
          <a:xfrm>
            <a:off x="13567019" y="5883326"/>
            <a:ext cx="4104380" cy="1058618"/>
            <a:chOff x="0" y="0"/>
            <a:chExt cx="5472506" cy="1411491"/>
          </a:xfrm>
        </p:grpSpPr>
        <p:sp>
          <p:nvSpPr>
            <p:cNvPr id="34" name="Freeform 34"/>
            <p:cNvSpPr/>
            <p:nvPr/>
          </p:nvSpPr>
          <p:spPr>
            <a:xfrm>
              <a:off x="12700" y="12700"/>
              <a:ext cx="5447157" cy="1386078"/>
            </a:xfrm>
            <a:custGeom>
              <a:avLst/>
              <a:gdLst/>
              <a:ahLst/>
              <a:cxnLst/>
              <a:rect l="l" t="t" r="r" b="b"/>
              <a:pathLst>
                <a:path w="5447157" h="1386078">
                  <a:moveTo>
                    <a:pt x="0" y="121920"/>
                  </a:moveTo>
                  <a:cubicBezTo>
                    <a:pt x="0" y="54610"/>
                    <a:pt x="55372" y="0"/>
                    <a:pt x="123571" y="0"/>
                  </a:cubicBezTo>
                  <a:lnTo>
                    <a:pt x="5323586" y="0"/>
                  </a:lnTo>
                  <a:cubicBezTo>
                    <a:pt x="5391785" y="0"/>
                    <a:pt x="5447157" y="54610"/>
                    <a:pt x="5447157" y="121920"/>
                  </a:cubicBezTo>
                  <a:lnTo>
                    <a:pt x="5447157" y="1264158"/>
                  </a:lnTo>
                  <a:cubicBezTo>
                    <a:pt x="5447157" y="1331468"/>
                    <a:pt x="5391785" y="1386078"/>
                    <a:pt x="5323586" y="1386078"/>
                  </a:cubicBezTo>
                  <a:lnTo>
                    <a:pt x="123571" y="1386078"/>
                  </a:lnTo>
                  <a:cubicBezTo>
                    <a:pt x="55372" y="1386078"/>
                    <a:pt x="0" y="1331468"/>
                    <a:pt x="0" y="1264158"/>
                  </a:cubicBez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  <p:sp>
          <p:nvSpPr>
            <p:cNvPr id="35" name="Freeform 35"/>
            <p:cNvSpPr/>
            <p:nvPr/>
          </p:nvSpPr>
          <p:spPr>
            <a:xfrm>
              <a:off x="0" y="0"/>
              <a:ext cx="5472557" cy="1411478"/>
            </a:xfrm>
            <a:custGeom>
              <a:avLst/>
              <a:gdLst/>
              <a:ahLst/>
              <a:cxnLst/>
              <a:rect l="l" t="t" r="r" b="b"/>
              <a:pathLst>
                <a:path w="5472557" h="1411478">
                  <a:moveTo>
                    <a:pt x="0" y="134620"/>
                  </a:moveTo>
                  <a:cubicBezTo>
                    <a:pt x="0" y="60071"/>
                    <a:pt x="61214" y="0"/>
                    <a:pt x="136271" y="0"/>
                  </a:cubicBezTo>
                  <a:lnTo>
                    <a:pt x="5336286" y="0"/>
                  </a:lnTo>
                  <a:lnTo>
                    <a:pt x="5336286" y="12700"/>
                  </a:lnTo>
                  <a:lnTo>
                    <a:pt x="5336286" y="0"/>
                  </a:lnTo>
                  <a:cubicBezTo>
                    <a:pt x="5411343" y="0"/>
                    <a:pt x="5472557" y="60071"/>
                    <a:pt x="5472557" y="134620"/>
                  </a:cubicBezTo>
                  <a:lnTo>
                    <a:pt x="5459857" y="134620"/>
                  </a:lnTo>
                  <a:lnTo>
                    <a:pt x="5472557" y="134620"/>
                  </a:lnTo>
                  <a:lnTo>
                    <a:pt x="5472557" y="1276858"/>
                  </a:lnTo>
                  <a:lnTo>
                    <a:pt x="5459857" y="1276858"/>
                  </a:lnTo>
                  <a:lnTo>
                    <a:pt x="5472557" y="1276858"/>
                  </a:lnTo>
                  <a:cubicBezTo>
                    <a:pt x="5472557" y="1351407"/>
                    <a:pt x="5411343" y="1411478"/>
                    <a:pt x="5336286" y="1411478"/>
                  </a:cubicBezTo>
                  <a:lnTo>
                    <a:pt x="5336286" y="1398778"/>
                  </a:lnTo>
                  <a:lnTo>
                    <a:pt x="5336286" y="1411478"/>
                  </a:lnTo>
                  <a:lnTo>
                    <a:pt x="136271" y="1411478"/>
                  </a:lnTo>
                  <a:lnTo>
                    <a:pt x="136271" y="1398778"/>
                  </a:lnTo>
                  <a:lnTo>
                    <a:pt x="136271" y="1411478"/>
                  </a:lnTo>
                  <a:cubicBezTo>
                    <a:pt x="61214" y="1411478"/>
                    <a:pt x="0" y="1351407"/>
                    <a:pt x="0" y="1276858"/>
                  </a:cubicBezTo>
                  <a:lnTo>
                    <a:pt x="0" y="134620"/>
                  </a:lnTo>
                  <a:lnTo>
                    <a:pt x="12700" y="134620"/>
                  </a:lnTo>
                  <a:lnTo>
                    <a:pt x="0" y="134620"/>
                  </a:lnTo>
                  <a:moveTo>
                    <a:pt x="25400" y="134620"/>
                  </a:moveTo>
                  <a:lnTo>
                    <a:pt x="25400" y="1276858"/>
                  </a:lnTo>
                  <a:lnTo>
                    <a:pt x="12700" y="1276858"/>
                  </a:lnTo>
                  <a:lnTo>
                    <a:pt x="25400" y="1276858"/>
                  </a:lnTo>
                  <a:cubicBezTo>
                    <a:pt x="25400" y="1337056"/>
                    <a:pt x="74930" y="1386078"/>
                    <a:pt x="136271" y="1386078"/>
                  </a:cubicBezTo>
                  <a:lnTo>
                    <a:pt x="5336286" y="1386078"/>
                  </a:lnTo>
                  <a:cubicBezTo>
                    <a:pt x="5397627" y="1386078"/>
                    <a:pt x="5447157" y="1337056"/>
                    <a:pt x="5447157" y="1276858"/>
                  </a:cubicBezTo>
                  <a:lnTo>
                    <a:pt x="5447157" y="134620"/>
                  </a:lnTo>
                  <a:cubicBezTo>
                    <a:pt x="5447157" y="74422"/>
                    <a:pt x="5397627" y="25400"/>
                    <a:pt x="5336286" y="25400"/>
                  </a:cubicBezTo>
                  <a:lnTo>
                    <a:pt x="136271" y="25400"/>
                  </a:lnTo>
                  <a:lnTo>
                    <a:pt x="136271" y="12700"/>
                  </a:lnTo>
                  <a:lnTo>
                    <a:pt x="136271" y="25400"/>
                  </a:lnTo>
                  <a:cubicBezTo>
                    <a:pt x="74930" y="25400"/>
                    <a:pt x="25400" y="74422"/>
                    <a:pt x="25400" y="134620"/>
                  </a:cubicBezTo>
                  <a:close/>
                </a:path>
              </a:pathLst>
            </a:custGeom>
            <a:solidFill>
              <a:srgbClr val="CECEC9"/>
            </a:solidFill>
          </p:spPr>
        </p:sp>
      </p:grpSp>
      <p:grpSp>
        <p:nvGrpSpPr>
          <p:cNvPr id="36" name="Group 36"/>
          <p:cNvGrpSpPr/>
          <p:nvPr/>
        </p:nvGrpSpPr>
        <p:grpSpPr>
          <a:xfrm>
            <a:off x="13557494" y="5892851"/>
            <a:ext cx="76200" cy="1039568"/>
            <a:chOff x="0" y="0"/>
            <a:chExt cx="101600" cy="1386091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101600" cy="1386078"/>
            </a:xfrm>
            <a:custGeom>
              <a:avLst/>
              <a:gdLst/>
              <a:ahLst/>
              <a:cxnLst/>
              <a:rect l="l" t="t" r="r" b="b"/>
              <a:pathLst>
                <a:path w="101600" h="1386078">
                  <a:moveTo>
                    <a:pt x="0" y="50800"/>
                  </a:moveTo>
                  <a:cubicBezTo>
                    <a:pt x="0" y="22733"/>
                    <a:pt x="22733" y="0"/>
                    <a:pt x="50800" y="0"/>
                  </a:cubicBezTo>
                  <a:cubicBezTo>
                    <a:pt x="78867" y="0"/>
                    <a:pt x="101600" y="22733"/>
                    <a:pt x="101600" y="50800"/>
                  </a:cubicBezTo>
                  <a:lnTo>
                    <a:pt x="101600" y="1335278"/>
                  </a:lnTo>
                  <a:cubicBezTo>
                    <a:pt x="101600" y="1363345"/>
                    <a:pt x="78867" y="1386078"/>
                    <a:pt x="50800" y="1386078"/>
                  </a:cubicBezTo>
                  <a:cubicBezTo>
                    <a:pt x="22733" y="1386078"/>
                    <a:pt x="0" y="1363345"/>
                    <a:pt x="0" y="1335278"/>
                  </a:cubicBezTo>
                  <a:close/>
                </a:path>
              </a:pathLst>
            </a:custGeom>
            <a:solidFill>
              <a:srgbClr val="E5E5E0"/>
            </a:solidFill>
          </p:spPr>
        </p:sp>
      </p:grpSp>
      <p:sp>
        <p:nvSpPr>
          <p:cNvPr id="38" name="TextBox 38"/>
          <p:cNvSpPr txBox="1"/>
          <p:nvPr/>
        </p:nvSpPr>
        <p:spPr>
          <a:xfrm>
            <a:off x="13834320" y="6064891"/>
            <a:ext cx="2270369" cy="3123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87"/>
              </a:lnSpc>
            </a:pPr>
            <a:r>
              <a:rPr lang="en-US" sz="1750">
                <a:solidFill>
                  <a:srgbClr val="272525"/>
                </a:solidFill>
                <a:latin typeface="Arimo"/>
                <a:ea typeface="Arimo"/>
                <a:cs typeface="Arimo"/>
                <a:sym typeface="Arimo"/>
              </a:rPr>
              <a:t>API &amp; Документация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3834320" y="6464941"/>
            <a:ext cx="3626939" cy="2668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lang="en-US" sz="1375">
                <a:solidFill>
                  <a:srgbClr val="272525"/>
                </a:solidFill>
                <a:latin typeface="Lato"/>
                <a:ea typeface="Lato"/>
                <a:cs typeface="Lato"/>
                <a:sym typeface="Lato"/>
              </a:rPr>
              <a:t>ASP.NET Core Web API + Swagger UI</a:t>
            </a:r>
          </a:p>
        </p:txBody>
      </p:sp>
      <p:pic>
        <p:nvPicPr>
          <p:cNvPr id="43" name="Рисунок 42">
            <a:extLst>
              <a:ext uri="{FF2B5EF4-FFF2-40B4-BE49-F238E27FC236}">
                <a16:creationId xmlns:a16="http://schemas.microsoft.com/office/drawing/2014/main" id="{48DC8178-A019-0C94-D4F6-206F984586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6925" y="2870402"/>
            <a:ext cx="7268589" cy="49060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496043" y="351682"/>
            <a:ext cx="5402313" cy="4810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312F2B"/>
                </a:solidFill>
                <a:latin typeface="Arimo"/>
                <a:ea typeface="Arimo"/>
                <a:cs typeface="Arimo"/>
                <a:sym typeface="Arimo"/>
              </a:rPr>
              <a:t>База данных: структура и связи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296401" y="4330355"/>
            <a:ext cx="8666300" cy="4855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sz="2400" dirty="0" err="1">
                <a:solidFill>
                  <a:srgbClr val="312F2B"/>
                </a:solidFill>
                <a:latin typeface="Arimo"/>
                <a:ea typeface="Arimo"/>
                <a:cs typeface="Arimo"/>
                <a:sym typeface="Arimo"/>
              </a:rPr>
              <a:t>Логика</a:t>
            </a:r>
            <a:r>
              <a:rPr lang="en-US" sz="2400" dirty="0">
                <a:solidFill>
                  <a:srgbClr val="312F2B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400" dirty="0" err="1">
                <a:solidFill>
                  <a:srgbClr val="312F2B"/>
                </a:solidFill>
                <a:latin typeface="Arimo"/>
                <a:ea typeface="Arimo"/>
                <a:cs typeface="Arimo"/>
                <a:sym typeface="Arimo"/>
              </a:rPr>
              <a:t>профилирования</a:t>
            </a:r>
            <a:endParaRPr lang="en-US" sz="2400" dirty="0">
              <a:solidFill>
                <a:srgbClr val="312F2B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9316900" y="4835728"/>
            <a:ext cx="8475021" cy="11918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dirty="0" err="1">
                <a:solidFill>
                  <a:srgbClr val="272525"/>
                </a:solidFill>
                <a:latin typeface="Lato"/>
                <a:ea typeface="Lato"/>
                <a:cs typeface="Lato"/>
                <a:sym typeface="Lato"/>
              </a:rPr>
              <a:t>Каждое</a:t>
            </a:r>
            <a:r>
              <a:rPr lang="en-US" dirty="0">
                <a:solidFill>
                  <a:srgbClr val="27252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dirty="0" err="1">
                <a:solidFill>
                  <a:srgbClr val="272525"/>
                </a:solidFill>
                <a:latin typeface="Lato"/>
                <a:ea typeface="Lato"/>
                <a:cs typeface="Lato"/>
                <a:sym typeface="Lato"/>
              </a:rPr>
              <a:t>действие</a:t>
            </a:r>
            <a:r>
              <a:rPr lang="en-US" dirty="0">
                <a:solidFill>
                  <a:srgbClr val="27252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dirty="0" err="1">
                <a:solidFill>
                  <a:srgbClr val="272525"/>
                </a:solidFill>
                <a:latin typeface="Lato"/>
                <a:ea typeface="Lato"/>
                <a:cs typeface="Lato"/>
                <a:sym typeface="Lato"/>
              </a:rPr>
              <a:t>пользователя</a:t>
            </a:r>
            <a:r>
              <a:rPr lang="en-US" dirty="0">
                <a:solidFill>
                  <a:srgbClr val="27252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dirty="0" err="1">
                <a:solidFill>
                  <a:srgbClr val="272525"/>
                </a:solidFill>
                <a:latin typeface="Lato"/>
                <a:ea typeface="Lato"/>
                <a:cs typeface="Lato"/>
                <a:sym typeface="Lato"/>
              </a:rPr>
              <a:t>фиксируется</a:t>
            </a:r>
            <a:r>
              <a:rPr lang="en-US" dirty="0">
                <a:solidFill>
                  <a:srgbClr val="272525"/>
                </a:solidFill>
                <a:latin typeface="Lato"/>
                <a:ea typeface="Lato"/>
                <a:cs typeface="Lato"/>
                <a:sym typeface="Lato"/>
              </a:rPr>
              <a:t> в </a:t>
            </a:r>
            <a:r>
              <a:rPr lang="en-US" dirty="0" err="1">
                <a:solidFill>
                  <a:srgbClr val="272525"/>
                </a:solidFill>
                <a:latin typeface="Lato"/>
                <a:ea typeface="Lato"/>
                <a:cs typeface="Lato"/>
                <a:sym typeface="Lato"/>
              </a:rPr>
              <a:t>таблице</a:t>
            </a:r>
            <a:r>
              <a:rPr lang="en-US" dirty="0">
                <a:solidFill>
                  <a:srgbClr val="27252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dirty="0" err="1">
                <a:solidFill>
                  <a:srgbClr val="272525"/>
                </a:solidFill>
                <a:latin typeface="Lato"/>
                <a:ea typeface="Lato"/>
                <a:cs typeface="Lato"/>
                <a:sym typeface="Lato"/>
              </a:rPr>
              <a:t>user_actions</a:t>
            </a:r>
            <a:r>
              <a:rPr lang="en-US" dirty="0">
                <a:solidFill>
                  <a:srgbClr val="272525"/>
                </a:solidFill>
                <a:latin typeface="Lato"/>
                <a:ea typeface="Lato"/>
                <a:cs typeface="Lato"/>
                <a:sym typeface="Lato"/>
              </a:rPr>
              <a:t> и </a:t>
            </a:r>
            <a:r>
              <a:rPr lang="en-US" dirty="0" err="1">
                <a:solidFill>
                  <a:srgbClr val="272525"/>
                </a:solidFill>
                <a:latin typeface="Lato"/>
                <a:ea typeface="Lato"/>
                <a:cs typeface="Lato"/>
                <a:sym typeface="Lato"/>
              </a:rPr>
              <a:t>формирует</a:t>
            </a:r>
            <a:r>
              <a:rPr lang="en-US" dirty="0">
                <a:solidFill>
                  <a:srgbClr val="27252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dirty="0" err="1">
                <a:solidFill>
                  <a:srgbClr val="272525"/>
                </a:solidFill>
                <a:latin typeface="Lato"/>
                <a:ea typeface="Lato"/>
                <a:cs typeface="Lato"/>
                <a:sym typeface="Lato"/>
              </a:rPr>
              <a:t>профиль</a:t>
            </a:r>
            <a:r>
              <a:rPr lang="en-US" dirty="0">
                <a:solidFill>
                  <a:srgbClr val="27252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dirty="0" err="1">
                <a:solidFill>
                  <a:srgbClr val="272525"/>
                </a:solidFill>
                <a:latin typeface="Lato"/>
                <a:ea typeface="Lato"/>
                <a:cs typeface="Lato"/>
                <a:sym typeface="Lato"/>
              </a:rPr>
              <a:t>интересов</a:t>
            </a:r>
            <a:r>
              <a:rPr lang="en-US" dirty="0">
                <a:solidFill>
                  <a:srgbClr val="272525"/>
                </a:solidFill>
                <a:latin typeface="Lato"/>
                <a:ea typeface="Lato"/>
                <a:cs typeface="Lato"/>
                <a:sym typeface="Lato"/>
              </a:rPr>
              <a:t>, </a:t>
            </a:r>
            <a:r>
              <a:rPr lang="en-US" dirty="0" err="1">
                <a:solidFill>
                  <a:srgbClr val="272525"/>
                </a:solidFill>
                <a:latin typeface="Lato"/>
                <a:ea typeface="Lato"/>
                <a:cs typeface="Lato"/>
                <a:sym typeface="Lato"/>
              </a:rPr>
              <a:t>который</a:t>
            </a:r>
            <a:r>
              <a:rPr lang="en-US" dirty="0">
                <a:solidFill>
                  <a:srgbClr val="27252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dirty="0" err="1">
                <a:solidFill>
                  <a:srgbClr val="272525"/>
                </a:solidFill>
                <a:latin typeface="Lato"/>
                <a:ea typeface="Lato"/>
                <a:cs typeface="Lato"/>
                <a:sym typeface="Lato"/>
              </a:rPr>
              <a:t>используется</a:t>
            </a:r>
            <a:r>
              <a:rPr lang="en-US" dirty="0">
                <a:solidFill>
                  <a:srgbClr val="27252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dirty="0" err="1">
                <a:solidFill>
                  <a:srgbClr val="272525"/>
                </a:solidFill>
                <a:latin typeface="Lato"/>
                <a:ea typeface="Lato"/>
                <a:cs typeface="Lato"/>
                <a:sym typeface="Lato"/>
              </a:rPr>
              <a:t>всеми</a:t>
            </a:r>
            <a:r>
              <a:rPr lang="en-US" dirty="0">
                <a:solidFill>
                  <a:srgbClr val="27252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dirty="0" err="1">
                <a:solidFill>
                  <a:srgbClr val="272525"/>
                </a:solidFill>
                <a:latin typeface="Lato"/>
                <a:ea typeface="Lato"/>
                <a:cs typeface="Lato"/>
                <a:sym typeface="Lato"/>
              </a:rPr>
              <a:t>алгоритмами</a:t>
            </a:r>
            <a:r>
              <a:rPr lang="en-US" dirty="0">
                <a:solidFill>
                  <a:srgbClr val="27252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dirty="0" err="1">
                <a:solidFill>
                  <a:srgbClr val="272525"/>
                </a:solidFill>
                <a:latin typeface="Lato"/>
                <a:ea typeface="Lato"/>
                <a:cs typeface="Lato"/>
                <a:sym typeface="Lato"/>
              </a:rPr>
              <a:t>рекомендаций</a:t>
            </a:r>
            <a:r>
              <a:rPr lang="en-US" dirty="0">
                <a:solidFill>
                  <a:srgbClr val="272525"/>
                </a:solidFill>
                <a:latin typeface="Lato"/>
                <a:ea typeface="Lato"/>
                <a:cs typeface="Lato"/>
                <a:sym typeface="Lato"/>
              </a:rPr>
              <a:t>.</a:t>
            </a:r>
          </a:p>
        </p:txBody>
      </p:sp>
      <p:pic>
        <p:nvPicPr>
          <p:cNvPr id="27" name="Рисунок 26">
            <a:extLst>
              <a:ext uri="{FF2B5EF4-FFF2-40B4-BE49-F238E27FC236}">
                <a16:creationId xmlns:a16="http://schemas.microsoft.com/office/drawing/2014/main" id="{30E44E1F-286D-1F30-CDB9-F7F94F1BF2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9200" y="2614259"/>
            <a:ext cx="5163271" cy="505848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992238" y="1446905"/>
            <a:ext cx="7088238" cy="9431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>
                <a:solidFill>
                  <a:srgbClr val="312F2B"/>
                </a:solidFill>
                <a:latin typeface="Arimo"/>
                <a:ea typeface="Arimo"/>
                <a:cs typeface="Arimo"/>
                <a:sym typeface="Arimo"/>
              </a:rPr>
              <a:t>Стек технологий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055314" y="2777128"/>
            <a:ext cx="3544043" cy="4810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272525"/>
                </a:solidFill>
                <a:latin typeface="Arimo"/>
                <a:ea typeface="Arimo"/>
                <a:cs typeface="Arimo"/>
                <a:sym typeface="Arimo"/>
              </a:rPr>
              <a:t>Язык и платформа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055314" y="3333007"/>
            <a:ext cx="8382448" cy="5488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272525"/>
                </a:solidFill>
                <a:latin typeface="Lato"/>
                <a:ea typeface="Lato"/>
                <a:cs typeface="Lato"/>
                <a:sym typeface="Lato"/>
              </a:rPr>
              <a:t>C# · .NET 9 · ASP.NET Core Web API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055314" y="4410818"/>
            <a:ext cx="3544043" cy="4810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272525"/>
                </a:solidFill>
                <a:latin typeface="Arimo"/>
                <a:ea typeface="Arimo"/>
                <a:cs typeface="Arimo"/>
                <a:sym typeface="Arimo"/>
              </a:rPr>
              <a:t>Хранение данных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055314" y="4966697"/>
            <a:ext cx="8382448" cy="5488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272525"/>
                </a:solidFill>
                <a:latin typeface="Lato"/>
                <a:ea typeface="Lato"/>
                <a:cs typeface="Lato"/>
                <a:sym typeface="Lato"/>
              </a:rPr>
              <a:t>PostgreSQL · Entity Framework Core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055314" y="6044508"/>
            <a:ext cx="3544043" cy="4810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272525"/>
                </a:solidFill>
                <a:latin typeface="Arimo"/>
                <a:ea typeface="Arimo"/>
                <a:cs typeface="Arimo"/>
                <a:sym typeface="Arimo"/>
              </a:rPr>
              <a:t>Безопасность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055314" y="6600377"/>
            <a:ext cx="8382448" cy="5488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272525"/>
                </a:solidFill>
                <a:latin typeface="Lato"/>
                <a:ea typeface="Lato"/>
                <a:cs typeface="Lato"/>
                <a:sym typeface="Lato"/>
              </a:rPr>
              <a:t>JWT · Ролевой доступ · Rate Limiting · Lockout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055314" y="7678188"/>
            <a:ext cx="4442222" cy="4810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272525"/>
                </a:solidFill>
                <a:latin typeface="Arimo"/>
                <a:ea typeface="Arimo"/>
                <a:cs typeface="Arimo"/>
                <a:sym typeface="Arimo"/>
              </a:rPr>
              <a:t>Качество и документация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055314" y="8234067"/>
            <a:ext cx="8382448" cy="5488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272525"/>
                </a:solidFill>
                <a:latin typeface="Lato"/>
                <a:ea typeface="Lato"/>
                <a:cs typeface="Lato"/>
                <a:sym typeface="Lato"/>
              </a:rPr>
              <a:t>xUnit · Swagger UI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961282" y="929583"/>
            <a:ext cx="7109374" cy="7151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74"/>
              </a:lnSpc>
            </a:pPr>
            <a:r>
              <a:rPr lang="en-US" sz="4312">
                <a:solidFill>
                  <a:srgbClr val="312F2B"/>
                </a:solidFill>
                <a:latin typeface="Arimo"/>
                <a:ea typeface="Arimo"/>
                <a:cs typeface="Arimo"/>
                <a:sym typeface="Arimo"/>
              </a:rPr>
              <a:t>Алгоритмы рекомендаций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2006203" y="3423495"/>
            <a:ext cx="8359826" cy="3604917"/>
            <a:chOff x="0" y="0"/>
            <a:chExt cx="11146434" cy="4806556"/>
          </a:xfrm>
        </p:grpSpPr>
        <p:sp>
          <p:nvSpPr>
            <p:cNvPr id="8" name="Freeform 8" descr="preencoded.png"/>
            <p:cNvSpPr/>
            <p:nvPr/>
          </p:nvSpPr>
          <p:spPr>
            <a:xfrm>
              <a:off x="0" y="0"/>
              <a:ext cx="11146409" cy="4806569"/>
            </a:xfrm>
            <a:custGeom>
              <a:avLst/>
              <a:gdLst/>
              <a:ahLst/>
              <a:cxnLst/>
              <a:rect l="l" t="t" r="r" b="b"/>
              <a:pathLst>
                <a:path w="11146409" h="4806569">
                  <a:moveTo>
                    <a:pt x="0" y="0"/>
                  </a:moveTo>
                  <a:lnTo>
                    <a:pt x="11146409" y="0"/>
                  </a:lnTo>
                  <a:lnTo>
                    <a:pt x="11146409" y="4806569"/>
                  </a:lnTo>
                  <a:lnTo>
                    <a:pt x="0" y="48065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80" r="-81"/>
              </a:stretch>
            </a:blipFill>
          </p:spPr>
        </p:sp>
      </p:grpSp>
      <p:sp>
        <p:nvSpPr>
          <p:cNvPr id="9" name="TextBox 9"/>
          <p:cNvSpPr txBox="1"/>
          <p:nvPr/>
        </p:nvSpPr>
        <p:spPr>
          <a:xfrm>
            <a:off x="2568769" y="6325733"/>
            <a:ext cx="2123342" cy="2561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12"/>
              </a:lnSpc>
            </a:pPr>
            <a:r>
              <a:rPr lang="en-US" sz="1437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Выдача рекомендаций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568769" y="5491248"/>
            <a:ext cx="1896542" cy="2561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12"/>
              </a:lnSpc>
            </a:pPr>
            <a:r>
              <a:rPr lang="en-US" sz="1437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Объяснимость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568769" y="4665202"/>
            <a:ext cx="1896542" cy="2561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12"/>
              </a:lnSpc>
            </a:pPr>
            <a:r>
              <a:rPr lang="en-US" sz="1437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Оценка контента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568769" y="3830717"/>
            <a:ext cx="1896542" cy="2561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12"/>
              </a:lnSpc>
            </a:pPr>
            <a:r>
              <a:rPr lang="en-US" sz="1437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Сбор действий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61282" y="7172325"/>
            <a:ext cx="10449820" cy="6712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7"/>
              </a:lnSpc>
            </a:pPr>
            <a:r>
              <a:rPr lang="en-US" sz="1687">
                <a:solidFill>
                  <a:srgbClr val="272525"/>
                </a:solidFill>
                <a:latin typeface="Lato"/>
                <a:ea typeface="Lato"/>
                <a:cs typeface="Lato"/>
                <a:sym typeface="Lato"/>
              </a:rPr>
              <a:t>Многоуровневый подход обеспечивает точность на старте (Popular) и глубину персонализации по мере накопления данных (KNN).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11942416" y="2077345"/>
            <a:ext cx="5407971" cy="1662265"/>
            <a:chOff x="0" y="0"/>
            <a:chExt cx="7210628" cy="2216353"/>
          </a:xfrm>
        </p:grpSpPr>
        <p:sp>
          <p:nvSpPr>
            <p:cNvPr id="15" name="Freeform 15"/>
            <p:cNvSpPr/>
            <p:nvPr/>
          </p:nvSpPr>
          <p:spPr>
            <a:xfrm>
              <a:off x="19050" y="19050"/>
              <a:ext cx="7172579" cy="2178304"/>
            </a:xfrm>
            <a:custGeom>
              <a:avLst/>
              <a:gdLst/>
              <a:ahLst/>
              <a:cxnLst/>
              <a:rect l="l" t="t" r="r" b="b"/>
              <a:pathLst>
                <a:path w="7172579" h="2178304">
                  <a:moveTo>
                    <a:pt x="0" y="123063"/>
                  </a:moveTo>
                  <a:cubicBezTo>
                    <a:pt x="0" y="55118"/>
                    <a:pt x="55753" y="0"/>
                    <a:pt x="124587" y="0"/>
                  </a:cubicBezTo>
                  <a:lnTo>
                    <a:pt x="7047992" y="0"/>
                  </a:lnTo>
                  <a:cubicBezTo>
                    <a:pt x="7116826" y="0"/>
                    <a:pt x="7172579" y="55118"/>
                    <a:pt x="7172579" y="123063"/>
                  </a:cubicBezTo>
                  <a:lnTo>
                    <a:pt x="7172579" y="2055241"/>
                  </a:lnTo>
                  <a:cubicBezTo>
                    <a:pt x="7172579" y="2123186"/>
                    <a:pt x="7116826" y="2178304"/>
                    <a:pt x="7047992" y="2178304"/>
                  </a:cubicBezTo>
                  <a:lnTo>
                    <a:pt x="124587" y="2178304"/>
                  </a:lnTo>
                  <a:cubicBezTo>
                    <a:pt x="55753" y="2178304"/>
                    <a:pt x="0" y="2123186"/>
                    <a:pt x="0" y="2055241"/>
                  </a:cubicBez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  <p:sp>
          <p:nvSpPr>
            <p:cNvPr id="16" name="Freeform 16"/>
            <p:cNvSpPr/>
            <p:nvPr/>
          </p:nvSpPr>
          <p:spPr>
            <a:xfrm>
              <a:off x="0" y="0"/>
              <a:ext cx="7210679" cy="2216404"/>
            </a:xfrm>
            <a:custGeom>
              <a:avLst/>
              <a:gdLst/>
              <a:ahLst/>
              <a:cxnLst/>
              <a:rect l="l" t="t" r="r" b="b"/>
              <a:pathLst>
                <a:path w="7210679" h="2216404">
                  <a:moveTo>
                    <a:pt x="0" y="142113"/>
                  </a:moveTo>
                  <a:cubicBezTo>
                    <a:pt x="0" y="63373"/>
                    <a:pt x="64516" y="0"/>
                    <a:pt x="143637" y="0"/>
                  </a:cubicBezTo>
                  <a:lnTo>
                    <a:pt x="7067042" y="0"/>
                  </a:lnTo>
                  <a:lnTo>
                    <a:pt x="7067042" y="19050"/>
                  </a:lnTo>
                  <a:lnTo>
                    <a:pt x="7067042" y="0"/>
                  </a:lnTo>
                  <a:cubicBezTo>
                    <a:pt x="7146163" y="0"/>
                    <a:pt x="7210679" y="63373"/>
                    <a:pt x="7210679" y="142113"/>
                  </a:cubicBezTo>
                  <a:lnTo>
                    <a:pt x="7191629" y="142113"/>
                  </a:lnTo>
                  <a:lnTo>
                    <a:pt x="7210679" y="142113"/>
                  </a:lnTo>
                  <a:lnTo>
                    <a:pt x="7210679" y="2074291"/>
                  </a:lnTo>
                  <a:lnTo>
                    <a:pt x="7191629" y="2074291"/>
                  </a:lnTo>
                  <a:lnTo>
                    <a:pt x="7210679" y="2074291"/>
                  </a:lnTo>
                  <a:cubicBezTo>
                    <a:pt x="7210679" y="2153031"/>
                    <a:pt x="7146163" y="2216404"/>
                    <a:pt x="7067042" y="2216404"/>
                  </a:cubicBezTo>
                  <a:lnTo>
                    <a:pt x="7067042" y="2197354"/>
                  </a:lnTo>
                  <a:lnTo>
                    <a:pt x="7067042" y="2216404"/>
                  </a:lnTo>
                  <a:lnTo>
                    <a:pt x="143637" y="2216404"/>
                  </a:lnTo>
                  <a:lnTo>
                    <a:pt x="143637" y="2197354"/>
                  </a:lnTo>
                  <a:lnTo>
                    <a:pt x="143637" y="2216404"/>
                  </a:lnTo>
                  <a:cubicBezTo>
                    <a:pt x="64516" y="2216404"/>
                    <a:pt x="0" y="2152904"/>
                    <a:pt x="0" y="2074291"/>
                  </a:cubicBezTo>
                  <a:lnTo>
                    <a:pt x="0" y="142113"/>
                  </a:lnTo>
                  <a:lnTo>
                    <a:pt x="19050" y="142113"/>
                  </a:lnTo>
                  <a:lnTo>
                    <a:pt x="0" y="142113"/>
                  </a:lnTo>
                  <a:moveTo>
                    <a:pt x="38100" y="142113"/>
                  </a:moveTo>
                  <a:lnTo>
                    <a:pt x="38100" y="2074291"/>
                  </a:lnTo>
                  <a:lnTo>
                    <a:pt x="19050" y="2074291"/>
                  </a:lnTo>
                  <a:lnTo>
                    <a:pt x="38100" y="2074291"/>
                  </a:lnTo>
                  <a:cubicBezTo>
                    <a:pt x="38100" y="2131568"/>
                    <a:pt x="85090" y="2178304"/>
                    <a:pt x="143637" y="2178304"/>
                  </a:cubicBezTo>
                  <a:lnTo>
                    <a:pt x="7067042" y="2178304"/>
                  </a:lnTo>
                  <a:cubicBezTo>
                    <a:pt x="7125462" y="2178304"/>
                    <a:pt x="7172579" y="2131568"/>
                    <a:pt x="7172579" y="2074291"/>
                  </a:cubicBezTo>
                  <a:lnTo>
                    <a:pt x="7172579" y="142113"/>
                  </a:lnTo>
                  <a:cubicBezTo>
                    <a:pt x="7172579" y="84836"/>
                    <a:pt x="7125589" y="38100"/>
                    <a:pt x="7067042" y="38100"/>
                  </a:cubicBezTo>
                  <a:lnTo>
                    <a:pt x="143637" y="38100"/>
                  </a:lnTo>
                  <a:lnTo>
                    <a:pt x="143637" y="19050"/>
                  </a:lnTo>
                  <a:lnTo>
                    <a:pt x="143637" y="38100"/>
                  </a:lnTo>
                  <a:cubicBezTo>
                    <a:pt x="85090" y="38100"/>
                    <a:pt x="38100" y="84836"/>
                    <a:pt x="38100" y="142113"/>
                  </a:cubicBezTo>
                  <a:close/>
                </a:path>
              </a:pathLst>
            </a:custGeom>
            <a:solidFill>
              <a:srgbClr val="CECEC9"/>
            </a:solidFill>
          </p:spPr>
        </p:sp>
      </p:grpSp>
      <p:grpSp>
        <p:nvGrpSpPr>
          <p:cNvPr id="17" name="Group 17"/>
          <p:cNvGrpSpPr/>
          <p:nvPr/>
        </p:nvGrpSpPr>
        <p:grpSpPr>
          <a:xfrm>
            <a:off x="11985279" y="2120208"/>
            <a:ext cx="878834" cy="1576540"/>
            <a:chOff x="0" y="0"/>
            <a:chExt cx="1171778" cy="2102053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171829" cy="2102104"/>
            </a:xfrm>
            <a:custGeom>
              <a:avLst/>
              <a:gdLst/>
              <a:ahLst/>
              <a:cxnLst/>
              <a:rect l="l" t="t" r="r" b="b"/>
              <a:pathLst>
                <a:path w="1171829" h="2102104">
                  <a:moveTo>
                    <a:pt x="0" y="77343"/>
                  </a:moveTo>
                  <a:cubicBezTo>
                    <a:pt x="0" y="34671"/>
                    <a:pt x="34671" y="0"/>
                    <a:pt x="77343" y="0"/>
                  </a:cubicBezTo>
                  <a:lnTo>
                    <a:pt x="1094486" y="0"/>
                  </a:lnTo>
                  <a:cubicBezTo>
                    <a:pt x="1137158" y="0"/>
                    <a:pt x="1171829" y="34671"/>
                    <a:pt x="1171829" y="77343"/>
                  </a:cubicBezTo>
                  <a:lnTo>
                    <a:pt x="1171829" y="2024761"/>
                  </a:lnTo>
                  <a:cubicBezTo>
                    <a:pt x="1171829" y="2067433"/>
                    <a:pt x="1137158" y="2102104"/>
                    <a:pt x="1094486" y="2102104"/>
                  </a:cubicBezTo>
                  <a:lnTo>
                    <a:pt x="77343" y="2102104"/>
                  </a:lnTo>
                  <a:cubicBezTo>
                    <a:pt x="34671" y="2102104"/>
                    <a:pt x="0" y="2067433"/>
                    <a:pt x="0" y="2024761"/>
                  </a:cubicBezTo>
                  <a:close/>
                </a:path>
              </a:pathLst>
            </a:custGeom>
            <a:solidFill>
              <a:srgbClr val="E8E8E3"/>
            </a:solidFill>
          </p:spPr>
        </p:sp>
      </p:grpSp>
      <p:sp>
        <p:nvSpPr>
          <p:cNvPr id="19" name="TextBox 19"/>
          <p:cNvSpPr txBox="1"/>
          <p:nvPr/>
        </p:nvSpPr>
        <p:spPr>
          <a:xfrm>
            <a:off x="12255103" y="2740523"/>
            <a:ext cx="329508" cy="3738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62"/>
              </a:lnSpc>
            </a:pPr>
            <a:r>
              <a:rPr lang="en-US" sz="2562">
                <a:solidFill>
                  <a:srgbClr val="272525"/>
                </a:solidFill>
                <a:latin typeface="Arimo"/>
                <a:ea typeface="Arimo"/>
                <a:cs typeface="Arimo"/>
                <a:sym typeface="Arimo"/>
              </a:rPr>
              <a:t>1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3034372" y="2320823"/>
            <a:ext cx="2746619" cy="3623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87"/>
              </a:lnSpc>
            </a:pPr>
            <a:r>
              <a:rPr lang="en-US" sz="2125">
                <a:solidFill>
                  <a:srgbClr val="272525"/>
                </a:solidFill>
                <a:latin typeface="Arimo"/>
                <a:ea typeface="Arimo"/>
                <a:cs typeface="Arimo"/>
                <a:sym typeface="Arimo"/>
              </a:rPr>
              <a:t>Popular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3034372" y="2805855"/>
            <a:ext cx="4053478" cy="6712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7"/>
              </a:lnSpc>
            </a:pPr>
            <a:r>
              <a:rPr lang="en-US" sz="1687">
                <a:solidFill>
                  <a:srgbClr val="272525"/>
                </a:solidFill>
                <a:latin typeface="Lato"/>
                <a:ea typeface="Lato"/>
                <a:cs typeface="Lato"/>
                <a:sym typeface="Lato"/>
              </a:rPr>
              <a:t>Ранжирование по весам: View=1, Click=2, Like=3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11942416" y="3881285"/>
            <a:ext cx="5407971" cy="1662265"/>
            <a:chOff x="0" y="0"/>
            <a:chExt cx="7210628" cy="2216353"/>
          </a:xfrm>
        </p:grpSpPr>
        <p:sp>
          <p:nvSpPr>
            <p:cNvPr id="23" name="Freeform 23"/>
            <p:cNvSpPr/>
            <p:nvPr/>
          </p:nvSpPr>
          <p:spPr>
            <a:xfrm>
              <a:off x="19050" y="19050"/>
              <a:ext cx="7172579" cy="2178304"/>
            </a:xfrm>
            <a:custGeom>
              <a:avLst/>
              <a:gdLst/>
              <a:ahLst/>
              <a:cxnLst/>
              <a:rect l="l" t="t" r="r" b="b"/>
              <a:pathLst>
                <a:path w="7172579" h="2178304">
                  <a:moveTo>
                    <a:pt x="0" y="123063"/>
                  </a:moveTo>
                  <a:cubicBezTo>
                    <a:pt x="0" y="55118"/>
                    <a:pt x="55753" y="0"/>
                    <a:pt x="124587" y="0"/>
                  </a:cubicBezTo>
                  <a:lnTo>
                    <a:pt x="7047992" y="0"/>
                  </a:lnTo>
                  <a:cubicBezTo>
                    <a:pt x="7116826" y="0"/>
                    <a:pt x="7172579" y="55118"/>
                    <a:pt x="7172579" y="123063"/>
                  </a:cubicBezTo>
                  <a:lnTo>
                    <a:pt x="7172579" y="2055241"/>
                  </a:lnTo>
                  <a:cubicBezTo>
                    <a:pt x="7172579" y="2123186"/>
                    <a:pt x="7116826" y="2178304"/>
                    <a:pt x="7047992" y="2178304"/>
                  </a:cubicBezTo>
                  <a:lnTo>
                    <a:pt x="124587" y="2178304"/>
                  </a:lnTo>
                  <a:cubicBezTo>
                    <a:pt x="55753" y="2178304"/>
                    <a:pt x="0" y="2123186"/>
                    <a:pt x="0" y="2055241"/>
                  </a:cubicBez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  <p:sp>
          <p:nvSpPr>
            <p:cNvPr id="24" name="Freeform 24"/>
            <p:cNvSpPr/>
            <p:nvPr/>
          </p:nvSpPr>
          <p:spPr>
            <a:xfrm>
              <a:off x="0" y="0"/>
              <a:ext cx="7210679" cy="2216404"/>
            </a:xfrm>
            <a:custGeom>
              <a:avLst/>
              <a:gdLst/>
              <a:ahLst/>
              <a:cxnLst/>
              <a:rect l="l" t="t" r="r" b="b"/>
              <a:pathLst>
                <a:path w="7210679" h="2216404">
                  <a:moveTo>
                    <a:pt x="0" y="142113"/>
                  </a:moveTo>
                  <a:cubicBezTo>
                    <a:pt x="0" y="63373"/>
                    <a:pt x="64516" y="0"/>
                    <a:pt x="143637" y="0"/>
                  </a:cubicBezTo>
                  <a:lnTo>
                    <a:pt x="7067042" y="0"/>
                  </a:lnTo>
                  <a:lnTo>
                    <a:pt x="7067042" y="19050"/>
                  </a:lnTo>
                  <a:lnTo>
                    <a:pt x="7067042" y="0"/>
                  </a:lnTo>
                  <a:cubicBezTo>
                    <a:pt x="7146163" y="0"/>
                    <a:pt x="7210679" y="63373"/>
                    <a:pt x="7210679" y="142113"/>
                  </a:cubicBezTo>
                  <a:lnTo>
                    <a:pt x="7191629" y="142113"/>
                  </a:lnTo>
                  <a:lnTo>
                    <a:pt x="7210679" y="142113"/>
                  </a:lnTo>
                  <a:lnTo>
                    <a:pt x="7210679" y="2074291"/>
                  </a:lnTo>
                  <a:lnTo>
                    <a:pt x="7191629" y="2074291"/>
                  </a:lnTo>
                  <a:lnTo>
                    <a:pt x="7210679" y="2074291"/>
                  </a:lnTo>
                  <a:cubicBezTo>
                    <a:pt x="7210679" y="2153031"/>
                    <a:pt x="7146163" y="2216404"/>
                    <a:pt x="7067042" y="2216404"/>
                  </a:cubicBezTo>
                  <a:lnTo>
                    <a:pt x="7067042" y="2197354"/>
                  </a:lnTo>
                  <a:lnTo>
                    <a:pt x="7067042" y="2216404"/>
                  </a:lnTo>
                  <a:lnTo>
                    <a:pt x="143637" y="2216404"/>
                  </a:lnTo>
                  <a:lnTo>
                    <a:pt x="143637" y="2197354"/>
                  </a:lnTo>
                  <a:lnTo>
                    <a:pt x="143637" y="2216404"/>
                  </a:lnTo>
                  <a:cubicBezTo>
                    <a:pt x="64516" y="2216404"/>
                    <a:pt x="0" y="2152904"/>
                    <a:pt x="0" y="2074291"/>
                  </a:cubicBezTo>
                  <a:lnTo>
                    <a:pt x="0" y="142113"/>
                  </a:lnTo>
                  <a:lnTo>
                    <a:pt x="19050" y="142113"/>
                  </a:lnTo>
                  <a:lnTo>
                    <a:pt x="0" y="142113"/>
                  </a:lnTo>
                  <a:moveTo>
                    <a:pt x="38100" y="142113"/>
                  </a:moveTo>
                  <a:lnTo>
                    <a:pt x="38100" y="2074291"/>
                  </a:lnTo>
                  <a:lnTo>
                    <a:pt x="19050" y="2074291"/>
                  </a:lnTo>
                  <a:lnTo>
                    <a:pt x="38100" y="2074291"/>
                  </a:lnTo>
                  <a:cubicBezTo>
                    <a:pt x="38100" y="2131568"/>
                    <a:pt x="85090" y="2178304"/>
                    <a:pt x="143637" y="2178304"/>
                  </a:cubicBezTo>
                  <a:lnTo>
                    <a:pt x="7067042" y="2178304"/>
                  </a:lnTo>
                  <a:cubicBezTo>
                    <a:pt x="7125462" y="2178304"/>
                    <a:pt x="7172579" y="2131568"/>
                    <a:pt x="7172579" y="2074291"/>
                  </a:cubicBezTo>
                  <a:lnTo>
                    <a:pt x="7172579" y="142113"/>
                  </a:lnTo>
                  <a:cubicBezTo>
                    <a:pt x="7172579" y="84836"/>
                    <a:pt x="7125589" y="38100"/>
                    <a:pt x="7067042" y="38100"/>
                  </a:cubicBezTo>
                  <a:lnTo>
                    <a:pt x="143637" y="38100"/>
                  </a:lnTo>
                  <a:lnTo>
                    <a:pt x="143637" y="19050"/>
                  </a:lnTo>
                  <a:lnTo>
                    <a:pt x="143637" y="38100"/>
                  </a:lnTo>
                  <a:cubicBezTo>
                    <a:pt x="85090" y="38100"/>
                    <a:pt x="38100" y="84836"/>
                    <a:pt x="38100" y="142113"/>
                  </a:cubicBezTo>
                  <a:close/>
                </a:path>
              </a:pathLst>
            </a:custGeom>
            <a:solidFill>
              <a:srgbClr val="CECEC9"/>
            </a:solidFill>
          </p:spPr>
        </p:sp>
      </p:grpSp>
      <p:grpSp>
        <p:nvGrpSpPr>
          <p:cNvPr id="25" name="Group 25"/>
          <p:cNvGrpSpPr/>
          <p:nvPr/>
        </p:nvGrpSpPr>
        <p:grpSpPr>
          <a:xfrm>
            <a:off x="11985279" y="3924148"/>
            <a:ext cx="878834" cy="1576540"/>
            <a:chOff x="0" y="0"/>
            <a:chExt cx="1171778" cy="2102053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1171829" cy="2102104"/>
            </a:xfrm>
            <a:custGeom>
              <a:avLst/>
              <a:gdLst/>
              <a:ahLst/>
              <a:cxnLst/>
              <a:rect l="l" t="t" r="r" b="b"/>
              <a:pathLst>
                <a:path w="1171829" h="2102104">
                  <a:moveTo>
                    <a:pt x="0" y="77343"/>
                  </a:moveTo>
                  <a:cubicBezTo>
                    <a:pt x="0" y="34671"/>
                    <a:pt x="34671" y="0"/>
                    <a:pt x="77343" y="0"/>
                  </a:cubicBezTo>
                  <a:lnTo>
                    <a:pt x="1094486" y="0"/>
                  </a:lnTo>
                  <a:cubicBezTo>
                    <a:pt x="1137158" y="0"/>
                    <a:pt x="1171829" y="34671"/>
                    <a:pt x="1171829" y="77343"/>
                  </a:cubicBezTo>
                  <a:lnTo>
                    <a:pt x="1171829" y="2024761"/>
                  </a:lnTo>
                  <a:cubicBezTo>
                    <a:pt x="1171829" y="2067433"/>
                    <a:pt x="1137158" y="2102104"/>
                    <a:pt x="1094486" y="2102104"/>
                  </a:cubicBezTo>
                  <a:lnTo>
                    <a:pt x="77343" y="2102104"/>
                  </a:lnTo>
                  <a:cubicBezTo>
                    <a:pt x="34671" y="2102104"/>
                    <a:pt x="0" y="2067433"/>
                    <a:pt x="0" y="2024761"/>
                  </a:cubicBezTo>
                  <a:close/>
                </a:path>
              </a:pathLst>
            </a:custGeom>
            <a:solidFill>
              <a:srgbClr val="E8E8E3"/>
            </a:solidFill>
          </p:spPr>
        </p:sp>
      </p:grpSp>
      <p:sp>
        <p:nvSpPr>
          <p:cNvPr id="27" name="TextBox 27"/>
          <p:cNvSpPr txBox="1"/>
          <p:nvPr/>
        </p:nvSpPr>
        <p:spPr>
          <a:xfrm>
            <a:off x="12255103" y="4544463"/>
            <a:ext cx="329508" cy="3738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62"/>
              </a:lnSpc>
            </a:pPr>
            <a:r>
              <a:rPr lang="en-US" sz="2562">
                <a:solidFill>
                  <a:srgbClr val="272525"/>
                </a:solidFill>
                <a:latin typeface="Arimo"/>
                <a:ea typeface="Arimo"/>
                <a:cs typeface="Arimo"/>
                <a:sym typeface="Arimo"/>
              </a:rPr>
              <a:t>2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3034372" y="4124773"/>
            <a:ext cx="2746619" cy="3623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87"/>
              </a:lnSpc>
            </a:pPr>
            <a:r>
              <a:rPr lang="en-US" sz="2125">
                <a:solidFill>
                  <a:srgbClr val="272525"/>
                </a:solidFill>
                <a:latin typeface="Arimo"/>
                <a:ea typeface="Arimo"/>
                <a:cs typeface="Arimo"/>
                <a:sym typeface="Arimo"/>
              </a:rPr>
              <a:t>By Categories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3034372" y="4609805"/>
            <a:ext cx="4053478" cy="6712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7"/>
              </a:lnSpc>
            </a:pPr>
            <a:r>
              <a:rPr lang="en-US" sz="1687">
                <a:solidFill>
                  <a:srgbClr val="272525"/>
                </a:solidFill>
                <a:latin typeface="Lato"/>
                <a:ea typeface="Lato"/>
                <a:cs typeface="Lato"/>
                <a:sym typeface="Lato"/>
              </a:rPr>
              <a:t>Приоритет категориям с наибольшей активностью пользователя</a:t>
            </a:r>
          </a:p>
        </p:txBody>
      </p:sp>
      <p:grpSp>
        <p:nvGrpSpPr>
          <p:cNvPr id="30" name="Group 30"/>
          <p:cNvGrpSpPr/>
          <p:nvPr/>
        </p:nvGrpSpPr>
        <p:grpSpPr>
          <a:xfrm>
            <a:off x="11942416" y="5685234"/>
            <a:ext cx="5407971" cy="1662265"/>
            <a:chOff x="0" y="0"/>
            <a:chExt cx="7210628" cy="2216353"/>
          </a:xfrm>
        </p:grpSpPr>
        <p:sp>
          <p:nvSpPr>
            <p:cNvPr id="31" name="Freeform 31"/>
            <p:cNvSpPr/>
            <p:nvPr/>
          </p:nvSpPr>
          <p:spPr>
            <a:xfrm>
              <a:off x="19050" y="19050"/>
              <a:ext cx="7172579" cy="2178304"/>
            </a:xfrm>
            <a:custGeom>
              <a:avLst/>
              <a:gdLst/>
              <a:ahLst/>
              <a:cxnLst/>
              <a:rect l="l" t="t" r="r" b="b"/>
              <a:pathLst>
                <a:path w="7172579" h="2178304">
                  <a:moveTo>
                    <a:pt x="0" y="123063"/>
                  </a:moveTo>
                  <a:cubicBezTo>
                    <a:pt x="0" y="55118"/>
                    <a:pt x="55753" y="0"/>
                    <a:pt x="124587" y="0"/>
                  </a:cubicBezTo>
                  <a:lnTo>
                    <a:pt x="7047992" y="0"/>
                  </a:lnTo>
                  <a:cubicBezTo>
                    <a:pt x="7116826" y="0"/>
                    <a:pt x="7172579" y="55118"/>
                    <a:pt x="7172579" y="123063"/>
                  </a:cubicBezTo>
                  <a:lnTo>
                    <a:pt x="7172579" y="2055241"/>
                  </a:lnTo>
                  <a:cubicBezTo>
                    <a:pt x="7172579" y="2123186"/>
                    <a:pt x="7116826" y="2178304"/>
                    <a:pt x="7047992" y="2178304"/>
                  </a:cubicBezTo>
                  <a:lnTo>
                    <a:pt x="124587" y="2178304"/>
                  </a:lnTo>
                  <a:cubicBezTo>
                    <a:pt x="55753" y="2178304"/>
                    <a:pt x="0" y="2123186"/>
                    <a:pt x="0" y="2055241"/>
                  </a:cubicBez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  <p:sp>
          <p:nvSpPr>
            <p:cNvPr id="32" name="Freeform 32"/>
            <p:cNvSpPr/>
            <p:nvPr/>
          </p:nvSpPr>
          <p:spPr>
            <a:xfrm>
              <a:off x="0" y="0"/>
              <a:ext cx="7210679" cy="2216404"/>
            </a:xfrm>
            <a:custGeom>
              <a:avLst/>
              <a:gdLst/>
              <a:ahLst/>
              <a:cxnLst/>
              <a:rect l="l" t="t" r="r" b="b"/>
              <a:pathLst>
                <a:path w="7210679" h="2216404">
                  <a:moveTo>
                    <a:pt x="0" y="142113"/>
                  </a:moveTo>
                  <a:cubicBezTo>
                    <a:pt x="0" y="63373"/>
                    <a:pt x="64516" y="0"/>
                    <a:pt x="143637" y="0"/>
                  </a:cubicBezTo>
                  <a:lnTo>
                    <a:pt x="7067042" y="0"/>
                  </a:lnTo>
                  <a:lnTo>
                    <a:pt x="7067042" y="19050"/>
                  </a:lnTo>
                  <a:lnTo>
                    <a:pt x="7067042" y="0"/>
                  </a:lnTo>
                  <a:cubicBezTo>
                    <a:pt x="7146163" y="0"/>
                    <a:pt x="7210679" y="63373"/>
                    <a:pt x="7210679" y="142113"/>
                  </a:cubicBezTo>
                  <a:lnTo>
                    <a:pt x="7191629" y="142113"/>
                  </a:lnTo>
                  <a:lnTo>
                    <a:pt x="7210679" y="142113"/>
                  </a:lnTo>
                  <a:lnTo>
                    <a:pt x="7210679" y="2074291"/>
                  </a:lnTo>
                  <a:lnTo>
                    <a:pt x="7191629" y="2074291"/>
                  </a:lnTo>
                  <a:lnTo>
                    <a:pt x="7210679" y="2074291"/>
                  </a:lnTo>
                  <a:cubicBezTo>
                    <a:pt x="7210679" y="2153031"/>
                    <a:pt x="7146163" y="2216404"/>
                    <a:pt x="7067042" y="2216404"/>
                  </a:cubicBezTo>
                  <a:lnTo>
                    <a:pt x="7067042" y="2197354"/>
                  </a:lnTo>
                  <a:lnTo>
                    <a:pt x="7067042" y="2216404"/>
                  </a:lnTo>
                  <a:lnTo>
                    <a:pt x="143637" y="2216404"/>
                  </a:lnTo>
                  <a:lnTo>
                    <a:pt x="143637" y="2197354"/>
                  </a:lnTo>
                  <a:lnTo>
                    <a:pt x="143637" y="2216404"/>
                  </a:lnTo>
                  <a:cubicBezTo>
                    <a:pt x="64516" y="2216404"/>
                    <a:pt x="0" y="2152904"/>
                    <a:pt x="0" y="2074291"/>
                  </a:cubicBezTo>
                  <a:lnTo>
                    <a:pt x="0" y="142113"/>
                  </a:lnTo>
                  <a:lnTo>
                    <a:pt x="19050" y="142113"/>
                  </a:lnTo>
                  <a:lnTo>
                    <a:pt x="0" y="142113"/>
                  </a:lnTo>
                  <a:moveTo>
                    <a:pt x="38100" y="142113"/>
                  </a:moveTo>
                  <a:lnTo>
                    <a:pt x="38100" y="2074291"/>
                  </a:lnTo>
                  <a:lnTo>
                    <a:pt x="19050" y="2074291"/>
                  </a:lnTo>
                  <a:lnTo>
                    <a:pt x="38100" y="2074291"/>
                  </a:lnTo>
                  <a:cubicBezTo>
                    <a:pt x="38100" y="2131568"/>
                    <a:pt x="85090" y="2178304"/>
                    <a:pt x="143637" y="2178304"/>
                  </a:cubicBezTo>
                  <a:lnTo>
                    <a:pt x="7067042" y="2178304"/>
                  </a:lnTo>
                  <a:cubicBezTo>
                    <a:pt x="7125462" y="2178304"/>
                    <a:pt x="7172579" y="2131568"/>
                    <a:pt x="7172579" y="2074291"/>
                  </a:cubicBezTo>
                  <a:lnTo>
                    <a:pt x="7172579" y="142113"/>
                  </a:lnTo>
                  <a:cubicBezTo>
                    <a:pt x="7172579" y="84836"/>
                    <a:pt x="7125589" y="38100"/>
                    <a:pt x="7067042" y="38100"/>
                  </a:cubicBezTo>
                  <a:lnTo>
                    <a:pt x="143637" y="38100"/>
                  </a:lnTo>
                  <a:lnTo>
                    <a:pt x="143637" y="19050"/>
                  </a:lnTo>
                  <a:lnTo>
                    <a:pt x="143637" y="38100"/>
                  </a:lnTo>
                  <a:cubicBezTo>
                    <a:pt x="85090" y="38100"/>
                    <a:pt x="38100" y="84836"/>
                    <a:pt x="38100" y="142113"/>
                  </a:cubicBezTo>
                  <a:close/>
                </a:path>
              </a:pathLst>
            </a:custGeom>
            <a:solidFill>
              <a:srgbClr val="CECEC9"/>
            </a:solidFill>
          </p:spPr>
        </p:sp>
      </p:grpSp>
      <p:grpSp>
        <p:nvGrpSpPr>
          <p:cNvPr id="33" name="Group 33"/>
          <p:cNvGrpSpPr/>
          <p:nvPr/>
        </p:nvGrpSpPr>
        <p:grpSpPr>
          <a:xfrm>
            <a:off x="11985279" y="5728097"/>
            <a:ext cx="878834" cy="1576540"/>
            <a:chOff x="0" y="0"/>
            <a:chExt cx="1171778" cy="2102053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1171829" cy="2102104"/>
            </a:xfrm>
            <a:custGeom>
              <a:avLst/>
              <a:gdLst/>
              <a:ahLst/>
              <a:cxnLst/>
              <a:rect l="l" t="t" r="r" b="b"/>
              <a:pathLst>
                <a:path w="1171829" h="2102104">
                  <a:moveTo>
                    <a:pt x="0" y="77343"/>
                  </a:moveTo>
                  <a:cubicBezTo>
                    <a:pt x="0" y="34671"/>
                    <a:pt x="34671" y="0"/>
                    <a:pt x="77343" y="0"/>
                  </a:cubicBezTo>
                  <a:lnTo>
                    <a:pt x="1094486" y="0"/>
                  </a:lnTo>
                  <a:cubicBezTo>
                    <a:pt x="1137158" y="0"/>
                    <a:pt x="1171829" y="34671"/>
                    <a:pt x="1171829" y="77343"/>
                  </a:cubicBezTo>
                  <a:lnTo>
                    <a:pt x="1171829" y="2024761"/>
                  </a:lnTo>
                  <a:cubicBezTo>
                    <a:pt x="1171829" y="2067433"/>
                    <a:pt x="1137158" y="2102104"/>
                    <a:pt x="1094486" y="2102104"/>
                  </a:cubicBezTo>
                  <a:lnTo>
                    <a:pt x="77343" y="2102104"/>
                  </a:lnTo>
                  <a:cubicBezTo>
                    <a:pt x="34671" y="2102104"/>
                    <a:pt x="0" y="2067433"/>
                    <a:pt x="0" y="2024761"/>
                  </a:cubicBezTo>
                  <a:close/>
                </a:path>
              </a:pathLst>
            </a:custGeom>
            <a:solidFill>
              <a:srgbClr val="E8E8E3"/>
            </a:solidFill>
          </p:spPr>
        </p:sp>
      </p:grpSp>
      <p:sp>
        <p:nvSpPr>
          <p:cNvPr id="35" name="TextBox 35"/>
          <p:cNvSpPr txBox="1"/>
          <p:nvPr/>
        </p:nvSpPr>
        <p:spPr>
          <a:xfrm>
            <a:off x="12255103" y="6348412"/>
            <a:ext cx="329508" cy="3738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62"/>
              </a:lnSpc>
            </a:pPr>
            <a:r>
              <a:rPr lang="en-US" sz="2562">
                <a:solidFill>
                  <a:srgbClr val="272525"/>
                </a:solidFill>
                <a:latin typeface="Arimo"/>
                <a:ea typeface="Arimo"/>
                <a:cs typeface="Arimo"/>
                <a:sym typeface="Arimo"/>
              </a:rPr>
              <a:t>3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3034372" y="5928722"/>
            <a:ext cx="2746619" cy="3623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87"/>
              </a:lnSpc>
            </a:pPr>
            <a:r>
              <a:rPr lang="en-US" sz="2125">
                <a:solidFill>
                  <a:srgbClr val="272525"/>
                </a:solidFill>
                <a:latin typeface="Arimo"/>
                <a:ea typeface="Arimo"/>
                <a:cs typeface="Arimo"/>
                <a:sym typeface="Arimo"/>
              </a:rPr>
              <a:t>KNN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3034372" y="6413744"/>
            <a:ext cx="4053478" cy="6712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7"/>
              </a:lnSpc>
            </a:pPr>
            <a:r>
              <a:rPr lang="en-US" sz="1687">
                <a:solidFill>
                  <a:srgbClr val="272525"/>
                </a:solidFill>
                <a:latin typeface="Lato"/>
                <a:ea typeface="Lato"/>
                <a:cs typeface="Lato"/>
                <a:sym typeface="Lato"/>
              </a:rPr>
              <a:t>Похожие пользователи и их релевантный контент</a:t>
            </a:r>
          </a:p>
        </p:txBody>
      </p:sp>
      <p:grpSp>
        <p:nvGrpSpPr>
          <p:cNvPr id="38" name="Group 38"/>
          <p:cNvGrpSpPr/>
          <p:nvPr/>
        </p:nvGrpSpPr>
        <p:grpSpPr>
          <a:xfrm>
            <a:off x="11942416" y="7489184"/>
            <a:ext cx="5407971" cy="1662265"/>
            <a:chOff x="0" y="0"/>
            <a:chExt cx="7210628" cy="2216353"/>
          </a:xfrm>
        </p:grpSpPr>
        <p:sp>
          <p:nvSpPr>
            <p:cNvPr id="39" name="Freeform 39"/>
            <p:cNvSpPr/>
            <p:nvPr/>
          </p:nvSpPr>
          <p:spPr>
            <a:xfrm>
              <a:off x="19050" y="19050"/>
              <a:ext cx="7172579" cy="2178304"/>
            </a:xfrm>
            <a:custGeom>
              <a:avLst/>
              <a:gdLst/>
              <a:ahLst/>
              <a:cxnLst/>
              <a:rect l="l" t="t" r="r" b="b"/>
              <a:pathLst>
                <a:path w="7172579" h="2178304">
                  <a:moveTo>
                    <a:pt x="0" y="123063"/>
                  </a:moveTo>
                  <a:cubicBezTo>
                    <a:pt x="0" y="55118"/>
                    <a:pt x="55753" y="0"/>
                    <a:pt x="124587" y="0"/>
                  </a:cubicBezTo>
                  <a:lnTo>
                    <a:pt x="7047992" y="0"/>
                  </a:lnTo>
                  <a:cubicBezTo>
                    <a:pt x="7116826" y="0"/>
                    <a:pt x="7172579" y="55118"/>
                    <a:pt x="7172579" y="123063"/>
                  </a:cubicBezTo>
                  <a:lnTo>
                    <a:pt x="7172579" y="2055241"/>
                  </a:lnTo>
                  <a:cubicBezTo>
                    <a:pt x="7172579" y="2123186"/>
                    <a:pt x="7116826" y="2178304"/>
                    <a:pt x="7047992" y="2178304"/>
                  </a:cubicBezTo>
                  <a:lnTo>
                    <a:pt x="124587" y="2178304"/>
                  </a:lnTo>
                  <a:cubicBezTo>
                    <a:pt x="55753" y="2178304"/>
                    <a:pt x="0" y="2123186"/>
                    <a:pt x="0" y="2055241"/>
                  </a:cubicBez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  <p:sp>
          <p:nvSpPr>
            <p:cNvPr id="40" name="Freeform 40"/>
            <p:cNvSpPr/>
            <p:nvPr/>
          </p:nvSpPr>
          <p:spPr>
            <a:xfrm>
              <a:off x="0" y="0"/>
              <a:ext cx="7210679" cy="2216404"/>
            </a:xfrm>
            <a:custGeom>
              <a:avLst/>
              <a:gdLst/>
              <a:ahLst/>
              <a:cxnLst/>
              <a:rect l="l" t="t" r="r" b="b"/>
              <a:pathLst>
                <a:path w="7210679" h="2216404">
                  <a:moveTo>
                    <a:pt x="0" y="142113"/>
                  </a:moveTo>
                  <a:cubicBezTo>
                    <a:pt x="0" y="63373"/>
                    <a:pt x="64516" y="0"/>
                    <a:pt x="143637" y="0"/>
                  </a:cubicBezTo>
                  <a:lnTo>
                    <a:pt x="7067042" y="0"/>
                  </a:lnTo>
                  <a:lnTo>
                    <a:pt x="7067042" y="19050"/>
                  </a:lnTo>
                  <a:lnTo>
                    <a:pt x="7067042" y="0"/>
                  </a:lnTo>
                  <a:cubicBezTo>
                    <a:pt x="7146163" y="0"/>
                    <a:pt x="7210679" y="63373"/>
                    <a:pt x="7210679" y="142113"/>
                  </a:cubicBezTo>
                  <a:lnTo>
                    <a:pt x="7191629" y="142113"/>
                  </a:lnTo>
                  <a:lnTo>
                    <a:pt x="7210679" y="142113"/>
                  </a:lnTo>
                  <a:lnTo>
                    <a:pt x="7210679" y="2074291"/>
                  </a:lnTo>
                  <a:lnTo>
                    <a:pt x="7191629" y="2074291"/>
                  </a:lnTo>
                  <a:lnTo>
                    <a:pt x="7210679" y="2074291"/>
                  </a:lnTo>
                  <a:cubicBezTo>
                    <a:pt x="7210679" y="2153031"/>
                    <a:pt x="7146163" y="2216404"/>
                    <a:pt x="7067042" y="2216404"/>
                  </a:cubicBezTo>
                  <a:lnTo>
                    <a:pt x="7067042" y="2197354"/>
                  </a:lnTo>
                  <a:lnTo>
                    <a:pt x="7067042" y="2216404"/>
                  </a:lnTo>
                  <a:lnTo>
                    <a:pt x="143637" y="2216404"/>
                  </a:lnTo>
                  <a:lnTo>
                    <a:pt x="143637" y="2197354"/>
                  </a:lnTo>
                  <a:lnTo>
                    <a:pt x="143637" y="2216404"/>
                  </a:lnTo>
                  <a:cubicBezTo>
                    <a:pt x="64516" y="2216404"/>
                    <a:pt x="0" y="2152904"/>
                    <a:pt x="0" y="2074291"/>
                  </a:cubicBezTo>
                  <a:lnTo>
                    <a:pt x="0" y="142113"/>
                  </a:lnTo>
                  <a:lnTo>
                    <a:pt x="19050" y="142113"/>
                  </a:lnTo>
                  <a:lnTo>
                    <a:pt x="0" y="142113"/>
                  </a:lnTo>
                  <a:moveTo>
                    <a:pt x="38100" y="142113"/>
                  </a:moveTo>
                  <a:lnTo>
                    <a:pt x="38100" y="2074291"/>
                  </a:lnTo>
                  <a:lnTo>
                    <a:pt x="19050" y="2074291"/>
                  </a:lnTo>
                  <a:lnTo>
                    <a:pt x="38100" y="2074291"/>
                  </a:lnTo>
                  <a:cubicBezTo>
                    <a:pt x="38100" y="2131568"/>
                    <a:pt x="85090" y="2178304"/>
                    <a:pt x="143637" y="2178304"/>
                  </a:cubicBezTo>
                  <a:lnTo>
                    <a:pt x="7067042" y="2178304"/>
                  </a:lnTo>
                  <a:cubicBezTo>
                    <a:pt x="7125462" y="2178304"/>
                    <a:pt x="7172579" y="2131568"/>
                    <a:pt x="7172579" y="2074291"/>
                  </a:cubicBezTo>
                  <a:lnTo>
                    <a:pt x="7172579" y="142113"/>
                  </a:lnTo>
                  <a:cubicBezTo>
                    <a:pt x="7172579" y="84836"/>
                    <a:pt x="7125589" y="38100"/>
                    <a:pt x="7067042" y="38100"/>
                  </a:cubicBezTo>
                  <a:lnTo>
                    <a:pt x="143637" y="38100"/>
                  </a:lnTo>
                  <a:lnTo>
                    <a:pt x="143637" y="19050"/>
                  </a:lnTo>
                  <a:lnTo>
                    <a:pt x="143637" y="38100"/>
                  </a:lnTo>
                  <a:cubicBezTo>
                    <a:pt x="85090" y="38100"/>
                    <a:pt x="38100" y="84836"/>
                    <a:pt x="38100" y="142113"/>
                  </a:cubicBezTo>
                  <a:close/>
                </a:path>
              </a:pathLst>
            </a:custGeom>
            <a:solidFill>
              <a:srgbClr val="CECEC9"/>
            </a:solidFill>
          </p:spPr>
        </p:sp>
      </p:grpSp>
      <p:grpSp>
        <p:nvGrpSpPr>
          <p:cNvPr id="41" name="Group 41"/>
          <p:cNvGrpSpPr/>
          <p:nvPr/>
        </p:nvGrpSpPr>
        <p:grpSpPr>
          <a:xfrm>
            <a:off x="11985279" y="7532046"/>
            <a:ext cx="878834" cy="1576540"/>
            <a:chOff x="0" y="0"/>
            <a:chExt cx="1171778" cy="2102053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1171829" cy="2102104"/>
            </a:xfrm>
            <a:custGeom>
              <a:avLst/>
              <a:gdLst/>
              <a:ahLst/>
              <a:cxnLst/>
              <a:rect l="l" t="t" r="r" b="b"/>
              <a:pathLst>
                <a:path w="1171829" h="2102104">
                  <a:moveTo>
                    <a:pt x="0" y="77343"/>
                  </a:moveTo>
                  <a:cubicBezTo>
                    <a:pt x="0" y="34671"/>
                    <a:pt x="34671" y="0"/>
                    <a:pt x="77343" y="0"/>
                  </a:cubicBezTo>
                  <a:lnTo>
                    <a:pt x="1094486" y="0"/>
                  </a:lnTo>
                  <a:cubicBezTo>
                    <a:pt x="1137158" y="0"/>
                    <a:pt x="1171829" y="34671"/>
                    <a:pt x="1171829" y="77343"/>
                  </a:cubicBezTo>
                  <a:lnTo>
                    <a:pt x="1171829" y="2024761"/>
                  </a:lnTo>
                  <a:cubicBezTo>
                    <a:pt x="1171829" y="2067433"/>
                    <a:pt x="1137158" y="2102104"/>
                    <a:pt x="1094486" y="2102104"/>
                  </a:cubicBezTo>
                  <a:lnTo>
                    <a:pt x="77343" y="2102104"/>
                  </a:lnTo>
                  <a:cubicBezTo>
                    <a:pt x="34671" y="2102104"/>
                    <a:pt x="0" y="2067433"/>
                    <a:pt x="0" y="2024761"/>
                  </a:cubicBezTo>
                  <a:close/>
                </a:path>
              </a:pathLst>
            </a:custGeom>
            <a:solidFill>
              <a:srgbClr val="E8E8E3"/>
            </a:solidFill>
          </p:spPr>
        </p:sp>
      </p:grpSp>
      <p:sp>
        <p:nvSpPr>
          <p:cNvPr id="43" name="TextBox 43"/>
          <p:cNvSpPr txBox="1"/>
          <p:nvPr/>
        </p:nvSpPr>
        <p:spPr>
          <a:xfrm>
            <a:off x="12255103" y="8152362"/>
            <a:ext cx="329508" cy="3738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62"/>
              </a:lnSpc>
            </a:pPr>
            <a:r>
              <a:rPr lang="en-US" sz="2562">
                <a:solidFill>
                  <a:srgbClr val="272525"/>
                </a:solidFill>
                <a:latin typeface="Arimo"/>
                <a:ea typeface="Arimo"/>
                <a:cs typeface="Arimo"/>
                <a:sym typeface="Arimo"/>
              </a:rPr>
              <a:t>4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3034372" y="7732662"/>
            <a:ext cx="2746619" cy="3623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87"/>
              </a:lnSpc>
            </a:pPr>
            <a:r>
              <a:rPr lang="en-US" sz="2125">
                <a:solidFill>
                  <a:srgbClr val="272525"/>
                </a:solidFill>
                <a:latin typeface="Arimo"/>
                <a:ea typeface="Arimo"/>
                <a:cs typeface="Arimo"/>
                <a:sym typeface="Arimo"/>
              </a:rPr>
              <a:t>Explainability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3034372" y="8217694"/>
            <a:ext cx="4053478" cy="6712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7"/>
              </a:lnSpc>
            </a:pPr>
            <a:r>
              <a:rPr lang="en-US" sz="1687">
                <a:solidFill>
                  <a:srgbClr val="272525"/>
                </a:solidFill>
                <a:latin typeface="Lato"/>
                <a:ea typeface="Lato"/>
                <a:cs typeface="Lato"/>
                <a:sym typeface="Lato"/>
              </a:rPr>
              <a:t>Факторы: Popularity · CategoryAffinity · KnnSimilarity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992238" y="2286000"/>
            <a:ext cx="9951834" cy="9431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>
                <a:solidFill>
                  <a:srgbClr val="312F2B"/>
                </a:solidFill>
                <a:latin typeface="Arimo"/>
                <a:ea typeface="Arimo"/>
                <a:cs typeface="Arimo"/>
                <a:sym typeface="Arimo"/>
              </a:rPr>
              <a:t>Реализованный функционал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92238" y="5478066"/>
            <a:ext cx="3544043" cy="4810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272525"/>
                </a:solidFill>
                <a:latin typeface="Arimo"/>
                <a:ea typeface="Arimo"/>
                <a:cs typeface="Arimo"/>
                <a:sym typeface="Arimo"/>
              </a:rPr>
              <a:t>Пользователь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92238" y="6033935"/>
            <a:ext cx="3810000" cy="19097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272525"/>
                </a:solidFill>
                <a:latin typeface="Lato"/>
                <a:ea typeface="Lato"/>
                <a:cs typeface="Lato"/>
                <a:sym typeface="Lato"/>
              </a:rPr>
              <a:t>Регистрация и вход, просмотр рекомендаций, фиксация действий, профиль интересов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156597" y="5478066"/>
            <a:ext cx="3544043" cy="4810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272525"/>
                </a:solidFill>
                <a:latin typeface="Arimo"/>
                <a:ea typeface="Arimo"/>
                <a:cs typeface="Arimo"/>
                <a:sym typeface="Arimo"/>
              </a:rPr>
              <a:t>Администратор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156597" y="6033935"/>
            <a:ext cx="3810152" cy="14561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272525"/>
                </a:solidFill>
                <a:latin typeface="Lato"/>
                <a:ea typeface="Lato"/>
                <a:cs typeface="Lato"/>
                <a:sym typeface="Lato"/>
              </a:rPr>
              <a:t>CRUD пользователей и контента, просмотр БД, экспорт отчётов CSV / PDF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321108" y="5478066"/>
            <a:ext cx="3544043" cy="4810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272525"/>
                </a:solidFill>
                <a:latin typeface="Arimo"/>
                <a:ea typeface="Arimo"/>
                <a:cs typeface="Arimo"/>
                <a:sym typeface="Arimo"/>
              </a:rPr>
              <a:t>Метрики качества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321108" y="6033935"/>
            <a:ext cx="3810152" cy="4060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 dirty="0" err="1">
                <a:solidFill>
                  <a:srgbClr val="272525"/>
                </a:solidFill>
                <a:latin typeface="Lato"/>
                <a:ea typeface="Lato"/>
                <a:cs typeface="Lato"/>
                <a:sym typeface="Lato"/>
              </a:rPr>
              <a:t>доступны</a:t>
            </a:r>
            <a:r>
              <a:rPr lang="en-US" sz="2187" dirty="0">
                <a:solidFill>
                  <a:srgbClr val="27252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187" dirty="0" err="1">
                <a:solidFill>
                  <a:srgbClr val="272525"/>
                </a:solidFill>
                <a:latin typeface="Lato"/>
                <a:ea typeface="Lato"/>
                <a:cs typeface="Lato"/>
                <a:sym typeface="Lato"/>
              </a:rPr>
              <a:t>через</a:t>
            </a:r>
            <a:r>
              <a:rPr lang="en-US" sz="2187" dirty="0">
                <a:solidFill>
                  <a:srgbClr val="272525"/>
                </a:solidFill>
                <a:latin typeface="Lato"/>
                <a:ea typeface="Lato"/>
                <a:cs typeface="Lato"/>
                <a:sym typeface="Lato"/>
              </a:rPr>
              <a:t> Admin API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13485609" y="3796160"/>
            <a:ext cx="2209800" cy="1365647"/>
            <a:chOff x="0" y="0"/>
            <a:chExt cx="2946400" cy="1820862"/>
          </a:xfrm>
        </p:grpSpPr>
        <p:sp>
          <p:nvSpPr>
            <p:cNvPr id="20" name="Freeform 20" descr="preencoded.png"/>
            <p:cNvSpPr/>
            <p:nvPr/>
          </p:nvSpPr>
          <p:spPr>
            <a:xfrm>
              <a:off x="0" y="0"/>
              <a:ext cx="2946400" cy="1820926"/>
            </a:xfrm>
            <a:custGeom>
              <a:avLst/>
              <a:gdLst/>
              <a:ahLst/>
              <a:cxnLst/>
              <a:rect l="l" t="t" r="r" b="b"/>
              <a:pathLst>
                <a:path w="2946400" h="1820926">
                  <a:moveTo>
                    <a:pt x="0" y="0"/>
                  </a:moveTo>
                  <a:lnTo>
                    <a:pt x="2946400" y="0"/>
                  </a:lnTo>
                  <a:lnTo>
                    <a:pt x="2946400" y="1820926"/>
                  </a:lnTo>
                  <a:lnTo>
                    <a:pt x="0" y="18209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31" r="-131" b="3"/>
              </a:stretch>
            </a:blipFill>
          </p:spPr>
        </p:sp>
      </p:grpSp>
      <p:sp>
        <p:nvSpPr>
          <p:cNvPr id="21" name="TextBox 21"/>
          <p:cNvSpPr txBox="1"/>
          <p:nvPr/>
        </p:nvSpPr>
        <p:spPr>
          <a:xfrm>
            <a:off x="13485609" y="5478066"/>
            <a:ext cx="3544043" cy="4810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272525"/>
                </a:solidFill>
                <a:latin typeface="Arimo"/>
                <a:ea typeface="Arimo"/>
                <a:cs typeface="Arimo"/>
                <a:sym typeface="Arimo"/>
              </a:rPr>
              <a:t>Клиенты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3485609" y="6033935"/>
            <a:ext cx="3810152" cy="14561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272525"/>
                </a:solidFill>
                <a:latin typeface="Lato"/>
                <a:ea typeface="Lato"/>
                <a:cs typeface="Lato"/>
                <a:sym typeface="Lato"/>
              </a:rPr>
              <a:t>Web (Razor MVC) и WPF-приложение — оба готовы к демонстрации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0" y="0"/>
            <a:ext cx="6858000" cy="10287000"/>
            <a:chOff x="0" y="0"/>
            <a:chExt cx="9144000" cy="13716000"/>
          </a:xfrm>
        </p:grpSpPr>
        <p:sp>
          <p:nvSpPr>
            <p:cNvPr id="7" name="Freeform 7" descr="preencoded.png"/>
            <p:cNvSpPr/>
            <p:nvPr/>
          </p:nvSpPr>
          <p:spPr>
            <a:xfrm>
              <a:off x="0" y="0"/>
              <a:ext cx="9144000" cy="13716000"/>
            </a:xfrm>
            <a:custGeom>
              <a:avLst/>
              <a:gdLst/>
              <a:ahLst/>
              <a:cxnLst/>
              <a:rect l="l" t="t" r="r" b="b"/>
              <a:pathLst>
                <a:path w="9144000" h="13716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sp>
        <p:nvSpPr>
          <p:cNvPr id="8" name="TextBox 8"/>
          <p:cNvSpPr txBox="1"/>
          <p:nvPr/>
        </p:nvSpPr>
        <p:spPr>
          <a:xfrm>
            <a:off x="3962400" y="1028700"/>
            <a:ext cx="9243270" cy="7468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62"/>
              </a:lnSpc>
            </a:pPr>
            <a:r>
              <a:rPr lang="en-US" sz="4437">
                <a:solidFill>
                  <a:srgbClr val="312F2B"/>
                </a:solidFill>
                <a:latin typeface="Arimo"/>
                <a:ea typeface="Arimo"/>
                <a:cs typeface="Arimo"/>
                <a:sym typeface="Arimo"/>
              </a:rPr>
              <a:t>Итоги: цель и задачи выполнены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962400" y="1999955"/>
            <a:ext cx="9445523" cy="7006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62"/>
              </a:lnSpc>
            </a:pPr>
            <a:r>
              <a:rPr lang="en-US" sz="1750">
                <a:solidFill>
                  <a:srgbClr val="272525"/>
                </a:solidFill>
                <a:latin typeface="Lato"/>
                <a:ea typeface="Lato"/>
                <a:cs typeface="Lato"/>
                <a:sym typeface="Lato"/>
              </a:rPr>
              <a:t>Все поставленные задачи реализованы в полном объёме. Система готова к демонстрации и дальнейшему развитию.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3957638" y="2899915"/>
            <a:ext cx="9455048" cy="6271917"/>
            <a:chOff x="0" y="0"/>
            <a:chExt cx="12606731" cy="8362556"/>
          </a:xfrm>
        </p:grpSpPr>
        <p:sp>
          <p:nvSpPr>
            <p:cNvPr id="11" name="Freeform 11"/>
            <p:cNvSpPr/>
            <p:nvPr/>
          </p:nvSpPr>
          <p:spPr>
            <a:xfrm>
              <a:off x="6350" y="6350"/>
              <a:ext cx="12594082" cy="8349869"/>
            </a:xfrm>
            <a:custGeom>
              <a:avLst/>
              <a:gdLst/>
              <a:ahLst/>
              <a:cxnLst/>
              <a:rect l="l" t="t" r="r" b="b"/>
              <a:pathLst>
                <a:path w="12594082" h="8349869">
                  <a:moveTo>
                    <a:pt x="0" y="127000"/>
                  </a:moveTo>
                  <a:cubicBezTo>
                    <a:pt x="0" y="56896"/>
                    <a:pt x="56896" y="0"/>
                    <a:pt x="127127" y="0"/>
                  </a:cubicBezTo>
                  <a:lnTo>
                    <a:pt x="12466955" y="0"/>
                  </a:lnTo>
                  <a:cubicBezTo>
                    <a:pt x="12537187" y="0"/>
                    <a:pt x="12594082" y="56896"/>
                    <a:pt x="12594082" y="127000"/>
                  </a:cubicBezTo>
                  <a:lnTo>
                    <a:pt x="12594082" y="8222869"/>
                  </a:lnTo>
                  <a:cubicBezTo>
                    <a:pt x="12594082" y="8292973"/>
                    <a:pt x="12537187" y="8349869"/>
                    <a:pt x="12466955" y="8349869"/>
                  </a:cubicBezTo>
                  <a:lnTo>
                    <a:pt x="127127" y="8349869"/>
                  </a:lnTo>
                  <a:cubicBezTo>
                    <a:pt x="56896" y="8349869"/>
                    <a:pt x="0" y="8292973"/>
                    <a:pt x="0" y="8222869"/>
                  </a:cubicBezTo>
                  <a:close/>
                </a:path>
              </a:pathLst>
            </a:custGeom>
            <a:solidFill>
              <a:srgbClr val="E8E8E3"/>
            </a:solidFill>
          </p:spPr>
        </p:sp>
        <p:sp>
          <p:nvSpPr>
            <p:cNvPr id="12" name="Freeform 12"/>
            <p:cNvSpPr/>
            <p:nvPr/>
          </p:nvSpPr>
          <p:spPr>
            <a:xfrm>
              <a:off x="0" y="0"/>
              <a:ext cx="12606782" cy="8362569"/>
            </a:xfrm>
            <a:custGeom>
              <a:avLst/>
              <a:gdLst/>
              <a:ahLst/>
              <a:cxnLst/>
              <a:rect l="l" t="t" r="r" b="b"/>
              <a:pathLst>
                <a:path w="12606782" h="8362569">
                  <a:moveTo>
                    <a:pt x="0" y="133350"/>
                  </a:moveTo>
                  <a:cubicBezTo>
                    <a:pt x="0" y="59690"/>
                    <a:pt x="59690" y="0"/>
                    <a:pt x="133477" y="0"/>
                  </a:cubicBezTo>
                  <a:lnTo>
                    <a:pt x="12473305" y="0"/>
                  </a:lnTo>
                  <a:lnTo>
                    <a:pt x="12473305" y="6350"/>
                  </a:lnTo>
                  <a:lnTo>
                    <a:pt x="12473305" y="0"/>
                  </a:lnTo>
                  <a:cubicBezTo>
                    <a:pt x="12546965" y="0"/>
                    <a:pt x="12606782" y="59690"/>
                    <a:pt x="12606782" y="133350"/>
                  </a:cubicBezTo>
                  <a:lnTo>
                    <a:pt x="12600432" y="133350"/>
                  </a:lnTo>
                  <a:lnTo>
                    <a:pt x="12606782" y="133350"/>
                  </a:lnTo>
                  <a:lnTo>
                    <a:pt x="12606782" y="8229219"/>
                  </a:lnTo>
                  <a:lnTo>
                    <a:pt x="12600432" y="8229219"/>
                  </a:lnTo>
                  <a:lnTo>
                    <a:pt x="12606782" y="8229219"/>
                  </a:lnTo>
                  <a:cubicBezTo>
                    <a:pt x="12606782" y="8302878"/>
                    <a:pt x="12547092" y="8362569"/>
                    <a:pt x="12473305" y="8362569"/>
                  </a:cubicBezTo>
                  <a:lnTo>
                    <a:pt x="12473305" y="8356219"/>
                  </a:lnTo>
                  <a:lnTo>
                    <a:pt x="12473305" y="8362569"/>
                  </a:lnTo>
                  <a:lnTo>
                    <a:pt x="133477" y="8362569"/>
                  </a:lnTo>
                  <a:lnTo>
                    <a:pt x="133477" y="8356219"/>
                  </a:lnTo>
                  <a:lnTo>
                    <a:pt x="133477" y="8362569"/>
                  </a:lnTo>
                  <a:cubicBezTo>
                    <a:pt x="59817" y="8362569"/>
                    <a:pt x="0" y="8302878"/>
                    <a:pt x="0" y="8229219"/>
                  </a:cubicBezTo>
                  <a:lnTo>
                    <a:pt x="0" y="133350"/>
                  </a:lnTo>
                  <a:lnTo>
                    <a:pt x="6350" y="133350"/>
                  </a:lnTo>
                  <a:lnTo>
                    <a:pt x="0" y="133350"/>
                  </a:lnTo>
                  <a:moveTo>
                    <a:pt x="12700" y="133350"/>
                  </a:moveTo>
                  <a:lnTo>
                    <a:pt x="12700" y="8229219"/>
                  </a:lnTo>
                  <a:lnTo>
                    <a:pt x="6350" y="8229219"/>
                  </a:lnTo>
                  <a:lnTo>
                    <a:pt x="12700" y="8229219"/>
                  </a:lnTo>
                  <a:cubicBezTo>
                    <a:pt x="12700" y="8295894"/>
                    <a:pt x="66802" y="8349869"/>
                    <a:pt x="133477" y="8349869"/>
                  </a:cubicBezTo>
                  <a:lnTo>
                    <a:pt x="12473305" y="8349869"/>
                  </a:lnTo>
                  <a:cubicBezTo>
                    <a:pt x="12539980" y="8349869"/>
                    <a:pt x="12594082" y="8295894"/>
                    <a:pt x="12594082" y="8229219"/>
                  </a:cubicBezTo>
                  <a:lnTo>
                    <a:pt x="12594082" y="133350"/>
                  </a:lnTo>
                  <a:cubicBezTo>
                    <a:pt x="12594082" y="66675"/>
                    <a:pt x="12539980" y="12700"/>
                    <a:pt x="12473305" y="12700"/>
                  </a:cubicBezTo>
                  <a:lnTo>
                    <a:pt x="133477" y="12700"/>
                  </a:lnTo>
                  <a:lnTo>
                    <a:pt x="133477" y="6350"/>
                  </a:lnTo>
                  <a:lnTo>
                    <a:pt x="133477" y="12700"/>
                  </a:lnTo>
                  <a:cubicBezTo>
                    <a:pt x="66802" y="12700"/>
                    <a:pt x="12700" y="66675"/>
                    <a:pt x="12700" y="133350"/>
                  </a:cubicBezTo>
                  <a:close/>
                </a:path>
              </a:pathLst>
            </a:custGeom>
            <a:solidFill>
              <a:srgbClr val="CECEC9"/>
            </a:solidFill>
          </p:spPr>
        </p:sp>
      </p:grpSp>
      <p:grpSp>
        <p:nvGrpSpPr>
          <p:cNvPr id="13" name="Group 13"/>
          <p:cNvGrpSpPr/>
          <p:nvPr/>
        </p:nvGrpSpPr>
        <p:grpSpPr>
          <a:xfrm>
            <a:off x="3971925" y="2914202"/>
            <a:ext cx="9426473" cy="1424730"/>
            <a:chOff x="0" y="0"/>
            <a:chExt cx="12568631" cy="1899641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2568555" cy="1899666"/>
            </a:xfrm>
            <a:custGeom>
              <a:avLst/>
              <a:gdLst/>
              <a:ahLst/>
              <a:cxnLst/>
              <a:rect l="l" t="t" r="r" b="b"/>
              <a:pathLst>
                <a:path w="12568555" h="1899666">
                  <a:moveTo>
                    <a:pt x="0" y="127000"/>
                  </a:moveTo>
                  <a:cubicBezTo>
                    <a:pt x="0" y="56896"/>
                    <a:pt x="56896" y="0"/>
                    <a:pt x="127000" y="0"/>
                  </a:cubicBezTo>
                  <a:lnTo>
                    <a:pt x="12441555" y="0"/>
                  </a:lnTo>
                  <a:cubicBezTo>
                    <a:pt x="12511660" y="0"/>
                    <a:pt x="12568555" y="56896"/>
                    <a:pt x="12568555" y="127000"/>
                  </a:cubicBezTo>
                  <a:lnTo>
                    <a:pt x="12568555" y="1772666"/>
                  </a:lnTo>
                  <a:cubicBezTo>
                    <a:pt x="12568555" y="1842770"/>
                    <a:pt x="12511660" y="1899666"/>
                    <a:pt x="12441555" y="1899666"/>
                  </a:cubicBezTo>
                  <a:lnTo>
                    <a:pt x="127000" y="1899666"/>
                  </a:lnTo>
                  <a:cubicBezTo>
                    <a:pt x="56896" y="1899666"/>
                    <a:pt x="0" y="1842770"/>
                    <a:pt x="0" y="1772666"/>
                  </a:cubicBezTo>
                  <a:close/>
                </a:path>
              </a:pathLst>
            </a:custGeom>
            <a:solidFill>
              <a:srgbClr val="E8E8E3"/>
            </a:solidFill>
          </p:spPr>
        </p:sp>
      </p:grpSp>
      <p:sp>
        <p:nvSpPr>
          <p:cNvPr id="15" name="TextBox 15"/>
          <p:cNvSpPr txBox="1"/>
          <p:nvPr/>
        </p:nvSpPr>
        <p:spPr>
          <a:xfrm>
            <a:off x="4153348" y="3067050"/>
            <a:ext cx="2835326" cy="3829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0"/>
              </a:lnSpc>
            </a:pPr>
            <a:r>
              <a:rPr lang="en-US" sz="2187">
                <a:solidFill>
                  <a:srgbClr val="272525"/>
                </a:solidFill>
                <a:latin typeface="Arimo"/>
                <a:ea typeface="Arimo"/>
                <a:cs typeface="Arimo"/>
                <a:sym typeface="Arimo"/>
              </a:rPr>
              <a:t>Цель достигнута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153348" y="3511153"/>
            <a:ext cx="9063628" cy="3741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62"/>
              </a:lnSpc>
            </a:pPr>
            <a:r>
              <a:rPr lang="en-US" sz="1750">
                <a:solidFill>
                  <a:srgbClr val="272525"/>
                </a:solidFill>
                <a:latin typeface="Lato"/>
                <a:ea typeface="Lato"/>
                <a:cs typeface="Lato"/>
                <a:sym typeface="Lato"/>
              </a:rPr>
              <a:t>Система персональных рекомендаций разработана и функционирует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3971925" y="4338933"/>
            <a:ext cx="9426473" cy="1696936"/>
            <a:chOff x="0" y="0"/>
            <a:chExt cx="12568631" cy="2262581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2568682" cy="2262632"/>
            </a:xfrm>
            <a:custGeom>
              <a:avLst/>
              <a:gdLst/>
              <a:ahLst/>
              <a:cxnLst/>
              <a:rect l="l" t="t" r="r" b="b"/>
              <a:pathLst>
                <a:path w="12568682" h="2262632">
                  <a:moveTo>
                    <a:pt x="0" y="0"/>
                  </a:moveTo>
                  <a:lnTo>
                    <a:pt x="12568682" y="0"/>
                  </a:lnTo>
                  <a:lnTo>
                    <a:pt x="12568682" y="2262632"/>
                  </a:lnTo>
                  <a:lnTo>
                    <a:pt x="0" y="2262632"/>
                  </a:lnTo>
                  <a:close/>
                </a:path>
              </a:pathLst>
            </a:custGeom>
            <a:solidFill>
              <a:srgbClr val="E8E8E3"/>
            </a:solidFill>
          </p:spPr>
        </p:sp>
      </p:grpSp>
      <p:grpSp>
        <p:nvGrpSpPr>
          <p:cNvPr id="19" name="Group 19"/>
          <p:cNvGrpSpPr/>
          <p:nvPr/>
        </p:nvGrpSpPr>
        <p:grpSpPr>
          <a:xfrm>
            <a:off x="3971925" y="4338933"/>
            <a:ext cx="9426473" cy="28575"/>
            <a:chOff x="0" y="0"/>
            <a:chExt cx="12568631" cy="381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2568682" cy="38100"/>
            </a:xfrm>
            <a:custGeom>
              <a:avLst/>
              <a:gdLst/>
              <a:ahLst/>
              <a:cxnLst/>
              <a:rect l="l" t="t" r="r" b="b"/>
              <a:pathLst>
                <a:path w="12568682" h="381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12549632" y="0"/>
                  </a:lnTo>
                  <a:cubicBezTo>
                    <a:pt x="12560173" y="0"/>
                    <a:pt x="12568682" y="8509"/>
                    <a:pt x="12568682" y="19050"/>
                  </a:cubicBezTo>
                  <a:cubicBezTo>
                    <a:pt x="12568682" y="29591"/>
                    <a:pt x="12560173" y="38100"/>
                    <a:pt x="12549632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CECEC9"/>
            </a:solidFill>
          </p:spPr>
        </p:sp>
      </p:grpSp>
      <p:grpSp>
        <p:nvGrpSpPr>
          <p:cNvPr id="21" name="Group 21"/>
          <p:cNvGrpSpPr/>
          <p:nvPr/>
        </p:nvGrpSpPr>
        <p:grpSpPr>
          <a:xfrm>
            <a:off x="8387210" y="4055421"/>
            <a:ext cx="595608" cy="595608"/>
            <a:chOff x="0" y="0"/>
            <a:chExt cx="794144" cy="794144"/>
          </a:xfrm>
        </p:grpSpPr>
        <p:sp>
          <p:nvSpPr>
            <p:cNvPr id="22" name="Freeform 22"/>
            <p:cNvSpPr/>
            <p:nvPr/>
          </p:nvSpPr>
          <p:spPr>
            <a:xfrm>
              <a:off x="19050" y="19050"/>
              <a:ext cx="756031" cy="756031"/>
            </a:xfrm>
            <a:custGeom>
              <a:avLst/>
              <a:gdLst/>
              <a:ahLst/>
              <a:cxnLst/>
              <a:rect l="l" t="t" r="r" b="b"/>
              <a:pathLst>
                <a:path w="756031" h="756031">
                  <a:moveTo>
                    <a:pt x="0" y="127000"/>
                  </a:moveTo>
                  <a:cubicBezTo>
                    <a:pt x="0" y="56896"/>
                    <a:pt x="56896" y="0"/>
                    <a:pt x="127000" y="0"/>
                  </a:cubicBezTo>
                  <a:lnTo>
                    <a:pt x="629031" y="0"/>
                  </a:lnTo>
                  <a:cubicBezTo>
                    <a:pt x="699135" y="0"/>
                    <a:pt x="756031" y="56896"/>
                    <a:pt x="756031" y="127000"/>
                  </a:cubicBezTo>
                  <a:lnTo>
                    <a:pt x="756031" y="629031"/>
                  </a:lnTo>
                  <a:cubicBezTo>
                    <a:pt x="756031" y="699135"/>
                    <a:pt x="699135" y="756031"/>
                    <a:pt x="629031" y="756031"/>
                  </a:cubicBezTo>
                  <a:lnTo>
                    <a:pt x="127000" y="756031"/>
                  </a:lnTo>
                  <a:cubicBezTo>
                    <a:pt x="56896" y="756031"/>
                    <a:pt x="0" y="699135"/>
                    <a:pt x="0" y="629031"/>
                  </a:cubicBez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  <p:sp>
          <p:nvSpPr>
            <p:cNvPr id="23" name="Freeform 23"/>
            <p:cNvSpPr/>
            <p:nvPr/>
          </p:nvSpPr>
          <p:spPr>
            <a:xfrm>
              <a:off x="0" y="0"/>
              <a:ext cx="794131" cy="794131"/>
            </a:xfrm>
            <a:custGeom>
              <a:avLst/>
              <a:gdLst/>
              <a:ahLst/>
              <a:cxnLst/>
              <a:rect l="l" t="t" r="r" b="b"/>
              <a:pathLst>
                <a:path w="794131" h="794131">
                  <a:moveTo>
                    <a:pt x="0" y="146050"/>
                  </a:moveTo>
                  <a:cubicBezTo>
                    <a:pt x="0" y="65405"/>
                    <a:pt x="65405" y="0"/>
                    <a:pt x="146050" y="0"/>
                  </a:cubicBezTo>
                  <a:lnTo>
                    <a:pt x="648081" y="0"/>
                  </a:lnTo>
                  <a:lnTo>
                    <a:pt x="648081" y="19050"/>
                  </a:lnTo>
                  <a:lnTo>
                    <a:pt x="648081" y="0"/>
                  </a:lnTo>
                  <a:cubicBezTo>
                    <a:pt x="728726" y="0"/>
                    <a:pt x="794131" y="65405"/>
                    <a:pt x="794131" y="146050"/>
                  </a:cubicBezTo>
                  <a:lnTo>
                    <a:pt x="775081" y="146050"/>
                  </a:lnTo>
                  <a:lnTo>
                    <a:pt x="794131" y="146050"/>
                  </a:lnTo>
                  <a:lnTo>
                    <a:pt x="794131" y="648081"/>
                  </a:lnTo>
                  <a:lnTo>
                    <a:pt x="775081" y="648081"/>
                  </a:lnTo>
                  <a:lnTo>
                    <a:pt x="794131" y="648081"/>
                  </a:lnTo>
                  <a:cubicBezTo>
                    <a:pt x="794131" y="728726"/>
                    <a:pt x="728726" y="794131"/>
                    <a:pt x="648081" y="794131"/>
                  </a:cubicBezTo>
                  <a:lnTo>
                    <a:pt x="648081" y="775081"/>
                  </a:lnTo>
                  <a:lnTo>
                    <a:pt x="648081" y="794131"/>
                  </a:lnTo>
                  <a:lnTo>
                    <a:pt x="146050" y="794131"/>
                  </a:lnTo>
                  <a:lnTo>
                    <a:pt x="146050" y="775081"/>
                  </a:lnTo>
                  <a:lnTo>
                    <a:pt x="146050" y="794131"/>
                  </a:lnTo>
                  <a:cubicBezTo>
                    <a:pt x="65405" y="794131"/>
                    <a:pt x="0" y="728726"/>
                    <a:pt x="0" y="648081"/>
                  </a:cubicBezTo>
                  <a:lnTo>
                    <a:pt x="0" y="146050"/>
                  </a:lnTo>
                  <a:lnTo>
                    <a:pt x="19050" y="146050"/>
                  </a:lnTo>
                  <a:lnTo>
                    <a:pt x="0" y="146050"/>
                  </a:lnTo>
                  <a:moveTo>
                    <a:pt x="38100" y="146050"/>
                  </a:moveTo>
                  <a:lnTo>
                    <a:pt x="38100" y="648081"/>
                  </a:lnTo>
                  <a:lnTo>
                    <a:pt x="19050" y="648081"/>
                  </a:lnTo>
                  <a:lnTo>
                    <a:pt x="38100" y="648081"/>
                  </a:lnTo>
                  <a:cubicBezTo>
                    <a:pt x="38100" y="707771"/>
                    <a:pt x="86487" y="756031"/>
                    <a:pt x="146050" y="756031"/>
                  </a:cubicBezTo>
                  <a:lnTo>
                    <a:pt x="648081" y="756031"/>
                  </a:lnTo>
                  <a:cubicBezTo>
                    <a:pt x="707771" y="756031"/>
                    <a:pt x="756031" y="707644"/>
                    <a:pt x="756031" y="648081"/>
                  </a:cubicBezTo>
                  <a:lnTo>
                    <a:pt x="756031" y="146050"/>
                  </a:lnTo>
                  <a:cubicBezTo>
                    <a:pt x="756031" y="86360"/>
                    <a:pt x="707644" y="38100"/>
                    <a:pt x="648081" y="38100"/>
                  </a:cubicBezTo>
                  <a:lnTo>
                    <a:pt x="146050" y="38100"/>
                  </a:lnTo>
                  <a:lnTo>
                    <a:pt x="146050" y="19050"/>
                  </a:lnTo>
                  <a:lnTo>
                    <a:pt x="146050" y="38100"/>
                  </a:lnTo>
                  <a:cubicBezTo>
                    <a:pt x="86487" y="38100"/>
                    <a:pt x="38100" y="86487"/>
                    <a:pt x="38100" y="146050"/>
                  </a:cubicBezTo>
                  <a:close/>
                </a:path>
              </a:pathLst>
            </a:custGeom>
            <a:solidFill>
              <a:srgbClr val="CECEC9"/>
            </a:solidFill>
          </p:spPr>
        </p:sp>
      </p:grpSp>
      <p:sp>
        <p:nvSpPr>
          <p:cNvPr id="24" name="TextBox 24"/>
          <p:cNvSpPr txBox="1"/>
          <p:nvPr/>
        </p:nvSpPr>
        <p:spPr>
          <a:xfrm>
            <a:off x="4153348" y="4763995"/>
            <a:ext cx="2835326" cy="3829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0"/>
              </a:lnSpc>
            </a:pPr>
            <a:r>
              <a:rPr lang="en-US" sz="2187">
                <a:solidFill>
                  <a:srgbClr val="272525"/>
                </a:solidFill>
                <a:latin typeface="Arimo"/>
                <a:ea typeface="Arimo"/>
                <a:cs typeface="Arimo"/>
                <a:sym typeface="Arimo"/>
              </a:rPr>
              <a:t>Задача 1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4153348" y="5208089"/>
            <a:ext cx="9063628" cy="3741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62"/>
              </a:lnSpc>
            </a:pPr>
            <a:r>
              <a:rPr lang="en-US" sz="1750">
                <a:solidFill>
                  <a:srgbClr val="272525"/>
                </a:solidFill>
                <a:latin typeface="Lato"/>
                <a:ea typeface="Lato"/>
                <a:cs typeface="Lato"/>
                <a:sym typeface="Lato"/>
              </a:rPr>
              <a:t>Backend, безопасность, роли, CRUD, история действий — реализованы</a:t>
            </a:r>
          </a:p>
        </p:txBody>
      </p:sp>
      <p:grpSp>
        <p:nvGrpSpPr>
          <p:cNvPr id="26" name="Group 26"/>
          <p:cNvGrpSpPr/>
          <p:nvPr/>
        </p:nvGrpSpPr>
        <p:grpSpPr>
          <a:xfrm>
            <a:off x="3971925" y="6035878"/>
            <a:ext cx="9426473" cy="1696936"/>
            <a:chOff x="0" y="0"/>
            <a:chExt cx="12568631" cy="2262581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2568682" cy="2262632"/>
            </a:xfrm>
            <a:custGeom>
              <a:avLst/>
              <a:gdLst/>
              <a:ahLst/>
              <a:cxnLst/>
              <a:rect l="l" t="t" r="r" b="b"/>
              <a:pathLst>
                <a:path w="12568682" h="2262632">
                  <a:moveTo>
                    <a:pt x="0" y="0"/>
                  </a:moveTo>
                  <a:lnTo>
                    <a:pt x="12568682" y="0"/>
                  </a:lnTo>
                  <a:lnTo>
                    <a:pt x="12568682" y="2262632"/>
                  </a:lnTo>
                  <a:lnTo>
                    <a:pt x="0" y="2262632"/>
                  </a:lnTo>
                  <a:close/>
                </a:path>
              </a:pathLst>
            </a:custGeom>
            <a:solidFill>
              <a:srgbClr val="E8E8E3"/>
            </a:solidFill>
          </p:spPr>
        </p:sp>
      </p:grpSp>
      <p:grpSp>
        <p:nvGrpSpPr>
          <p:cNvPr id="28" name="Group 28"/>
          <p:cNvGrpSpPr/>
          <p:nvPr/>
        </p:nvGrpSpPr>
        <p:grpSpPr>
          <a:xfrm>
            <a:off x="3971925" y="6035878"/>
            <a:ext cx="9426473" cy="28575"/>
            <a:chOff x="0" y="0"/>
            <a:chExt cx="12568631" cy="3810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12568682" cy="38100"/>
            </a:xfrm>
            <a:custGeom>
              <a:avLst/>
              <a:gdLst/>
              <a:ahLst/>
              <a:cxnLst/>
              <a:rect l="l" t="t" r="r" b="b"/>
              <a:pathLst>
                <a:path w="12568682" h="381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12549632" y="0"/>
                  </a:lnTo>
                  <a:cubicBezTo>
                    <a:pt x="12560173" y="0"/>
                    <a:pt x="12568682" y="8509"/>
                    <a:pt x="12568682" y="19050"/>
                  </a:cubicBezTo>
                  <a:cubicBezTo>
                    <a:pt x="12568682" y="29591"/>
                    <a:pt x="12560173" y="38100"/>
                    <a:pt x="12549632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CECEC9"/>
            </a:solidFill>
          </p:spPr>
        </p:sp>
      </p:grpSp>
      <p:grpSp>
        <p:nvGrpSpPr>
          <p:cNvPr id="30" name="Group 30"/>
          <p:cNvGrpSpPr/>
          <p:nvPr/>
        </p:nvGrpSpPr>
        <p:grpSpPr>
          <a:xfrm>
            <a:off x="8387210" y="5752357"/>
            <a:ext cx="595608" cy="595608"/>
            <a:chOff x="0" y="0"/>
            <a:chExt cx="794144" cy="794144"/>
          </a:xfrm>
        </p:grpSpPr>
        <p:sp>
          <p:nvSpPr>
            <p:cNvPr id="31" name="Freeform 31"/>
            <p:cNvSpPr/>
            <p:nvPr/>
          </p:nvSpPr>
          <p:spPr>
            <a:xfrm>
              <a:off x="19050" y="19050"/>
              <a:ext cx="756031" cy="756031"/>
            </a:xfrm>
            <a:custGeom>
              <a:avLst/>
              <a:gdLst/>
              <a:ahLst/>
              <a:cxnLst/>
              <a:rect l="l" t="t" r="r" b="b"/>
              <a:pathLst>
                <a:path w="756031" h="756031">
                  <a:moveTo>
                    <a:pt x="0" y="127000"/>
                  </a:moveTo>
                  <a:cubicBezTo>
                    <a:pt x="0" y="56896"/>
                    <a:pt x="56896" y="0"/>
                    <a:pt x="127000" y="0"/>
                  </a:cubicBezTo>
                  <a:lnTo>
                    <a:pt x="629031" y="0"/>
                  </a:lnTo>
                  <a:cubicBezTo>
                    <a:pt x="699135" y="0"/>
                    <a:pt x="756031" y="56896"/>
                    <a:pt x="756031" y="127000"/>
                  </a:cubicBezTo>
                  <a:lnTo>
                    <a:pt x="756031" y="629031"/>
                  </a:lnTo>
                  <a:cubicBezTo>
                    <a:pt x="756031" y="699135"/>
                    <a:pt x="699135" y="756031"/>
                    <a:pt x="629031" y="756031"/>
                  </a:cubicBezTo>
                  <a:lnTo>
                    <a:pt x="127000" y="756031"/>
                  </a:lnTo>
                  <a:cubicBezTo>
                    <a:pt x="56896" y="756031"/>
                    <a:pt x="0" y="699135"/>
                    <a:pt x="0" y="629031"/>
                  </a:cubicBez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  <p:sp>
          <p:nvSpPr>
            <p:cNvPr id="32" name="Freeform 32"/>
            <p:cNvSpPr/>
            <p:nvPr/>
          </p:nvSpPr>
          <p:spPr>
            <a:xfrm>
              <a:off x="0" y="0"/>
              <a:ext cx="794131" cy="794131"/>
            </a:xfrm>
            <a:custGeom>
              <a:avLst/>
              <a:gdLst/>
              <a:ahLst/>
              <a:cxnLst/>
              <a:rect l="l" t="t" r="r" b="b"/>
              <a:pathLst>
                <a:path w="794131" h="794131">
                  <a:moveTo>
                    <a:pt x="0" y="146050"/>
                  </a:moveTo>
                  <a:cubicBezTo>
                    <a:pt x="0" y="65405"/>
                    <a:pt x="65405" y="0"/>
                    <a:pt x="146050" y="0"/>
                  </a:cubicBezTo>
                  <a:lnTo>
                    <a:pt x="648081" y="0"/>
                  </a:lnTo>
                  <a:lnTo>
                    <a:pt x="648081" y="19050"/>
                  </a:lnTo>
                  <a:lnTo>
                    <a:pt x="648081" y="0"/>
                  </a:lnTo>
                  <a:cubicBezTo>
                    <a:pt x="728726" y="0"/>
                    <a:pt x="794131" y="65405"/>
                    <a:pt x="794131" y="146050"/>
                  </a:cubicBezTo>
                  <a:lnTo>
                    <a:pt x="775081" y="146050"/>
                  </a:lnTo>
                  <a:lnTo>
                    <a:pt x="794131" y="146050"/>
                  </a:lnTo>
                  <a:lnTo>
                    <a:pt x="794131" y="648081"/>
                  </a:lnTo>
                  <a:lnTo>
                    <a:pt x="775081" y="648081"/>
                  </a:lnTo>
                  <a:lnTo>
                    <a:pt x="794131" y="648081"/>
                  </a:lnTo>
                  <a:cubicBezTo>
                    <a:pt x="794131" y="728726"/>
                    <a:pt x="728726" y="794131"/>
                    <a:pt x="648081" y="794131"/>
                  </a:cubicBezTo>
                  <a:lnTo>
                    <a:pt x="648081" y="775081"/>
                  </a:lnTo>
                  <a:lnTo>
                    <a:pt x="648081" y="794131"/>
                  </a:lnTo>
                  <a:lnTo>
                    <a:pt x="146050" y="794131"/>
                  </a:lnTo>
                  <a:lnTo>
                    <a:pt x="146050" y="775081"/>
                  </a:lnTo>
                  <a:lnTo>
                    <a:pt x="146050" y="794131"/>
                  </a:lnTo>
                  <a:cubicBezTo>
                    <a:pt x="65405" y="794131"/>
                    <a:pt x="0" y="728726"/>
                    <a:pt x="0" y="648081"/>
                  </a:cubicBezTo>
                  <a:lnTo>
                    <a:pt x="0" y="146050"/>
                  </a:lnTo>
                  <a:lnTo>
                    <a:pt x="19050" y="146050"/>
                  </a:lnTo>
                  <a:lnTo>
                    <a:pt x="0" y="146050"/>
                  </a:lnTo>
                  <a:moveTo>
                    <a:pt x="38100" y="146050"/>
                  </a:moveTo>
                  <a:lnTo>
                    <a:pt x="38100" y="648081"/>
                  </a:lnTo>
                  <a:lnTo>
                    <a:pt x="19050" y="648081"/>
                  </a:lnTo>
                  <a:lnTo>
                    <a:pt x="38100" y="648081"/>
                  </a:lnTo>
                  <a:cubicBezTo>
                    <a:pt x="38100" y="707771"/>
                    <a:pt x="86487" y="756031"/>
                    <a:pt x="146050" y="756031"/>
                  </a:cubicBezTo>
                  <a:lnTo>
                    <a:pt x="648081" y="756031"/>
                  </a:lnTo>
                  <a:cubicBezTo>
                    <a:pt x="707771" y="756031"/>
                    <a:pt x="756031" y="707644"/>
                    <a:pt x="756031" y="648081"/>
                  </a:cubicBezTo>
                  <a:lnTo>
                    <a:pt x="756031" y="146050"/>
                  </a:lnTo>
                  <a:cubicBezTo>
                    <a:pt x="756031" y="86360"/>
                    <a:pt x="707644" y="38100"/>
                    <a:pt x="648081" y="38100"/>
                  </a:cubicBezTo>
                  <a:lnTo>
                    <a:pt x="146050" y="38100"/>
                  </a:lnTo>
                  <a:lnTo>
                    <a:pt x="146050" y="19050"/>
                  </a:lnTo>
                  <a:lnTo>
                    <a:pt x="146050" y="38100"/>
                  </a:lnTo>
                  <a:cubicBezTo>
                    <a:pt x="86487" y="38100"/>
                    <a:pt x="38100" y="86487"/>
                    <a:pt x="38100" y="146050"/>
                  </a:cubicBezTo>
                  <a:close/>
                </a:path>
              </a:pathLst>
            </a:custGeom>
            <a:solidFill>
              <a:srgbClr val="CECEC9"/>
            </a:solidFill>
          </p:spPr>
        </p:sp>
      </p:grpSp>
      <p:sp>
        <p:nvSpPr>
          <p:cNvPr id="33" name="TextBox 33"/>
          <p:cNvSpPr txBox="1"/>
          <p:nvPr/>
        </p:nvSpPr>
        <p:spPr>
          <a:xfrm>
            <a:off x="4153348" y="6460931"/>
            <a:ext cx="2835326" cy="3829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0"/>
              </a:lnSpc>
            </a:pPr>
            <a:r>
              <a:rPr lang="en-US" sz="2187">
                <a:solidFill>
                  <a:srgbClr val="272525"/>
                </a:solidFill>
                <a:latin typeface="Arimo"/>
                <a:ea typeface="Arimo"/>
                <a:cs typeface="Arimo"/>
                <a:sym typeface="Arimo"/>
              </a:rPr>
              <a:t>Задача 2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4153348" y="6905034"/>
            <a:ext cx="9063628" cy="3741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62"/>
              </a:lnSpc>
            </a:pPr>
            <a:r>
              <a:rPr lang="en-US" sz="1750">
                <a:solidFill>
                  <a:srgbClr val="272525"/>
                </a:solidFill>
                <a:latin typeface="Lato"/>
                <a:ea typeface="Lato"/>
                <a:cs typeface="Lato"/>
                <a:sym typeface="Lato"/>
              </a:rPr>
              <a:t>Popular, By Categories, KNN и explainability — алгоритмы работают</a:t>
            </a:r>
          </a:p>
        </p:txBody>
      </p:sp>
      <p:grpSp>
        <p:nvGrpSpPr>
          <p:cNvPr id="35" name="Group 35"/>
          <p:cNvGrpSpPr/>
          <p:nvPr/>
        </p:nvGrpSpPr>
        <p:grpSpPr>
          <a:xfrm>
            <a:off x="3971925" y="7732814"/>
            <a:ext cx="9426473" cy="1424730"/>
            <a:chOff x="0" y="0"/>
            <a:chExt cx="12568631" cy="1899641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12568682" cy="1899666"/>
            </a:xfrm>
            <a:custGeom>
              <a:avLst/>
              <a:gdLst/>
              <a:ahLst/>
              <a:cxnLst/>
              <a:rect l="l" t="t" r="r" b="b"/>
              <a:pathLst>
                <a:path w="12568682" h="1899666">
                  <a:moveTo>
                    <a:pt x="0" y="0"/>
                  </a:moveTo>
                  <a:lnTo>
                    <a:pt x="12568682" y="0"/>
                  </a:lnTo>
                  <a:lnTo>
                    <a:pt x="12568682" y="1899666"/>
                  </a:lnTo>
                  <a:lnTo>
                    <a:pt x="0" y="1899666"/>
                  </a:lnTo>
                  <a:close/>
                </a:path>
              </a:pathLst>
            </a:custGeom>
            <a:solidFill>
              <a:srgbClr val="E8E8E3"/>
            </a:solidFill>
          </p:spPr>
        </p:sp>
      </p:grpSp>
      <p:grpSp>
        <p:nvGrpSpPr>
          <p:cNvPr id="37" name="Group 37"/>
          <p:cNvGrpSpPr/>
          <p:nvPr/>
        </p:nvGrpSpPr>
        <p:grpSpPr>
          <a:xfrm>
            <a:off x="3971925" y="7732814"/>
            <a:ext cx="9426473" cy="28575"/>
            <a:chOff x="0" y="0"/>
            <a:chExt cx="12568631" cy="381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12568682" cy="38100"/>
            </a:xfrm>
            <a:custGeom>
              <a:avLst/>
              <a:gdLst/>
              <a:ahLst/>
              <a:cxnLst/>
              <a:rect l="l" t="t" r="r" b="b"/>
              <a:pathLst>
                <a:path w="12568682" h="381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12549632" y="0"/>
                  </a:lnTo>
                  <a:cubicBezTo>
                    <a:pt x="12560173" y="0"/>
                    <a:pt x="12568682" y="8509"/>
                    <a:pt x="12568682" y="19050"/>
                  </a:cubicBezTo>
                  <a:cubicBezTo>
                    <a:pt x="12568682" y="29591"/>
                    <a:pt x="12560173" y="38100"/>
                    <a:pt x="12549632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CECEC9"/>
            </a:solidFill>
          </p:spPr>
        </p:sp>
      </p:grpSp>
      <p:grpSp>
        <p:nvGrpSpPr>
          <p:cNvPr id="39" name="Group 39"/>
          <p:cNvGrpSpPr/>
          <p:nvPr/>
        </p:nvGrpSpPr>
        <p:grpSpPr>
          <a:xfrm>
            <a:off x="8387210" y="7449293"/>
            <a:ext cx="595608" cy="595608"/>
            <a:chOff x="0" y="0"/>
            <a:chExt cx="794144" cy="794144"/>
          </a:xfrm>
        </p:grpSpPr>
        <p:sp>
          <p:nvSpPr>
            <p:cNvPr id="40" name="Freeform 40"/>
            <p:cNvSpPr/>
            <p:nvPr/>
          </p:nvSpPr>
          <p:spPr>
            <a:xfrm>
              <a:off x="19050" y="19050"/>
              <a:ext cx="756031" cy="756031"/>
            </a:xfrm>
            <a:custGeom>
              <a:avLst/>
              <a:gdLst/>
              <a:ahLst/>
              <a:cxnLst/>
              <a:rect l="l" t="t" r="r" b="b"/>
              <a:pathLst>
                <a:path w="756031" h="756031">
                  <a:moveTo>
                    <a:pt x="0" y="127000"/>
                  </a:moveTo>
                  <a:cubicBezTo>
                    <a:pt x="0" y="56896"/>
                    <a:pt x="56896" y="0"/>
                    <a:pt x="127000" y="0"/>
                  </a:cubicBezTo>
                  <a:lnTo>
                    <a:pt x="629031" y="0"/>
                  </a:lnTo>
                  <a:cubicBezTo>
                    <a:pt x="699135" y="0"/>
                    <a:pt x="756031" y="56896"/>
                    <a:pt x="756031" y="127000"/>
                  </a:cubicBezTo>
                  <a:lnTo>
                    <a:pt x="756031" y="629031"/>
                  </a:lnTo>
                  <a:cubicBezTo>
                    <a:pt x="756031" y="699135"/>
                    <a:pt x="699135" y="756031"/>
                    <a:pt x="629031" y="756031"/>
                  </a:cubicBezTo>
                  <a:lnTo>
                    <a:pt x="127000" y="756031"/>
                  </a:lnTo>
                  <a:cubicBezTo>
                    <a:pt x="56896" y="756031"/>
                    <a:pt x="0" y="699135"/>
                    <a:pt x="0" y="629031"/>
                  </a:cubicBez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  <p:sp>
          <p:nvSpPr>
            <p:cNvPr id="41" name="Freeform 41"/>
            <p:cNvSpPr/>
            <p:nvPr/>
          </p:nvSpPr>
          <p:spPr>
            <a:xfrm>
              <a:off x="0" y="0"/>
              <a:ext cx="794131" cy="794131"/>
            </a:xfrm>
            <a:custGeom>
              <a:avLst/>
              <a:gdLst/>
              <a:ahLst/>
              <a:cxnLst/>
              <a:rect l="l" t="t" r="r" b="b"/>
              <a:pathLst>
                <a:path w="794131" h="794131">
                  <a:moveTo>
                    <a:pt x="0" y="146050"/>
                  </a:moveTo>
                  <a:cubicBezTo>
                    <a:pt x="0" y="65405"/>
                    <a:pt x="65405" y="0"/>
                    <a:pt x="146050" y="0"/>
                  </a:cubicBezTo>
                  <a:lnTo>
                    <a:pt x="648081" y="0"/>
                  </a:lnTo>
                  <a:lnTo>
                    <a:pt x="648081" y="19050"/>
                  </a:lnTo>
                  <a:lnTo>
                    <a:pt x="648081" y="0"/>
                  </a:lnTo>
                  <a:cubicBezTo>
                    <a:pt x="728726" y="0"/>
                    <a:pt x="794131" y="65405"/>
                    <a:pt x="794131" y="146050"/>
                  </a:cubicBezTo>
                  <a:lnTo>
                    <a:pt x="775081" y="146050"/>
                  </a:lnTo>
                  <a:lnTo>
                    <a:pt x="794131" y="146050"/>
                  </a:lnTo>
                  <a:lnTo>
                    <a:pt x="794131" y="648081"/>
                  </a:lnTo>
                  <a:lnTo>
                    <a:pt x="775081" y="648081"/>
                  </a:lnTo>
                  <a:lnTo>
                    <a:pt x="794131" y="648081"/>
                  </a:lnTo>
                  <a:cubicBezTo>
                    <a:pt x="794131" y="728726"/>
                    <a:pt x="728726" y="794131"/>
                    <a:pt x="648081" y="794131"/>
                  </a:cubicBezTo>
                  <a:lnTo>
                    <a:pt x="648081" y="775081"/>
                  </a:lnTo>
                  <a:lnTo>
                    <a:pt x="648081" y="794131"/>
                  </a:lnTo>
                  <a:lnTo>
                    <a:pt x="146050" y="794131"/>
                  </a:lnTo>
                  <a:lnTo>
                    <a:pt x="146050" y="775081"/>
                  </a:lnTo>
                  <a:lnTo>
                    <a:pt x="146050" y="794131"/>
                  </a:lnTo>
                  <a:cubicBezTo>
                    <a:pt x="65405" y="794131"/>
                    <a:pt x="0" y="728726"/>
                    <a:pt x="0" y="648081"/>
                  </a:cubicBezTo>
                  <a:lnTo>
                    <a:pt x="0" y="146050"/>
                  </a:lnTo>
                  <a:lnTo>
                    <a:pt x="19050" y="146050"/>
                  </a:lnTo>
                  <a:lnTo>
                    <a:pt x="0" y="146050"/>
                  </a:lnTo>
                  <a:moveTo>
                    <a:pt x="38100" y="146050"/>
                  </a:moveTo>
                  <a:lnTo>
                    <a:pt x="38100" y="648081"/>
                  </a:lnTo>
                  <a:lnTo>
                    <a:pt x="19050" y="648081"/>
                  </a:lnTo>
                  <a:lnTo>
                    <a:pt x="38100" y="648081"/>
                  </a:lnTo>
                  <a:cubicBezTo>
                    <a:pt x="38100" y="707771"/>
                    <a:pt x="86487" y="756031"/>
                    <a:pt x="146050" y="756031"/>
                  </a:cubicBezTo>
                  <a:lnTo>
                    <a:pt x="648081" y="756031"/>
                  </a:lnTo>
                  <a:cubicBezTo>
                    <a:pt x="707771" y="756031"/>
                    <a:pt x="756031" y="707644"/>
                    <a:pt x="756031" y="648081"/>
                  </a:cubicBezTo>
                  <a:lnTo>
                    <a:pt x="756031" y="146050"/>
                  </a:lnTo>
                  <a:cubicBezTo>
                    <a:pt x="756031" y="86360"/>
                    <a:pt x="707644" y="38100"/>
                    <a:pt x="648081" y="38100"/>
                  </a:cubicBezTo>
                  <a:lnTo>
                    <a:pt x="146050" y="38100"/>
                  </a:lnTo>
                  <a:lnTo>
                    <a:pt x="146050" y="19050"/>
                  </a:lnTo>
                  <a:lnTo>
                    <a:pt x="146050" y="38100"/>
                  </a:lnTo>
                  <a:cubicBezTo>
                    <a:pt x="86487" y="38100"/>
                    <a:pt x="38100" y="86487"/>
                    <a:pt x="38100" y="146050"/>
                  </a:cubicBezTo>
                  <a:close/>
                </a:path>
              </a:pathLst>
            </a:custGeom>
            <a:solidFill>
              <a:srgbClr val="CECEC9"/>
            </a:solidFill>
          </p:spPr>
        </p:sp>
      </p:grpSp>
      <p:sp>
        <p:nvSpPr>
          <p:cNvPr id="42" name="TextBox 42"/>
          <p:cNvSpPr txBox="1"/>
          <p:nvPr/>
        </p:nvSpPr>
        <p:spPr>
          <a:xfrm>
            <a:off x="4153348" y="8157867"/>
            <a:ext cx="2835326" cy="3829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0"/>
              </a:lnSpc>
            </a:pPr>
            <a:r>
              <a:rPr lang="en-US" sz="2187">
                <a:solidFill>
                  <a:srgbClr val="272525"/>
                </a:solidFill>
                <a:latin typeface="Arimo"/>
                <a:ea typeface="Arimo"/>
                <a:cs typeface="Arimo"/>
                <a:sym typeface="Arimo"/>
              </a:rPr>
              <a:t>Задача 3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4153348" y="8601970"/>
            <a:ext cx="9063628" cy="3741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62"/>
              </a:lnSpc>
            </a:pPr>
            <a:r>
              <a:rPr lang="en-US" sz="1750">
                <a:solidFill>
                  <a:srgbClr val="272525"/>
                </a:solidFill>
                <a:latin typeface="Lato"/>
                <a:ea typeface="Lato"/>
                <a:cs typeface="Lato"/>
                <a:sym typeface="Lato"/>
              </a:rPr>
              <a:t>Web и WPF клиенты готовы к демонстрации и тестированию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945804" y="792366"/>
            <a:ext cx="6482353" cy="7654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25"/>
              </a:lnSpc>
            </a:pPr>
            <a:r>
              <a:rPr lang="en-US" sz="4499">
                <a:solidFill>
                  <a:srgbClr val="312F2B"/>
                </a:solidFill>
                <a:latin typeface="Arimo"/>
                <a:ea typeface="Arimo"/>
                <a:cs typeface="Arimo"/>
                <a:sym typeface="Arimo"/>
              </a:rPr>
              <a:t>Перспективы развития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945804" y="2851995"/>
            <a:ext cx="8892330" cy="5579859"/>
            <a:chOff x="0" y="0"/>
            <a:chExt cx="11856441" cy="7439812"/>
          </a:xfrm>
        </p:grpSpPr>
        <p:sp>
          <p:nvSpPr>
            <p:cNvPr id="8" name="Freeform 8" descr="preencoded.png"/>
            <p:cNvSpPr/>
            <p:nvPr/>
          </p:nvSpPr>
          <p:spPr>
            <a:xfrm>
              <a:off x="0" y="0"/>
              <a:ext cx="11856466" cy="7439787"/>
            </a:xfrm>
            <a:custGeom>
              <a:avLst/>
              <a:gdLst/>
              <a:ahLst/>
              <a:cxnLst/>
              <a:rect l="l" t="t" r="r" b="b"/>
              <a:pathLst>
                <a:path w="11856466" h="7439787">
                  <a:moveTo>
                    <a:pt x="0" y="0"/>
                  </a:moveTo>
                  <a:lnTo>
                    <a:pt x="11856466" y="0"/>
                  </a:lnTo>
                  <a:lnTo>
                    <a:pt x="11856466" y="7439787"/>
                  </a:lnTo>
                  <a:lnTo>
                    <a:pt x="0" y="74397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6" r="-6"/>
              </a:stretch>
            </a:blipFill>
          </p:spPr>
        </p:sp>
      </p:grpSp>
      <p:sp>
        <p:nvSpPr>
          <p:cNvPr id="9" name="TextBox 9"/>
          <p:cNvSpPr txBox="1"/>
          <p:nvPr/>
        </p:nvSpPr>
        <p:spPr>
          <a:xfrm>
            <a:off x="11977097" y="1994297"/>
            <a:ext cx="2871340" cy="3874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2249">
                <a:solidFill>
                  <a:srgbClr val="312F2B"/>
                </a:solidFill>
                <a:latin typeface="Arimo"/>
                <a:ea typeface="Arimo"/>
                <a:cs typeface="Arimo"/>
                <a:sym typeface="Arimo"/>
              </a:rPr>
              <a:t>Следующие шаги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2723466" y="2562377"/>
            <a:ext cx="3818630" cy="3874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2249">
                <a:solidFill>
                  <a:srgbClr val="272525"/>
                </a:solidFill>
                <a:latin typeface="Arimo"/>
                <a:ea typeface="Arimo"/>
                <a:cs typeface="Arimo"/>
                <a:sym typeface="Arimo"/>
              </a:rPr>
              <a:t>A/B тестирование моделей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723466" y="3088186"/>
            <a:ext cx="4628112" cy="7125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62"/>
              </a:lnSpc>
            </a:pPr>
            <a:r>
              <a:rPr lang="en-US" sz="1750">
                <a:solidFill>
                  <a:srgbClr val="272525"/>
                </a:solidFill>
                <a:latin typeface="Lato"/>
                <a:ea typeface="Lato"/>
                <a:cs typeface="Lato"/>
                <a:sym typeface="Lato"/>
              </a:rPr>
              <a:t>Сравнение алгоритмов на реальном трафике для выбора лучшей стратегии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723466" y="4144270"/>
            <a:ext cx="4628112" cy="7462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2249">
                <a:solidFill>
                  <a:srgbClr val="272525"/>
                </a:solidFill>
                <a:latin typeface="Arimo"/>
                <a:ea typeface="Arimo"/>
                <a:cs typeface="Arimo"/>
                <a:sym typeface="Arimo"/>
              </a:rPr>
              <a:t>Интеграция внешних источников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2723466" y="5028905"/>
            <a:ext cx="4628112" cy="10450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62"/>
              </a:lnSpc>
            </a:pPr>
            <a:r>
              <a:rPr lang="en-US" sz="1750">
                <a:solidFill>
                  <a:srgbClr val="272525"/>
                </a:solidFill>
                <a:latin typeface="Lato"/>
                <a:ea typeface="Lato"/>
                <a:cs typeface="Lato"/>
                <a:sym typeface="Lato"/>
              </a:rPr>
              <a:t>Подключение сторонних API и контентных партнёров для расширения каталога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2723466" y="6417469"/>
            <a:ext cx="4190705" cy="3874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2249">
                <a:solidFill>
                  <a:srgbClr val="272525"/>
                </a:solidFill>
                <a:latin typeface="Arimo"/>
                <a:ea typeface="Arimo"/>
                <a:cs typeface="Arimo"/>
                <a:sym typeface="Arimo"/>
              </a:rPr>
              <a:t>Микросервисная архитектура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2723466" y="6943277"/>
            <a:ext cx="4628112" cy="7125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62"/>
              </a:lnSpc>
            </a:pPr>
            <a:r>
              <a:rPr lang="en-US" sz="1750">
                <a:solidFill>
                  <a:srgbClr val="272525"/>
                </a:solidFill>
                <a:latin typeface="Lato"/>
                <a:ea typeface="Lato"/>
                <a:cs typeface="Lato"/>
                <a:sym typeface="Lato"/>
              </a:rPr>
              <a:t>Переход от монолита к независимо масштабируемым сервисам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2723466" y="7999362"/>
            <a:ext cx="3241472" cy="3874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2249">
                <a:solidFill>
                  <a:srgbClr val="272525"/>
                </a:solidFill>
                <a:latin typeface="Arimo"/>
                <a:ea typeface="Arimo"/>
                <a:cs typeface="Arimo"/>
                <a:sym typeface="Arimo"/>
              </a:rPr>
              <a:t>Дашборд мониторинга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2723466" y="8525170"/>
            <a:ext cx="4628112" cy="7125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62"/>
              </a:lnSpc>
            </a:pPr>
            <a:r>
              <a:rPr lang="en-US" sz="1750">
                <a:solidFill>
                  <a:srgbClr val="272525"/>
                </a:solidFill>
                <a:latin typeface="Lato"/>
                <a:ea typeface="Lato"/>
                <a:cs typeface="Lato"/>
                <a:sym typeface="Lato"/>
              </a:rPr>
              <a:t>Real-time визуализация метрик качества рекомендаций для аналитиков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1062638" y="793337"/>
            <a:ext cx="16162715" cy="7654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25"/>
              </a:lnSpc>
            </a:pPr>
            <a:r>
              <a:rPr lang="en-US" sz="4499">
                <a:solidFill>
                  <a:srgbClr val="312F2B"/>
                </a:solidFill>
                <a:latin typeface="Arimo"/>
                <a:ea typeface="Arimo"/>
                <a:cs typeface="Arimo"/>
                <a:sym typeface="Arimo"/>
              </a:rPr>
              <a:t>Спасибо за внимание!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123</TotalTime>
  <Words>618</Words>
  <Application>Microsoft Office PowerPoint</Application>
  <PresentationFormat>Произвольный</PresentationFormat>
  <Paragraphs>142</Paragraphs>
  <Slides>12</Slides>
  <Notes>11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8" baseType="lpstr">
      <vt:lpstr>Lato Bold</vt:lpstr>
      <vt:lpstr>Calibri</vt:lpstr>
      <vt:lpstr>Arimo</vt:lpstr>
      <vt:lpstr>Arial</vt:lpstr>
      <vt:lpstr>Lato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Sistema-personalnyh-rekomendacij.pptx</dc:title>
  <cp:lastModifiedBy>Дмитрий Лёвкин</cp:lastModifiedBy>
  <cp:revision>3</cp:revision>
  <dcterms:created xsi:type="dcterms:W3CDTF">2006-08-16T00:00:00Z</dcterms:created>
  <dcterms:modified xsi:type="dcterms:W3CDTF">2026-04-10T14:15:54Z</dcterms:modified>
  <dc:identifier>DAHGdFp_2VA</dc:identifier>
</cp:coreProperties>
</file>